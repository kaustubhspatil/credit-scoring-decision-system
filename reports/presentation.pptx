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line if asked early: we built and validated a default-probability model, it beats the scorecard baseline decisively, the dollar case is quantified on a sealed test book, and we found and fixed a compliance defect on the way. Recommendation is deploy, with conditions.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Cost of getting it wrong, concretely: approving a future default loses ~65% of the exposure; declining a good customer forfeits ~5% lifetime margin. That 13x asymmetry is why the decline threshold, not the model, encodes the risk appetite - and why we quantify everything in dollars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Details for Q&amp;A only: DAYS_EMPLOYED=365243 sentinel on 18% of rows (pensioners) fixed to NaN+flag; building-info block half-missing handled with a block flag; missingness itself is predictive (no EXT_SOURCE_1 = higher risk) so we keep indicators. Keep this slide under 3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'Why not deep learning?' - tabular data with 153 features and strong categorical structure is where boosted trees still win; the Module 2 project covers the DL case. 'Is 0.774 good?' - for application-only + bureau data without behavioral/transaction history, 0.77-0.78 is solid; adding the remaining relationship tables is the known headroom.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Stay here. X-axis: share of good applicants we'd wrongly flag; Y-axis: share of eventual defaults we'd catch. The working point the profit curve picks: catch 74.5% of defaults while flagging about a third of the book. The gray and green curves (scorecard, forest) overlap - the boosting margin is the whole visible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risk officer asks about the top decile: predicted ~28%, observed ~28-30% - the model knows who its worst applicants are AND by how much. Quarterly recalibration check is in the monitoring plan: observed &gt; 1.25x predicted in 2+ deciles triggers recalibration.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the CIO funds. If they want a higher approval rate: move right along the curve and read the cost - e.g. threshold 0.10 approves ~75% and nets ~$480M. The model doesn't choose risk appetite; it prices it. Both baseline comparisons matter: net benefit is vs approve-everything; the scorecard at its own optimal threshold nets materially less (the AUROC gap compounds through the tails).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Waterfall: this specific applicant's PD built up factor by factor from the 8% base rate. Global picture (beeswarm, in the appendix figures): external scores dominate, then age/tenure, then bureau burden - all in the economically expected direction. That agreement between model logic and lending logic is what makes SHAP evidence, not decoration.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Segment chart: AUROC by peer group, income type, education - every major segment near the overall line; thin-file group is the weakest and gets a manual-review lane. PSI thresholds: &lt;0.10 stable, 0.10-0.25 monitor, &gt;0.25 investigate.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challenged on age: ECOA-style frameworks permit age in scoring when it does not disadvantage the elderly - here the elderly are FAVORED; the young-applicant effect is risk-justified and documented. Gender had no such defense, so it's gone, and the cost was nil. Close on the recommendation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presented - backup only. Deeper backup lives in the notebooks: sentinel audit (02), peer-group profiles (03), decile tables (04), segment/fairness detail (05).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6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EC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LENDING · MODEL REVIEW COMMITTEE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the Bet: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Credit Scoring Model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70332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307,511 applications · 1.7M bureau records · one sealed test · the decision in dollars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B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Kaustubh Patil · 20 August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percent of approved loans go bad — and the costs are lopsided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70048" cy="1965960"/>
          </a:xfrm>
          <a:prstGeom prst="roundRect">
            <a:avLst>
              <a:gd name="adj" fmla="val 3721"/>
            </a:avLst>
          </a:prstGeom>
          <a:solidFill>
            <a:srgbClr val="F4F4F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066544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8.07%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615184"/>
            <a:ext cx="2670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funded loans end in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difficulties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01568" y="1828800"/>
            <a:ext cx="2670048" cy="1965960"/>
          </a:xfrm>
          <a:prstGeom prst="roundRect">
            <a:avLst>
              <a:gd name="adj" fmla="val 3721"/>
            </a:avLst>
          </a:prstGeom>
          <a:solidFill>
            <a:srgbClr val="F4F4F1"/>
          </a:solidFill>
          <a:ln/>
        </p:spPr>
      </p:sp>
      <p:sp>
        <p:nvSpPr>
          <p:cNvPr id="8" name="Text 6"/>
          <p:cNvSpPr/>
          <p:nvPr/>
        </p:nvSpPr>
        <p:spPr>
          <a:xfrm>
            <a:off x="3401568" y="2066544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13×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01568" y="2615184"/>
            <a:ext cx="2670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a missed default vs 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wrongly-declined good customer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54496" y="1828800"/>
            <a:ext cx="2670048" cy="1965960"/>
          </a:xfrm>
          <a:prstGeom prst="roundRect">
            <a:avLst>
              <a:gd name="adj" fmla="val 3721"/>
            </a:avLst>
          </a:prstGeom>
          <a:solidFill>
            <a:srgbClr val="F4F4F1"/>
          </a:solidFill>
          <a:ln/>
        </p:spPr>
      </p:sp>
      <p:sp>
        <p:nvSpPr>
          <p:cNvPr id="11" name="Text 9"/>
          <p:cNvSpPr/>
          <p:nvPr/>
        </p:nvSpPr>
        <p:spPr>
          <a:xfrm>
            <a:off x="6254496" y="2066544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/ 5%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254496" y="2615184"/>
            <a:ext cx="2670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loss-given-default vs lifetime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— the asymmetry's source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07424" y="1828800"/>
            <a:ext cx="2670048" cy="1965960"/>
          </a:xfrm>
          <a:prstGeom prst="roundRect">
            <a:avLst>
              <a:gd name="adj" fmla="val 3721"/>
            </a:avLst>
          </a:prstGeom>
          <a:solidFill>
            <a:srgbClr val="F4F4F1"/>
          </a:solidFill>
          <a:ln/>
        </p:spPr>
      </p:sp>
      <p:sp>
        <p:nvSpPr>
          <p:cNvPr id="14" name="Text 12"/>
          <p:cNvSpPr/>
          <p:nvPr/>
        </p:nvSpPr>
        <p:spPr>
          <a:xfrm>
            <a:off x="9107424" y="2066544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07424" y="2615184"/>
            <a:ext cx="2670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of a useless model that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everyone — why AUROC, not accuracy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43434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underwriting question: </a:t>
            </a:r>
            <a:pPr indent="0" marL="0">
              <a:buNone/>
            </a:pPr>
            <a:r>
              <a:rPr lang="en-US" sz="17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application time, with only the form and the bureau file, how likely is this applicant to stop paying — and where is the profit-maximizing line between approve and decline?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data, honest splits, three models, one sealed test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70048" cy="2240280"/>
          </a:xfrm>
          <a:prstGeom prst="roundRect">
            <a:avLst>
              <a:gd name="adj" fmla="val 3265"/>
            </a:avLst>
          </a:prstGeom>
          <a:solidFill>
            <a:srgbClr val="F4F4F1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874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13232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TABLES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13232" y="2715768"/>
            <a:ext cx="23957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307,511 applications +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1.7M credit-bureau records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(Character evidence, per applicant).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01568" y="1691640"/>
            <a:ext cx="2670048" cy="2240280"/>
          </a:xfrm>
          <a:prstGeom prst="roundRect">
            <a:avLst>
              <a:gd name="adj" fmla="val 3265"/>
            </a:avLst>
          </a:prstGeom>
          <a:solidFill>
            <a:srgbClr val="F4F4F1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1874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66160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SPLIT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566160" y="2715768"/>
            <a:ext cx="23957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audit (the 1,000-year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employee), missingness-as-signal,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70/15/15, test sealed.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54496" y="1691640"/>
            <a:ext cx="2670048" cy="2240280"/>
          </a:xfrm>
          <a:prstGeom prst="roundRect">
            <a:avLst>
              <a:gd name="adj" fmla="val 3265"/>
            </a:avLst>
          </a:prstGeom>
          <a:solidFill>
            <a:srgbClr val="F4F4F1"/>
          </a:solidFill>
          <a:ln/>
        </p:spPr>
      </p:sp>
      <p:sp>
        <p:nvSpPr>
          <p:cNvPr id="13" name="Text 11"/>
          <p:cNvSpPr/>
          <p:nvPr/>
        </p:nvSpPr>
        <p:spPr>
          <a:xfrm>
            <a:off x="6419088" y="1874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19088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FIVE-Cs FEATURES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19088" y="2715768"/>
            <a:ext cx="23957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 features: capacity ratios,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aggregates, external-score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combos, K-Means peer groups.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07424" y="1691640"/>
            <a:ext cx="2670048" cy="2240280"/>
          </a:xfrm>
          <a:prstGeom prst="roundRect">
            <a:avLst>
              <a:gd name="adj" fmla="val 3265"/>
            </a:avLst>
          </a:prstGeom>
          <a:solidFill>
            <a:srgbClr val="F4F4F1"/>
          </a:solidFill>
          <a:ln/>
        </p:spPr>
      </p:sp>
      <p:sp>
        <p:nvSpPr>
          <p:cNvPr id="17" name="Text 15"/>
          <p:cNvSpPr/>
          <p:nvPr/>
        </p:nvSpPr>
        <p:spPr>
          <a:xfrm>
            <a:off x="9272016" y="1874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272016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272016" y="2715768"/>
            <a:ext cx="23957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scorecard · Random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· tuned Gradient Boosting.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pipeline, CV-safe by design.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434340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is structurally impossible: </a:t>
            </a:r>
            <a:pPr indent="0" marL="0">
              <a:buNone/>
            </a:pPr>
            <a:r>
              <a:rPr lang="en-US" sz="15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fitted transform (imputers, encoders, clusterer, models) lives inside one sklearn Pipeline, re-fitted per CV fold. No class weighting — calibrated probabilities are required downstream, so asymmetric costs are handled at the decision threshold instead.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1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models, one scoreboard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1463040"/>
                <a:gridCol w="1463040"/>
                <a:gridCol w="146304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6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AUROC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6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AUROC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6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Gini (test)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6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KS (test)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6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 time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66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 baseline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scorecard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 (default)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 tuned (selected)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CA3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8920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Nonlinearity pays 1.7 AUROC points over the scorecard.  </a:t>
            </a:r>
            <a:pPr indent="0" marL="0">
              <a:buNone/>
            </a:pPr>
            <a:r>
              <a:rPr lang="en-US" sz="15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Tuning: randomized search, 3-fold CV on train only. Overfit check: 5-fold CV 0.768 ± 0.005 ≈ validation 0.773 ≈ test 0.774 — three independent readings agree; the train score (0.832) is never quoted as performance.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2 OF 4 — THE HEADLINE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ROC curve: 0.774 on a sealed test set</a:t>
            </a:r>
            <a:endParaRPr lang="en-US" sz="3000" dirty="0"/>
          </a:p>
        </p:txBody>
      </p:sp>
      <p:pic>
        <p:nvPicPr>
          <p:cNvPr id="4" name="Image 0" descr="C:\Users\mailt\OneDrive\Desktop\Jarviss\Project-Deep Learning\Module_1_intro_to_ML\capstone\reports\figures\mod_roc_curv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81328"/>
            <a:ext cx="7498080" cy="4937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75320" y="1600200"/>
            <a:ext cx="3383280" cy="1078992"/>
          </a:xfrm>
          <a:prstGeom prst="roundRect">
            <a:avLst>
              <a:gd name="adj" fmla="val 5932"/>
            </a:avLst>
          </a:prstGeom>
          <a:solidFill>
            <a:srgbClr val="F4F4F1"/>
          </a:solidFill>
          <a:ln/>
        </p:spPr>
      </p:sp>
      <p:sp>
        <p:nvSpPr>
          <p:cNvPr id="6" name="Text 3"/>
          <p:cNvSpPr/>
          <p:nvPr/>
        </p:nvSpPr>
        <p:spPr>
          <a:xfrm>
            <a:off x="8275320" y="169164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CA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0.774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275320" y="22402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AUROC · sealed set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275320" y="2816352"/>
            <a:ext cx="3383280" cy="1078992"/>
          </a:xfrm>
          <a:prstGeom prst="roundRect">
            <a:avLst>
              <a:gd name="adj" fmla="val 5932"/>
            </a:avLst>
          </a:prstGeom>
          <a:solidFill>
            <a:srgbClr val="F4F4F1"/>
          </a:solidFill>
          <a:ln/>
        </p:spPr>
      </p:sp>
      <p:sp>
        <p:nvSpPr>
          <p:cNvPr id="9" name="Text 6"/>
          <p:cNvSpPr/>
          <p:nvPr/>
        </p:nvSpPr>
        <p:spPr>
          <a:xfrm>
            <a:off x="8275320" y="2907792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0.416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275320" y="345643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 — max separation of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and bad applicants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275320" y="4032504"/>
            <a:ext cx="3383280" cy="1078992"/>
          </a:xfrm>
          <a:prstGeom prst="roundRect">
            <a:avLst>
              <a:gd name="adj" fmla="val 5932"/>
            </a:avLst>
          </a:prstGeom>
          <a:solidFill>
            <a:srgbClr val="F4F4F1"/>
          </a:solidFill>
          <a:ln/>
        </p:spPr>
      </p:sp>
      <p:sp>
        <p:nvSpPr>
          <p:cNvPr id="12" name="Text 9"/>
          <p:cNvSpPr/>
          <p:nvPr/>
        </p:nvSpPr>
        <p:spPr>
          <a:xfrm>
            <a:off x="8275320" y="412394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~1/3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8275320" y="467258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defaults sit in the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risk decile alone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275320" y="5248656"/>
            <a:ext cx="3383280" cy="1078992"/>
          </a:xfrm>
          <a:prstGeom prst="roundRect">
            <a:avLst>
              <a:gd name="adj" fmla="val 5932"/>
            </a:avLst>
          </a:prstGeom>
          <a:solidFill>
            <a:srgbClr val="F4F4F1"/>
          </a:solidFill>
          <a:ln/>
        </p:spPr>
      </p:sp>
      <p:sp>
        <p:nvSpPr>
          <p:cNvPr id="15" name="Text 12"/>
          <p:cNvSpPr/>
          <p:nvPr/>
        </p:nvSpPr>
        <p:spPr>
          <a:xfrm>
            <a:off x="8275320" y="5340096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0.067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8275320" y="588873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Brier score — probabilities,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rankings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3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probabilities are honest — which is what makes them priceable</a:t>
            </a:r>
            <a:endParaRPr lang="en-US" sz="3000" dirty="0"/>
          </a:p>
        </p:txBody>
      </p:sp>
      <p:pic>
        <p:nvPicPr>
          <p:cNvPr id="4" name="Image 0" descr="C:\Users\mailt\OneDrive\Desktop\Jarviss\Project-Deep Learning\Module_1_intro_to_ML\capstone\reports\figures\mod_calibr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00200"/>
            <a:ext cx="7863840" cy="4206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49640" y="19202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≈ observed, decile by decile.
</a:t>
            </a:r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we refused class weighting: it would have inflated every PD and broken this chart.
</a:t>
            </a:r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PDs feed three consumers: the profit threshold, risk-based pricing, and the adverse-action reasons.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4 OF 4 — THE DECISION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draw the line, and what the line is worth</a:t>
            </a:r>
            <a:endParaRPr lang="en-US" sz="3000" dirty="0"/>
          </a:p>
        </p:txBody>
      </p:sp>
      <p:pic>
        <p:nvPicPr>
          <p:cNvPr id="4" name="Image 0" descr="C:\Users\mailt\OneDrive\Desktop\Jarviss\Project-Deep Learning\Module_1_intro_to_ML\capstone\reports\figures\mod_profit_curv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54480"/>
            <a:ext cx="7863840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49640" y="1691640"/>
            <a:ext cx="3108960" cy="1298448"/>
          </a:xfrm>
          <a:prstGeom prst="roundRect">
            <a:avLst>
              <a:gd name="adj" fmla="val 4930"/>
            </a:avLst>
          </a:prstGeom>
          <a:solidFill>
            <a:srgbClr val="F4F4F1"/>
          </a:solidFill>
          <a:ln/>
        </p:spPr>
      </p:sp>
      <p:sp>
        <p:nvSpPr>
          <p:cNvPr id="6" name="Text 3"/>
          <p:cNvSpPr/>
          <p:nvPr/>
        </p:nvSpPr>
        <p:spPr>
          <a:xfrm>
            <a:off x="8549640" y="183794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CA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+$578.7M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8549640" y="238658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benefit on the 46,127-application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book vs approving everyone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549640" y="3172968"/>
            <a:ext cx="3108960" cy="1298448"/>
          </a:xfrm>
          <a:prstGeom prst="roundRect">
            <a:avLst>
              <a:gd name="adj" fmla="val 4930"/>
            </a:avLst>
          </a:prstGeom>
          <a:solidFill>
            <a:srgbClr val="F4F4F1"/>
          </a:solidFill>
          <a:ln/>
        </p:spPr>
      </p:sp>
      <p:sp>
        <p:nvSpPr>
          <p:cNvPr id="9" name="Text 6"/>
          <p:cNvSpPr/>
          <p:nvPr/>
        </p:nvSpPr>
        <p:spPr>
          <a:xfrm>
            <a:off x="8549640" y="331927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74.5%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8549640" y="38679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eventual defaults declined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funding (2,773 loans)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549640" y="4654296"/>
            <a:ext cx="3108960" cy="1298448"/>
          </a:xfrm>
          <a:prstGeom prst="roundRect">
            <a:avLst>
              <a:gd name="adj" fmla="val 4930"/>
            </a:avLst>
          </a:prstGeom>
          <a:solidFill>
            <a:srgbClr val="F4F4F1"/>
          </a:solidFill>
          <a:ln/>
        </p:spPr>
      </p:sp>
      <p:sp>
        <p:nvSpPr>
          <p:cNvPr id="12" name="Text 9"/>
          <p:cNvSpPr/>
          <p:nvPr/>
        </p:nvSpPr>
        <p:spPr>
          <a:xfrm>
            <a:off x="8549640" y="480060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63.2%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8549640" y="53492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rate at the optimum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(threshold: PD ≥ 7%)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on the table: LGD 65%, lifetime margin 5%, exposure = requested credit. The threshold is leadership's dial — every point on the blue curve is a policy.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decline comes with its reasons — by construction</a:t>
            </a:r>
            <a:endParaRPr lang="en-US" sz="3000" dirty="0"/>
          </a:p>
        </p:txBody>
      </p:sp>
      <p:pic>
        <p:nvPicPr>
          <p:cNvPr id="4" name="Image 0" descr="C:\Users\mailt\OneDrive\Desktop\Jarviss\Project-Deep Learning\Module_1_intro_to_ML\capstone\reports\figures\exp_shap_waterfal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54480"/>
            <a:ext cx="630936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32320" y="1691640"/>
            <a:ext cx="4526280" cy="3749040"/>
          </a:xfrm>
          <a:prstGeom prst="roundRect">
            <a:avLst>
              <a:gd name="adj" fmla="val 1951"/>
            </a:avLst>
          </a:prstGeom>
          <a:solidFill>
            <a:srgbClr val="F4F4F1"/>
          </a:solidFill>
          <a:ln/>
        </p:spPr>
      </p:sp>
      <p:sp>
        <p:nvSpPr>
          <p:cNvPr id="6" name="Text 3"/>
          <p:cNvSpPr/>
          <p:nvPr/>
        </p:nvSpPr>
        <p:spPr>
          <a:xfrm>
            <a:off x="7360920" y="1874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ACTION NOTICE (generated)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7360920" y="2240280"/>
            <a:ext cx="4114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probability of payment difficulties: 8.3%
</a:t>
            </a:r>
            <a:pPr indent="0" marL="0">
              <a:buNone/>
            </a:pPr>
            <a:r>
              <a:rPr lang="en-US" sz="12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reasons for the decision:
</a:t>
            </a:r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Number of active credit obligations at other lenders</a:t>
            </a:r>
            <a:endParaRPr lang="en-US" sz="1150" dirty="0"/>
          </a:p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High utilization of existing credit lines</a:t>
            </a:r>
            <a:endParaRPr lang="en-US" sz="1150" dirty="0"/>
          </a:p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Requested credit high relative to purchase value</a:t>
            </a:r>
            <a:endParaRPr lang="en-US" sz="1150" dirty="0"/>
          </a:p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High payment burden on requested credit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48640" y="5897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decompositions sum exactly to each prediction; the top-4 risk-increasing factors translate to consumer language via a reviewed reason map — the FCAC/ECOA requirement, automated.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&amp; LIMITATIONS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monitoring is demonstrated — and the model's limits are stated</a:t>
            </a:r>
            <a:endParaRPr lang="en-US" sz="3000" dirty="0"/>
          </a:p>
        </p:txBody>
      </p:sp>
      <p:pic>
        <p:nvPicPr>
          <p:cNvPr id="4" name="Image 0" descr="C:\Users\mailt\OneDrive\Desktop\Jarviss\Project-Deep Learning\Module_1_intro_to_ML\capstone\reports\figures\exp_segment_auro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54480"/>
            <a:ext cx="630936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32320" y="1645920"/>
            <a:ext cx="4526280" cy="1280160"/>
          </a:xfrm>
          <a:prstGeom prst="roundRect">
            <a:avLst>
              <a:gd name="adj" fmla="val 5714"/>
            </a:avLst>
          </a:prstGeom>
          <a:solidFill>
            <a:srgbClr val="F4F4F1"/>
          </a:solidFill>
          <a:ln/>
        </p:spPr>
      </p:sp>
      <p:sp>
        <p:nvSpPr>
          <p:cNvPr id="6" name="Text 3"/>
          <p:cNvSpPr/>
          <p:nvPr/>
        </p:nvSpPr>
        <p:spPr>
          <a:xfrm>
            <a:off x="7360920" y="17556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monitoring, fired for real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360920" y="21031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Random-split control ≈ 0 (stable, as it must be). Simulated severe recession: PSI 0.34 — alarm raised. Monthly in production.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132320" y="3063240"/>
            <a:ext cx="4526280" cy="1280160"/>
          </a:xfrm>
          <a:prstGeom prst="roundRect">
            <a:avLst>
              <a:gd name="adj" fmla="val 5714"/>
            </a:avLst>
          </a:prstGeom>
          <a:solidFill>
            <a:srgbClr val="F4F4F1"/>
          </a:solidFill>
          <a:ln/>
        </p:spPr>
      </p:sp>
      <p:sp>
        <p:nvSpPr>
          <p:cNvPr id="9" name="Text 6"/>
          <p:cNvSpPr/>
          <p:nvPr/>
        </p:nvSpPr>
        <p:spPr>
          <a:xfrm>
            <a:off x="7360920" y="31729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temporal validation possible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360920" y="352044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carries no dates; splits are random. PSI + monthly retraining are the compensating controls until dated cohorts exist.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132320" y="4480560"/>
            <a:ext cx="4526280" cy="1280160"/>
          </a:xfrm>
          <a:prstGeom prst="roundRect">
            <a:avLst>
              <a:gd name="adj" fmla="val 5714"/>
            </a:avLst>
          </a:prstGeom>
          <a:solidFill>
            <a:srgbClr val="F4F4F1"/>
          </a:solidFill>
          <a:ln/>
        </p:spPr>
      </p:sp>
      <p:sp>
        <p:nvSpPr>
          <p:cNvPr id="12" name="Text 9"/>
          <p:cNvSpPr/>
          <p:nvPr/>
        </p:nvSpPr>
        <p:spPr>
          <a:xfrm>
            <a:off x="7360920" y="45902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Approved-population bias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360920" y="493776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never saw applicants the old process declined. Reject-inference is the top item in the iteration plan.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36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EC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· AND THE RECOMMENDATION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found a compliance defect, fixed it, and priced the fix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10698480" cy="1325880"/>
          </a:xfrm>
          <a:prstGeom prst="roundRect">
            <a:avLst>
              <a:gd name="adj" fmla="val 5517"/>
            </a:avLst>
          </a:prstGeom>
          <a:solidFill>
            <a:srgbClr val="123B76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892808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224028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was a model input — prohibited in credit decisions regardless of accuracy. Measured impact at the production threshold: male adverse-impact ratio 0.75, age 20–35 AIR 0.62 (four-fifths screen: 0.80).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3264408"/>
            <a:ext cx="10698480" cy="1325880"/>
          </a:xfrm>
          <a:prstGeom prst="roundRect">
            <a:avLst>
              <a:gd name="adj" fmla="val 5517"/>
            </a:avLst>
          </a:prstGeom>
          <a:solidFill>
            <a:srgbClr val="123B76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374136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9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3721608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Retrained the exact champion without gender: test AUROC 0.7731 vs 0.7736 — the fix costs less than a thousandth of a point. Age effects remain: risk-based and monotone (young riskier), documented as business necessity with quarterly re-audit of proxy pathways.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4745736"/>
            <a:ext cx="10698480" cy="1325880"/>
          </a:xfrm>
          <a:prstGeom prst="roundRect">
            <a:avLst>
              <a:gd name="adj" fmla="val 5517"/>
            </a:avLst>
          </a:prstGeom>
          <a:solidFill>
            <a:srgbClr val="123B7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855464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E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— DEPLOY, WITH CONDITIONS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5202936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the gender-free pipeline · adverse-action reasons on every decline · monthly PSI vs frozen reference · quarterly fairness re-audit · manual-review lane for thin files · monthly champion/challenger retraining.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6B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beats the baseline, prices its own decisions, explains itself, and survived a fairness audit — that is what deployable means.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Q&amp;A BACKUP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Pre-answered: the questions we expect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'How do we know it is not overfit?'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938528"/>
            <a:ext cx="5440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0.768 ± 0.005 ≈ val 0.773 ≈ sealed test 0.774. Train (0.832) is quoted only to show we checked the gap; capacity was regularized by the search (L2 = 10).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217920" y="155448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'What happens when the economy changes?'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1938528"/>
            <a:ext cx="5440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PSI vs frozen train reference, monthly. Demonstrated: severe-recession simulation raises PSI 0.34 (investigate band); random-split control ≈ 0.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15468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'Why these dollar numbers?'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538728"/>
            <a:ext cx="5440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Prevented losses = declined defaulters' exposure × 65% LGD; cost = declined good customers' exposure × 5% margin. Every assumption is a named constant in src/config.py.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0" y="315468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'Can it explain an individual decline?'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3538728"/>
            <a:ext cx="5440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- SHAP top-4 risk contributors, mapped to consumer language, generated for every declined applicant. Illustrated end-to-end in notebook 05.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75488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'Which features matter most?'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5138928"/>
            <a:ext cx="5440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bureau scores (mean/min combos), then age and employment tenure, then bureau burden (utilization, active credits, overdue history), then capacity ratios.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17920" y="475488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'What would 4 more weeks buy?'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5138928"/>
            <a:ext cx="5440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remaining relationship tables (previous applications, installments, card balances) - the known accuracy headroom; reject-inference; out-of-time validation on dated cohorts.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Scoring Model</dc:title>
  <dc:subject>PptxGenJS Presentation</dc:subject>
  <dc:creator>Kaustubh Patil</dc:creator>
  <cp:lastModifiedBy>Kaustubh Patil</cp:lastModifiedBy>
  <cp:revision>1</cp:revision>
  <dcterms:created xsi:type="dcterms:W3CDTF">2026-08-20T20:45:05Z</dcterms:created>
  <dcterms:modified xsi:type="dcterms:W3CDTF">2026-08-20T20:45:05Z</dcterms:modified>
</cp:coreProperties>
</file>