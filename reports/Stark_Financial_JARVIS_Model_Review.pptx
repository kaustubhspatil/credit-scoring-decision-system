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cold, do not read the slide. Say: this is JARVIS, the engine that decides who we lend to. In the next few minutes I will show you what it decides, what it is worth, where it breaks, and what I would do with it. Then go straight to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alone should be enough for a decision. Read the three findings, then the four actions, then say: the rest of this deck is the evidence behind those. If the someone only has two minutes, this is the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on the two numbers. One thousand against thirteen thousand. Say the ratio out loud: one bad loan costs thirteen good ones. That single fact drives every decision in the rest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under forty seconds. The sentinel story is the colour if you have time: one column claimed a thousand years of employment, which turned out to be how the system recorded pensioners. Otherwise move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'why boosting and not the simple model'. The honest version: on raw accuracy the forest and the scorecard are nearly tied, and boosting wins by 1.7 points. But the reason boosting is deployable is SHAP. Without it, it would sit in Challengers with the forest and I would not recommend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asks 'is 0.774 good': yes, for this data. Say why 0.80 would actually worry you. That answer is more convincing than the number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carries the argument. Say the division out loud: five over seventy is seven point one. Then say I found the same number a completely different way. If they push for a higher approval rate, the answer is yes and here is the cost.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regulator question is not explain the model, it is justify this decision. The bars on the right are that applicant’s actual factor contributions, and the four on the letter are simply the largest of them. Point at the bars, not the paragraph.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Naming your own limits is what buys credibility for everything else you claimed. The tripwire being test-fired rather than merely documented is the strongest point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 this. Do not apologise for it. Finding it yourself and pricing the fix at essentially zero is the strongest governance signal in the entire review.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 app open at 127.0.0.1:5000 before you arrive here. Click Thin file. Narrate while it scores. Point at the decision, then the money row, then the reasons. Sixty seconds. Do not troubleshoot live.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risk officer cares about. The language model sits strictly downstream of the decision and is given the numbers as facts. If the network is down the app writes the paragraph itself and nothing else changes.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recommendation, not on thanks. Read the four numbers, then stop talking and let the room come to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2194560" cy="635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0" y="-731519"/>
            <a:ext cx="8321040" cy="8321040"/>
          </a:xfrm>
          <a:prstGeom prst="ellipse">
            <a:avLst/>
          </a:prstGeom>
          <a:noFill/>
          <a:ln w="20320">
            <a:solidFill>
              <a:srgbClr val="0333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178040" y="228600"/>
            <a:ext cx="6400800" cy="6400800"/>
          </a:xfrm>
          <a:prstGeom prst="ellipse">
            <a:avLst/>
          </a:prstGeom>
          <a:noFill/>
          <a:ln w="20320">
            <a:solidFill>
              <a:srgbClr val="063D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46720" y="1097280"/>
            <a:ext cx="4663440" cy="4663440"/>
          </a:xfrm>
          <a:prstGeom prst="ellipse">
            <a:avLst/>
          </a:prstGeom>
          <a:noFill/>
          <a:ln w="20320">
            <a:solidFill>
              <a:srgbClr val="0A49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823960" y="1874519"/>
            <a:ext cx="3108960" cy="3108960"/>
          </a:xfrm>
          <a:prstGeom prst="ellipse">
            <a:avLst/>
          </a:prstGeom>
          <a:noFill/>
          <a:ln w="20320">
            <a:solidFill>
              <a:srgbClr val="0E59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811512" y="2862072"/>
            <a:ext cx="1133856" cy="1133856"/>
          </a:xfrm>
          <a:prstGeom prst="ellipse">
            <a:avLst/>
          </a:prstGeom>
          <a:solidFill>
            <a:srgbClr val="063D6E"/>
          </a:solidFill>
          <a:ln w="2032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40" y="2240280"/>
            <a:ext cx="32004" cy="237744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572768"/>
            <a:ext cx="8229600" cy="320040"/>
          </a:xfrm>
          <a:prstGeom prst="rect">
            <a:avLst/>
          </a:prstGeom>
          <a:noFill/>
        </p:spPr>
        <p:txBody>
          <a:bodyPr wrap="square">
            <a:noAutofit/>
          </a:bodyPr>
          <a:lstStyle/>
          <a:p>
            <a:pPr algn="l"/>
            <a:r>
              <a:rPr sz="1150" b="1" i="0">
                <a:solidFill>
                  <a:srgbClr val="12B2A6"/>
                </a:solidFill>
                <a:latin typeface="Segoe UI"/>
              </a:rPr>
              <a:t>CONSUMER LENDING  ·  CREDIT DECISIONING</a:t>
            </a:r>
          </a:p>
        </p:txBody>
      </p:sp>
      <p:sp>
        <p:nvSpPr>
          <p:cNvPr id="13" name="TextBox 12"/>
          <p:cNvSpPr txBox="1"/>
          <p:nvPr/>
        </p:nvSpPr>
        <p:spPr>
          <a:xfrm>
            <a:off x="822960" y="1993392"/>
            <a:ext cx="7498079" cy="1371600"/>
          </a:xfrm>
          <a:prstGeom prst="rect">
            <a:avLst/>
          </a:prstGeom>
          <a:noFill/>
        </p:spPr>
        <p:txBody>
          <a:bodyPr wrap="square">
            <a:noAutofit/>
          </a:bodyPr>
          <a:lstStyle/>
          <a:p>
            <a:pPr algn="l"/>
            <a:r>
              <a:rPr sz="7200" b="1" i="0">
                <a:solidFill>
                  <a:srgbClr val="FFFFFF"/>
                </a:solidFill>
                <a:latin typeface="Segoe UI Semibold"/>
              </a:rPr>
              <a:t>JARVIS</a:t>
            </a:r>
          </a:p>
        </p:txBody>
      </p:sp>
      <p:sp>
        <p:nvSpPr>
          <p:cNvPr id="14" name="TextBox 13"/>
          <p:cNvSpPr txBox="1"/>
          <p:nvPr/>
        </p:nvSpPr>
        <p:spPr>
          <a:xfrm>
            <a:off x="822960" y="3218688"/>
            <a:ext cx="7498079" cy="457200"/>
          </a:xfrm>
          <a:prstGeom prst="rect">
            <a:avLst/>
          </a:prstGeom>
          <a:noFill/>
        </p:spPr>
        <p:txBody>
          <a:bodyPr wrap="square">
            <a:noAutofit/>
          </a:bodyPr>
          <a:lstStyle/>
          <a:p>
            <a:pPr algn="l"/>
            <a:r>
              <a:rPr sz="1900" b="0" i="0">
                <a:solidFill>
                  <a:srgbClr val="A9E7E1"/>
                </a:solidFill>
                <a:latin typeface="Segoe UI"/>
              </a:rPr>
              <a:t>Just A Rather Very Intelligent System</a:t>
            </a:r>
          </a:p>
        </p:txBody>
      </p:sp>
      <p:sp>
        <p:nvSpPr>
          <p:cNvPr id="15" name="Rectangle 14"/>
          <p:cNvSpPr/>
          <p:nvPr/>
        </p:nvSpPr>
        <p:spPr>
          <a:xfrm>
            <a:off x="822960" y="3822191"/>
            <a:ext cx="1463040" cy="32004"/>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69080"/>
            <a:ext cx="7863840" cy="411480"/>
          </a:xfrm>
          <a:prstGeom prst="rect">
            <a:avLst/>
          </a:prstGeom>
          <a:noFill/>
        </p:spPr>
        <p:txBody>
          <a:bodyPr wrap="square">
            <a:noAutofit/>
          </a:bodyPr>
          <a:lstStyle/>
          <a:p>
            <a:pPr algn="l"/>
            <a:r>
              <a:rPr sz="1700" b="0" i="0">
                <a:solidFill>
                  <a:srgbClr val="D2DFEC"/>
                </a:solidFill>
                <a:latin typeface="Segoe UI"/>
              </a:rPr>
              <a:t>The engine that decides who Stark Financial lends to,</a:t>
            </a:r>
          </a:p>
        </p:txBody>
      </p:sp>
      <p:sp>
        <p:nvSpPr>
          <p:cNvPr id="17" name="TextBox 16"/>
          <p:cNvSpPr txBox="1"/>
          <p:nvPr/>
        </p:nvSpPr>
        <p:spPr>
          <a:xfrm>
            <a:off x="822960" y="4407408"/>
            <a:ext cx="7863840" cy="411480"/>
          </a:xfrm>
          <a:prstGeom prst="rect">
            <a:avLst/>
          </a:prstGeom>
          <a:noFill/>
        </p:spPr>
        <p:txBody>
          <a:bodyPr wrap="square">
            <a:noAutofit/>
          </a:bodyPr>
          <a:lstStyle/>
          <a:p>
            <a:pPr algn="l"/>
            <a:r>
              <a:rPr sz="1700" b="0" i="0">
                <a:solidFill>
                  <a:srgbClr val="D2DFEC"/>
                </a:solidFill>
                <a:latin typeface="Segoe UI"/>
              </a:rPr>
              <a:t>and what that decision is worth.</a:t>
            </a:r>
          </a:p>
        </p:txBody>
      </p:sp>
      <p:sp>
        <p:nvSpPr>
          <p:cNvPr id="18" name="TextBox 17"/>
          <p:cNvSpPr txBox="1"/>
          <p:nvPr/>
        </p:nvSpPr>
        <p:spPr>
          <a:xfrm>
            <a:off x="822960" y="5230368"/>
            <a:ext cx="5486400" cy="320040"/>
          </a:xfrm>
          <a:prstGeom prst="rect">
            <a:avLst/>
          </a:prstGeom>
          <a:noFill/>
        </p:spPr>
        <p:txBody>
          <a:bodyPr wrap="square">
            <a:noAutofit/>
          </a:bodyPr>
          <a:lstStyle/>
          <a:p>
            <a:pPr algn="l"/>
            <a:r>
              <a:rPr sz="1400" b="1" i="0">
                <a:solidFill>
                  <a:srgbClr val="FFFFFF"/>
                </a:solidFill>
                <a:latin typeface="Segoe UI"/>
              </a:rPr>
              <a:t>Kaustubh Patil</a:t>
            </a:r>
          </a:p>
        </p:txBody>
      </p:sp>
      <p:sp>
        <p:nvSpPr>
          <p:cNvPr id="19" name="TextBox 18"/>
          <p:cNvSpPr txBox="1"/>
          <p:nvPr/>
        </p:nvSpPr>
        <p:spPr>
          <a:xfrm>
            <a:off x="822960" y="5541264"/>
            <a:ext cx="6400800" cy="320040"/>
          </a:xfrm>
          <a:prstGeom prst="rect">
            <a:avLst/>
          </a:prstGeom>
          <a:noFill/>
        </p:spPr>
        <p:txBody>
          <a:bodyPr wrap="square">
            <a:noAutofit/>
          </a:bodyPr>
          <a:lstStyle/>
          <a:p>
            <a:pPr algn="l"/>
            <a:r>
              <a:rPr sz="1200" b="0" i="0">
                <a:solidFill>
                  <a:srgbClr val="8FA8C2"/>
                </a:solidFill>
                <a:latin typeface="Segoe UI"/>
              </a:rPr>
              <a:t>Built and independently assessed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02</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2532659"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EXECUTIVE SUMMARY</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JARVIS is ready to deploy, on four conditions</a:t>
            </a:r>
          </a:p>
        </p:txBody>
      </p:sp>
      <p:sp>
        <p:nvSpPr>
          <p:cNvPr id="9" name="TextBox 8"/>
          <p:cNvSpPr txBox="1"/>
          <p:nvPr/>
        </p:nvSpPr>
        <p:spPr>
          <a:xfrm>
            <a:off x="621792" y="1783080"/>
            <a:ext cx="5486400" cy="274320"/>
          </a:xfrm>
          <a:prstGeom prst="rect">
            <a:avLst/>
          </a:prstGeom>
          <a:noFill/>
        </p:spPr>
        <p:txBody>
          <a:bodyPr wrap="square">
            <a:noAutofit/>
          </a:bodyPr>
          <a:lstStyle/>
          <a:p>
            <a:pPr algn="l"/>
            <a:r>
              <a:rPr sz="1000" b="1" i="0">
                <a:solidFill>
                  <a:srgbClr val="0B8F86"/>
                </a:solidFill>
                <a:latin typeface="Segoe UI"/>
              </a:rPr>
              <a:t>KEY FINDINGS</a:t>
            </a:r>
          </a:p>
        </p:txBody>
      </p:sp>
      <p:sp>
        <p:nvSpPr>
          <p:cNvPr id="10" name="Rounded Rectangle 9"/>
          <p:cNvSpPr/>
          <p:nvPr/>
        </p:nvSpPr>
        <p:spPr>
          <a:xfrm>
            <a:off x="621792" y="2121408"/>
            <a:ext cx="5486400" cy="1207008"/>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2121408"/>
            <a:ext cx="50292" cy="1207008"/>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2249424"/>
            <a:ext cx="365760" cy="274320"/>
          </a:xfrm>
          <a:prstGeom prst="rect">
            <a:avLst/>
          </a:prstGeom>
          <a:noFill/>
        </p:spPr>
        <p:txBody>
          <a:bodyPr wrap="square">
            <a:noAutofit/>
          </a:bodyPr>
          <a:lstStyle/>
          <a:p>
            <a:pPr algn="l"/>
            <a:r>
              <a:rPr sz="1100" b="1" i="0">
                <a:solidFill>
                  <a:srgbClr val="0B8F86"/>
                </a:solidFill>
                <a:latin typeface="Segoe UI"/>
              </a:rPr>
              <a:t>1</a:t>
            </a:r>
          </a:p>
        </p:txBody>
      </p:sp>
      <p:sp>
        <p:nvSpPr>
          <p:cNvPr id="13" name="TextBox 12"/>
          <p:cNvSpPr txBox="1"/>
          <p:nvPr/>
        </p:nvSpPr>
        <p:spPr>
          <a:xfrm>
            <a:off x="1170432" y="2231136"/>
            <a:ext cx="4754880" cy="658368"/>
          </a:xfrm>
          <a:prstGeom prst="rect">
            <a:avLst/>
          </a:prstGeom>
          <a:noFill/>
        </p:spPr>
        <p:txBody>
          <a:bodyPr wrap="square">
            <a:noAutofit/>
          </a:bodyPr>
          <a:lstStyle/>
          <a:p>
            <a:pPr algn="l"/>
            <a:r>
              <a:rPr sz="1250" b="1" i="0">
                <a:solidFill>
                  <a:srgbClr val="10233A"/>
                </a:solidFill>
                <a:latin typeface="Segoe UI"/>
              </a:rPr>
              <a:t>It beats the incumbent scorecard by a margin that survives three independent tests.</a:t>
            </a:r>
          </a:p>
        </p:txBody>
      </p:sp>
      <p:sp>
        <p:nvSpPr>
          <p:cNvPr id="14" name="TextBox 13"/>
          <p:cNvSpPr txBox="1"/>
          <p:nvPr/>
        </p:nvSpPr>
        <p:spPr>
          <a:xfrm>
            <a:off x="1170432" y="2871215"/>
            <a:ext cx="4754880" cy="365760"/>
          </a:xfrm>
          <a:prstGeom prst="rect">
            <a:avLst/>
          </a:prstGeom>
          <a:noFill/>
        </p:spPr>
        <p:txBody>
          <a:bodyPr wrap="square">
            <a:noAutofit/>
          </a:bodyPr>
          <a:lstStyle/>
          <a:p>
            <a:pPr algn="l"/>
            <a:r>
              <a:rPr sz="1100" b="0" i="0">
                <a:solidFill>
                  <a:srgbClr val="56677B"/>
                </a:solidFill>
                <a:latin typeface="Segoe UI"/>
              </a:rPr>
              <a:t>0.774 against 0.757, and the gap holds on a sealed test set.</a:t>
            </a:r>
          </a:p>
        </p:txBody>
      </p:sp>
      <p:sp>
        <p:nvSpPr>
          <p:cNvPr id="15" name="Rounded Rectangle 14"/>
          <p:cNvSpPr/>
          <p:nvPr/>
        </p:nvSpPr>
        <p:spPr>
          <a:xfrm>
            <a:off x="621792" y="3438144"/>
            <a:ext cx="5486400" cy="1207008"/>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 y="3438144"/>
            <a:ext cx="50292" cy="1207008"/>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3566160"/>
            <a:ext cx="365760" cy="274320"/>
          </a:xfrm>
          <a:prstGeom prst="rect">
            <a:avLst/>
          </a:prstGeom>
          <a:noFill/>
        </p:spPr>
        <p:txBody>
          <a:bodyPr wrap="square">
            <a:noAutofit/>
          </a:bodyPr>
          <a:lstStyle/>
          <a:p>
            <a:pPr algn="l"/>
            <a:r>
              <a:rPr sz="1100" b="1" i="0">
                <a:solidFill>
                  <a:srgbClr val="0B8F86"/>
                </a:solidFill>
                <a:latin typeface="Segoe UI"/>
              </a:rPr>
              <a:t>2</a:t>
            </a:r>
          </a:p>
        </p:txBody>
      </p:sp>
      <p:sp>
        <p:nvSpPr>
          <p:cNvPr id="18" name="TextBox 17"/>
          <p:cNvSpPr txBox="1"/>
          <p:nvPr/>
        </p:nvSpPr>
        <p:spPr>
          <a:xfrm>
            <a:off x="1170432" y="3547872"/>
            <a:ext cx="4754880" cy="658368"/>
          </a:xfrm>
          <a:prstGeom prst="rect">
            <a:avLst/>
          </a:prstGeom>
          <a:noFill/>
        </p:spPr>
        <p:txBody>
          <a:bodyPr wrap="square">
            <a:noAutofit/>
          </a:bodyPr>
          <a:lstStyle/>
          <a:p>
            <a:pPr algn="l"/>
            <a:r>
              <a:rPr sz="1250" b="1" i="0">
                <a:solidFill>
                  <a:srgbClr val="10233A"/>
                </a:solidFill>
                <a:latin typeface="Segoe UI"/>
              </a:rPr>
              <a:t>The decline threshold is an economic result, not a modelling preference.</a:t>
            </a:r>
          </a:p>
        </p:txBody>
      </p:sp>
      <p:sp>
        <p:nvSpPr>
          <p:cNvPr id="19" name="TextBox 18"/>
          <p:cNvSpPr txBox="1"/>
          <p:nvPr/>
        </p:nvSpPr>
        <p:spPr>
          <a:xfrm>
            <a:off x="1170432" y="4187952"/>
            <a:ext cx="4754880" cy="365760"/>
          </a:xfrm>
          <a:prstGeom prst="rect">
            <a:avLst/>
          </a:prstGeom>
          <a:noFill/>
        </p:spPr>
        <p:txBody>
          <a:bodyPr wrap="square">
            <a:noAutofit/>
          </a:bodyPr>
          <a:lstStyle/>
          <a:p>
            <a:pPr algn="l"/>
            <a:r>
              <a:rPr sz="1100" b="0" i="0">
                <a:solidFill>
                  <a:srgbClr val="56677B"/>
                </a:solidFill>
                <a:latin typeface="Segoe UI"/>
              </a:rPr>
              <a:t>Two independent routes both land on 7%.</a:t>
            </a:r>
          </a:p>
        </p:txBody>
      </p:sp>
      <p:sp>
        <p:nvSpPr>
          <p:cNvPr id="20" name="Rounded Rectangle 19"/>
          <p:cNvSpPr/>
          <p:nvPr/>
        </p:nvSpPr>
        <p:spPr>
          <a:xfrm>
            <a:off x="621792" y="4754879"/>
            <a:ext cx="5486400" cy="1207008"/>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 y="4754879"/>
            <a:ext cx="50292" cy="1207008"/>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4882895"/>
            <a:ext cx="365760" cy="274320"/>
          </a:xfrm>
          <a:prstGeom prst="rect">
            <a:avLst/>
          </a:prstGeom>
          <a:noFill/>
        </p:spPr>
        <p:txBody>
          <a:bodyPr wrap="square">
            <a:noAutofit/>
          </a:bodyPr>
          <a:lstStyle/>
          <a:p>
            <a:pPr algn="l"/>
            <a:r>
              <a:rPr sz="1100" b="1" i="0">
                <a:solidFill>
                  <a:srgbClr val="0B8F86"/>
                </a:solidFill>
                <a:latin typeface="Segoe UI"/>
              </a:rPr>
              <a:t>3</a:t>
            </a:r>
          </a:p>
        </p:txBody>
      </p:sp>
      <p:sp>
        <p:nvSpPr>
          <p:cNvPr id="23" name="TextBox 22"/>
          <p:cNvSpPr txBox="1"/>
          <p:nvPr/>
        </p:nvSpPr>
        <p:spPr>
          <a:xfrm>
            <a:off x="1170432" y="4864607"/>
            <a:ext cx="4754880" cy="658368"/>
          </a:xfrm>
          <a:prstGeom prst="rect">
            <a:avLst/>
          </a:prstGeom>
          <a:noFill/>
        </p:spPr>
        <p:txBody>
          <a:bodyPr wrap="square">
            <a:noAutofit/>
          </a:bodyPr>
          <a:lstStyle/>
          <a:p>
            <a:pPr algn="l"/>
            <a:r>
              <a:rPr sz="1250" b="1" i="0">
                <a:solidFill>
                  <a:srgbClr val="10233A"/>
                </a:solidFill>
                <a:latin typeface="Segoe UI"/>
              </a:rPr>
              <a:t>A compliance defect was found during this review, and fixing it cost almost nothing.</a:t>
            </a:r>
          </a:p>
        </p:txBody>
      </p:sp>
      <p:sp>
        <p:nvSpPr>
          <p:cNvPr id="24" name="TextBox 23"/>
          <p:cNvSpPr txBox="1"/>
          <p:nvPr/>
        </p:nvSpPr>
        <p:spPr>
          <a:xfrm>
            <a:off x="1170432" y="5504688"/>
            <a:ext cx="4754880" cy="365760"/>
          </a:xfrm>
          <a:prstGeom prst="rect">
            <a:avLst/>
          </a:prstGeom>
          <a:noFill/>
        </p:spPr>
        <p:txBody>
          <a:bodyPr wrap="square">
            <a:noAutofit/>
          </a:bodyPr>
          <a:lstStyle/>
          <a:p>
            <a:pPr algn="l"/>
            <a:r>
              <a:rPr sz="1100" b="0" i="0">
                <a:solidFill>
                  <a:srgbClr val="56677B"/>
                </a:solidFill>
                <a:latin typeface="Segoe UI"/>
              </a:rPr>
              <a:t>Gender was an input. Removing it cost 0.0005 accuracy.</a:t>
            </a:r>
          </a:p>
        </p:txBody>
      </p:sp>
      <p:sp>
        <p:nvSpPr>
          <p:cNvPr id="25" name="TextBox 24"/>
          <p:cNvSpPr txBox="1"/>
          <p:nvPr/>
        </p:nvSpPr>
        <p:spPr>
          <a:xfrm>
            <a:off x="6400800" y="1783080"/>
            <a:ext cx="5120640" cy="274320"/>
          </a:xfrm>
          <a:prstGeom prst="rect">
            <a:avLst/>
          </a:prstGeom>
          <a:noFill/>
        </p:spPr>
        <p:txBody>
          <a:bodyPr wrap="square">
            <a:noAutofit/>
          </a:bodyPr>
          <a:lstStyle/>
          <a:p>
            <a:pPr algn="l"/>
            <a:r>
              <a:rPr sz="1000" b="1" i="0">
                <a:solidFill>
                  <a:srgbClr val="002856"/>
                </a:solidFill>
                <a:latin typeface="Segoe UI"/>
              </a:rPr>
              <a:t>RECOMMENDED ACTIONS</a:t>
            </a:r>
          </a:p>
        </p:txBody>
      </p:sp>
      <p:sp>
        <p:nvSpPr>
          <p:cNvPr id="26" name="Rounded Rectangle 25"/>
          <p:cNvSpPr/>
          <p:nvPr/>
        </p:nvSpPr>
        <p:spPr>
          <a:xfrm>
            <a:off x="6400800" y="2121408"/>
            <a:ext cx="5148072" cy="886968"/>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2121408"/>
            <a:ext cx="50292" cy="886968"/>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8544" y="2249424"/>
            <a:ext cx="4663440" cy="365760"/>
          </a:xfrm>
          <a:prstGeom prst="rect">
            <a:avLst/>
          </a:prstGeom>
          <a:noFill/>
        </p:spPr>
        <p:txBody>
          <a:bodyPr wrap="square">
            <a:noAutofit/>
          </a:bodyPr>
          <a:lstStyle/>
          <a:p>
            <a:pPr algn="l"/>
            <a:r>
              <a:rPr sz="1250" b="1" i="0">
                <a:solidFill>
                  <a:srgbClr val="10233A"/>
                </a:solidFill>
                <a:latin typeface="Segoe UI"/>
              </a:rPr>
              <a:t>1.  Deploy the gender-free pipeline</a:t>
            </a:r>
          </a:p>
        </p:txBody>
      </p:sp>
      <p:sp>
        <p:nvSpPr>
          <p:cNvPr id="29" name="TextBox 28"/>
          <p:cNvSpPr txBox="1"/>
          <p:nvPr/>
        </p:nvSpPr>
        <p:spPr>
          <a:xfrm>
            <a:off x="6803136" y="2596896"/>
            <a:ext cx="4480560" cy="320040"/>
          </a:xfrm>
          <a:prstGeom prst="rect">
            <a:avLst/>
          </a:prstGeom>
          <a:noFill/>
        </p:spPr>
        <p:txBody>
          <a:bodyPr wrap="square">
            <a:noAutofit/>
          </a:bodyPr>
          <a:lstStyle/>
          <a:p>
            <a:pPr algn="l"/>
            <a:r>
              <a:rPr sz="1050" b="0" i="0">
                <a:solidFill>
                  <a:srgbClr val="56677B"/>
                </a:solidFill>
                <a:latin typeface="Segoe UI"/>
              </a:rPr>
              <a:t>and only that variant</a:t>
            </a:r>
          </a:p>
        </p:txBody>
      </p:sp>
      <p:sp>
        <p:nvSpPr>
          <p:cNvPr id="30" name="Rounded Rectangle 29"/>
          <p:cNvSpPr/>
          <p:nvPr/>
        </p:nvSpPr>
        <p:spPr>
          <a:xfrm>
            <a:off x="6400800" y="3108960"/>
            <a:ext cx="5148072" cy="886968"/>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3108960"/>
            <a:ext cx="50292" cy="886968"/>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38544" y="3236976"/>
            <a:ext cx="4663440" cy="365760"/>
          </a:xfrm>
          <a:prstGeom prst="rect">
            <a:avLst/>
          </a:prstGeom>
          <a:noFill/>
        </p:spPr>
        <p:txBody>
          <a:bodyPr wrap="square">
            <a:noAutofit/>
          </a:bodyPr>
          <a:lstStyle/>
          <a:p>
            <a:pPr algn="l"/>
            <a:r>
              <a:rPr sz="1250" b="1" i="0">
                <a:solidFill>
                  <a:srgbClr val="10233A"/>
                </a:solidFill>
                <a:latin typeface="Segoe UI"/>
              </a:rPr>
              <a:t>2.  Issue reason codes on every decline</a:t>
            </a:r>
          </a:p>
        </p:txBody>
      </p:sp>
      <p:sp>
        <p:nvSpPr>
          <p:cNvPr id="33" name="TextBox 32"/>
          <p:cNvSpPr txBox="1"/>
          <p:nvPr/>
        </p:nvSpPr>
        <p:spPr>
          <a:xfrm>
            <a:off x="6803136" y="3584448"/>
            <a:ext cx="4480560" cy="320040"/>
          </a:xfrm>
          <a:prstGeom prst="rect">
            <a:avLst/>
          </a:prstGeom>
          <a:noFill/>
        </p:spPr>
        <p:txBody>
          <a:bodyPr wrap="square">
            <a:noAutofit/>
          </a:bodyPr>
          <a:lstStyle/>
          <a:p>
            <a:pPr algn="l"/>
            <a:r>
              <a:rPr sz="1050" b="0" i="0">
                <a:solidFill>
                  <a:srgbClr val="56677B"/>
                </a:solidFill>
                <a:latin typeface="Segoe UI"/>
              </a:rPr>
              <a:t>already automated, no extra build</a:t>
            </a:r>
          </a:p>
        </p:txBody>
      </p:sp>
      <p:sp>
        <p:nvSpPr>
          <p:cNvPr id="34" name="Rounded Rectangle 33"/>
          <p:cNvSpPr/>
          <p:nvPr/>
        </p:nvSpPr>
        <p:spPr>
          <a:xfrm>
            <a:off x="6400800" y="4096512"/>
            <a:ext cx="5148072" cy="886968"/>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4096512"/>
            <a:ext cx="50292" cy="886968"/>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38544" y="4224528"/>
            <a:ext cx="4663440" cy="365760"/>
          </a:xfrm>
          <a:prstGeom prst="rect">
            <a:avLst/>
          </a:prstGeom>
          <a:noFill/>
        </p:spPr>
        <p:txBody>
          <a:bodyPr wrap="square">
            <a:noAutofit/>
          </a:bodyPr>
          <a:lstStyle/>
          <a:p>
            <a:pPr algn="l"/>
            <a:r>
              <a:rPr sz="1250" b="1" i="0">
                <a:solidFill>
                  <a:srgbClr val="10233A"/>
                </a:solidFill>
                <a:latin typeface="Segoe UI"/>
              </a:rPr>
              <a:t>3.  Monitor drift monthly against a frozen reference</a:t>
            </a:r>
          </a:p>
        </p:txBody>
      </p:sp>
      <p:sp>
        <p:nvSpPr>
          <p:cNvPr id="37" name="TextBox 36"/>
          <p:cNvSpPr txBox="1"/>
          <p:nvPr/>
        </p:nvSpPr>
        <p:spPr>
          <a:xfrm>
            <a:off x="6803136" y="4572000"/>
            <a:ext cx="4480560" cy="320040"/>
          </a:xfrm>
          <a:prstGeom prst="rect">
            <a:avLst/>
          </a:prstGeom>
          <a:noFill/>
        </p:spPr>
        <p:txBody>
          <a:bodyPr wrap="square">
            <a:noAutofit/>
          </a:bodyPr>
          <a:lstStyle/>
          <a:p>
            <a:pPr algn="l"/>
            <a:r>
              <a:rPr sz="1050" b="0" i="0">
                <a:solidFill>
                  <a:srgbClr val="56677B"/>
                </a:solidFill>
                <a:latin typeface="Segoe UI"/>
              </a:rPr>
              <a:t>the tripwire is built and test-fired</a:t>
            </a:r>
          </a:p>
        </p:txBody>
      </p:sp>
      <p:sp>
        <p:nvSpPr>
          <p:cNvPr id="38" name="Rounded Rectangle 37"/>
          <p:cNvSpPr/>
          <p:nvPr/>
        </p:nvSpPr>
        <p:spPr>
          <a:xfrm>
            <a:off x="6400800" y="5084064"/>
            <a:ext cx="5148072" cy="886968"/>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0" y="5084064"/>
            <a:ext cx="50292" cy="886968"/>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38544" y="5212080"/>
            <a:ext cx="4663440" cy="365760"/>
          </a:xfrm>
          <a:prstGeom prst="rect">
            <a:avLst/>
          </a:prstGeom>
          <a:noFill/>
        </p:spPr>
        <p:txBody>
          <a:bodyPr wrap="square">
            <a:noAutofit/>
          </a:bodyPr>
          <a:lstStyle/>
          <a:p>
            <a:pPr algn="l"/>
            <a:r>
              <a:rPr sz="1250" b="1" i="0">
                <a:solidFill>
                  <a:srgbClr val="10233A"/>
                </a:solidFill>
                <a:latin typeface="Segoe UI"/>
              </a:rPr>
              <a:t>4.  Route thin-file applicants to a human</a:t>
            </a:r>
          </a:p>
        </p:txBody>
      </p:sp>
      <p:sp>
        <p:nvSpPr>
          <p:cNvPr id="41" name="TextBox 40"/>
          <p:cNvSpPr txBox="1"/>
          <p:nvPr/>
        </p:nvSpPr>
        <p:spPr>
          <a:xfrm>
            <a:off x="6803136" y="5559552"/>
            <a:ext cx="4480560" cy="320040"/>
          </a:xfrm>
          <a:prstGeom prst="rect">
            <a:avLst/>
          </a:prstGeom>
          <a:noFill/>
        </p:spPr>
        <p:txBody>
          <a:bodyPr wrap="square">
            <a:noAutofit/>
          </a:bodyPr>
          <a:lstStyle/>
          <a:p>
            <a:pPr algn="l"/>
            <a:r>
              <a:rPr sz="1050" b="0" i="0">
                <a:solidFill>
                  <a:srgbClr val="56677B"/>
                </a:solidFill>
                <a:latin typeface="Segoe UI"/>
              </a:rPr>
              <a:t>the model's weakest segment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03</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2921508"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THE BUSINESS PROBLEM</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Two applicants look identical on paper. One of them costs thirteen of the other.</a:t>
            </a:r>
          </a:p>
        </p:txBody>
      </p:sp>
      <p:sp>
        <p:nvSpPr>
          <p:cNvPr id="9" name="Rounded Rectangle 8"/>
          <p:cNvSpPr/>
          <p:nvPr/>
        </p:nvSpPr>
        <p:spPr>
          <a:xfrm>
            <a:off x="621792" y="1783080"/>
            <a:ext cx="5394960" cy="2286000"/>
          </a:xfrm>
          <a:prstGeom prst="roundRect">
            <a:avLst>
              <a:gd name="adj" fmla="val 3500"/>
            </a:avLst>
          </a:prstGeom>
          <a:solidFill>
            <a:srgbClr val="E8F5EE"/>
          </a:solidFill>
          <a:ln w="12700">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783080"/>
            <a:ext cx="50292" cy="228600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56816"/>
            <a:ext cx="4754880" cy="274320"/>
          </a:xfrm>
          <a:prstGeom prst="rect">
            <a:avLst/>
          </a:prstGeom>
          <a:noFill/>
        </p:spPr>
        <p:txBody>
          <a:bodyPr wrap="square">
            <a:noAutofit/>
          </a:bodyPr>
          <a:lstStyle/>
          <a:p>
            <a:pPr algn="l"/>
            <a:r>
              <a:rPr sz="1050" b="1" i="0">
                <a:solidFill>
                  <a:srgbClr val="1E8E5A"/>
                </a:solidFill>
                <a:latin typeface="Segoe UI"/>
              </a:rPr>
              <a:t>APPLICANT A</a:t>
            </a:r>
          </a:p>
        </p:txBody>
      </p:sp>
      <p:sp>
        <p:nvSpPr>
          <p:cNvPr id="12" name="TextBox 11"/>
          <p:cNvSpPr txBox="1"/>
          <p:nvPr/>
        </p:nvSpPr>
        <p:spPr>
          <a:xfrm>
            <a:off x="896112" y="2267712"/>
            <a:ext cx="4754880" cy="457200"/>
          </a:xfrm>
          <a:prstGeom prst="rect">
            <a:avLst/>
          </a:prstGeom>
          <a:noFill/>
        </p:spPr>
        <p:txBody>
          <a:bodyPr wrap="square">
            <a:noAutofit/>
          </a:bodyPr>
          <a:lstStyle/>
          <a:p>
            <a:pPr algn="l"/>
            <a:r>
              <a:rPr sz="1450" b="0" i="0">
                <a:solidFill>
                  <a:srgbClr val="10233A"/>
                </a:solidFill>
                <a:latin typeface="Segoe UI"/>
              </a:rPr>
              <a:t>Borrows $20,000 and pays every instalment.</a:t>
            </a:r>
          </a:p>
        </p:txBody>
      </p:sp>
      <p:sp>
        <p:nvSpPr>
          <p:cNvPr id="13" name="TextBox 12"/>
          <p:cNvSpPr txBox="1"/>
          <p:nvPr/>
        </p:nvSpPr>
        <p:spPr>
          <a:xfrm>
            <a:off x="896112" y="2697480"/>
            <a:ext cx="4754880" cy="777240"/>
          </a:xfrm>
          <a:prstGeom prst="rect">
            <a:avLst/>
          </a:prstGeom>
          <a:noFill/>
        </p:spPr>
        <p:txBody>
          <a:bodyPr wrap="square">
            <a:noAutofit/>
          </a:bodyPr>
          <a:lstStyle/>
          <a:p>
            <a:pPr algn="l"/>
            <a:r>
              <a:rPr sz="3800" b="1" i="0">
                <a:solidFill>
                  <a:srgbClr val="1E8E5A"/>
                </a:solidFill>
                <a:latin typeface="Segoe UI Semibold"/>
              </a:rPr>
              <a:t>+$1,000</a:t>
            </a:r>
          </a:p>
        </p:txBody>
      </p:sp>
      <p:sp>
        <p:nvSpPr>
          <p:cNvPr id="14" name="TextBox 13"/>
          <p:cNvSpPr txBox="1"/>
          <p:nvPr/>
        </p:nvSpPr>
        <p:spPr>
          <a:xfrm>
            <a:off x="896112" y="3493008"/>
            <a:ext cx="4754880" cy="320040"/>
          </a:xfrm>
          <a:prstGeom prst="rect">
            <a:avLst/>
          </a:prstGeom>
          <a:noFill/>
        </p:spPr>
        <p:txBody>
          <a:bodyPr wrap="square">
            <a:noAutofit/>
          </a:bodyPr>
          <a:lstStyle/>
          <a:p>
            <a:pPr algn="l"/>
            <a:r>
              <a:rPr sz="1150" b="0" i="0">
                <a:solidFill>
                  <a:srgbClr val="56677B"/>
                </a:solidFill>
                <a:latin typeface="Segoe UI"/>
              </a:rPr>
              <a:t>Stark Financial earns its 5% lifetime margin</a:t>
            </a:r>
          </a:p>
        </p:txBody>
      </p:sp>
      <p:sp>
        <p:nvSpPr>
          <p:cNvPr id="15" name="Rounded Rectangle 14"/>
          <p:cNvSpPr/>
          <p:nvPr/>
        </p:nvSpPr>
        <p:spPr>
          <a:xfrm>
            <a:off x="6446520" y="1783080"/>
            <a:ext cx="5394960" cy="2286000"/>
          </a:xfrm>
          <a:prstGeom prst="roundRect">
            <a:avLst>
              <a:gd name="adj" fmla="val 3500"/>
            </a:avLst>
          </a:prstGeom>
          <a:solidFill>
            <a:srgbClr val="FBECEA"/>
          </a:solidFill>
          <a:ln w="12700">
            <a:solidFill>
              <a:srgbClr val="B8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46520" y="1783080"/>
            <a:ext cx="50292" cy="228600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956816"/>
            <a:ext cx="4754880" cy="274320"/>
          </a:xfrm>
          <a:prstGeom prst="rect">
            <a:avLst/>
          </a:prstGeom>
          <a:noFill/>
        </p:spPr>
        <p:txBody>
          <a:bodyPr wrap="square">
            <a:noAutofit/>
          </a:bodyPr>
          <a:lstStyle/>
          <a:p>
            <a:pPr algn="l"/>
            <a:r>
              <a:rPr sz="1050" b="1" i="0">
                <a:solidFill>
                  <a:srgbClr val="B83A2E"/>
                </a:solidFill>
                <a:latin typeface="Segoe UI"/>
              </a:rPr>
              <a:t>APPLICANT B</a:t>
            </a:r>
          </a:p>
        </p:txBody>
      </p:sp>
      <p:sp>
        <p:nvSpPr>
          <p:cNvPr id="18" name="TextBox 17"/>
          <p:cNvSpPr txBox="1"/>
          <p:nvPr/>
        </p:nvSpPr>
        <p:spPr>
          <a:xfrm>
            <a:off x="6629400" y="2267712"/>
            <a:ext cx="4754880" cy="457200"/>
          </a:xfrm>
          <a:prstGeom prst="rect">
            <a:avLst/>
          </a:prstGeom>
          <a:noFill/>
        </p:spPr>
        <p:txBody>
          <a:bodyPr wrap="square">
            <a:noAutofit/>
          </a:bodyPr>
          <a:lstStyle/>
          <a:p>
            <a:pPr algn="l"/>
            <a:r>
              <a:rPr sz="1450" b="0" i="0">
                <a:solidFill>
                  <a:srgbClr val="10233A"/>
                </a:solidFill>
                <a:latin typeface="Segoe UI"/>
              </a:rPr>
              <a:t>Borrows $20,000 and stops paying after six months.</a:t>
            </a:r>
          </a:p>
        </p:txBody>
      </p:sp>
      <p:sp>
        <p:nvSpPr>
          <p:cNvPr id="19" name="TextBox 18"/>
          <p:cNvSpPr txBox="1"/>
          <p:nvPr/>
        </p:nvSpPr>
        <p:spPr>
          <a:xfrm>
            <a:off x="6629400" y="2697480"/>
            <a:ext cx="4754880" cy="777240"/>
          </a:xfrm>
          <a:prstGeom prst="rect">
            <a:avLst/>
          </a:prstGeom>
          <a:noFill/>
        </p:spPr>
        <p:txBody>
          <a:bodyPr wrap="square">
            <a:noAutofit/>
          </a:bodyPr>
          <a:lstStyle/>
          <a:p>
            <a:pPr algn="l"/>
            <a:r>
              <a:rPr sz="3800" b="1" i="0">
                <a:solidFill>
                  <a:srgbClr val="B83A2E"/>
                </a:solidFill>
                <a:latin typeface="Segoe UI Semibold"/>
              </a:rPr>
              <a:t>−$13,000</a:t>
            </a:r>
          </a:p>
        </p:txBody>
      </p:sp>
      <p:sp>
        <p:nvSpPr>
          <p:cNvPr id="20" name="TextBox 19"/>
          <p:cNvSpPr txBox="1"/>
          <p:nvPr/>
        </p:nvSpPr>
        <p:spPr>
          <a:xfrm>
            <a:off x="6629400" y="3493008"/>
            <a:ext cx="4754880" cy="320040"/>
          </a:xfrm>
          <a:prstGeom prst="rect">
            <a:avLst/>
          </a:prstGeom>
          <a:noFill/>
        </p:spPr>
        <p:txBody>
          <a:bodyPr wrap="square">
            <a:noAutofit/>
          </a:bodyPr>
          <a:lstStyle/>
          <a:p>
            <a:pPr algn="l"/>
            <a:r>
              <a:rPr sz="1150" b="0" i="0">
                <a:solidFill>
                  <a:srgbClr val="56677B"/>
                </a:solidFill>
                <a:latin typeface="Segoe UI"/>
              </a:rPr>
              <a:t>Stark Financial loses 65% of what it lent</a:t>
            </a:r>
          </a:p>
        </p:txBody>
      </p:sp>
      <p:sp>
        <p:nvSpPr>
          <p:cNvPr id="21" name="Rounded Rectangle 20"/>
          <p:cNvSpPr/>
          <p:nvPr/>
        </p:nvSpPr>
        <p:spPr>
          <a:xfrm>
            <a:off x="621792" y="4251960"/>
            <a:ext cx="10927080" cy="777240"/>
          </a:xfrm>
          <a:prstGeom prst="roundRect">
            <a:avLst>
              <a:gd name="adj" fmla="val 35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453128"/>
            <a:ext cx="10332720" cy="411480"/>
          </a:xfrm>
          <a:prstGeom prst="rect">
            <a:avLst/>
          </a:prstGeom>
          <a:noFill/>
        </p:spPr>
        <p:txBody>
          <a:bodyPr wrap="square">
            <a:noAutofit/>
          </a:bodyPr>
          <a:lstStyle/>
          <a:p>
            <a:pPr algn="l"/>
            <a:r>
              <a:rPr sz="1800" b="1" i="0">
                <a:solidFill>
                  <a:srgbClr val="FFFFFF"/>
                </a:solidFill>
                <a:latin typeface="Segoe UI"/>
              </a:rPr>
              <a:t>Eight in every hundred approved loans turn out to be an Applicant B.</a:t>
            </a:r>
          </a:p>
        </p:txBody>
      </p:sp>
      <p:sp>
        <p:nvSpPr>
          <p:cNvPr id="23" name="Rounded Rectangle 22"/>
          <p:cNvSpPr/>
          <p:nvPr/>
        </p:nvSpPr>
        <p:spPr>
          <a:xfrm>
            <a:off x="621792" y="5166360"/>
            <a:ext cx="10927080" cy="1051560"/>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 y="5166360"/>
            <a:ext cx="50292" cy="1051560"/>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5276088"/>
            <a:ext cx="10469880" cy="256032"/>
          </a:xfrm>
          <a:prstGeom prst="rect">
            <a:avLst/>
          </a:prstGeom>
          <a:noFill/>
        </p:spPr>
        <p:txBody>
          <a:bodyPr wrap="square">
            <a:noAutofit/>
          </a:bodyPr>
          <a:lstStyle/>
          <a:p>
            <a:pPr algn="l"/>
            <a:r>
              <a:rPr sz="950" b="1" i="0">
                <a:solidFill>
                  <a:srgbClr val="0B8F86"/>
                </a:solidFill>
                <a:latin typeface="Segoe UI"/>
              </a:rPr>
              <a:t>WHY THIS IS A BOARD-LEVEL QUESTION</a:t>
            </a:r>
          </a:p>
        </p:txBody>
      </p:sp>
      <p:sp>
        <p:nvSpPr>
          <p:cNvPr id="26" name="TextBox 25"/>
          <p:cNvSpPr txBox="1"/>
          <p:nvPr/>
        </p:nvSpPr>
        <p:spPr>
          <a:xfrm>
            <a:off x="859536" y="5550408"/>
            <a:ext cx="10469880" cy="594359"/>
          </a:xfrm>
          <a:prstGeom prst="rect">
            <a:avLst/>
          </a:prstGeom>
          <a:noFill/>
        </p:spPr>
        <p:txBody>
          <a:bodyPr wrap="square">
            <a:noAutofit/>
          </a:bodyPr>
          <a:lstStyle/>
          <a:p>
            <a:pPr algn="l"/>
            <a:r>
              <a:rPr sz="1200" b="0" i="0">
                <a:solidFill>
                  <a:srgbClr val="10233A"/>
                </a:solidFill>
                <a:latin typeface="Segoe UI"/>
              </a:rPr>
              <a:t>The two mistakes do not cost the same, so the value is not in the model's accuracy. It is in where the approve/decline line is drawn, and that is a money question before it is a statistics question.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04</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1754962"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METHODOLOGY</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Four steps, with the test set sealed until the last one</a:t>
            </a:r>
          </a:p>
        </p:txBody>
      </p:sp>
      <p:sp>
        <p:nvSpPr>
          <p:cNvPr id="9" name="Rounded Rectangle 8"/>
          <p:cNvSpPr/>
          <p:nvPr/>
        </p:nvSpPr>
        <p:spPr>
          <a:xfrm>
            <a:off x="621792" y="1783080"/>
            <a:ext cx="2596896" cy="196596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783080"/>
            <a:ext cx="50292" cy="196596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1920240"/>
            <a:ext cx="914400" cy="320040"/>
          </a:xfrm>
          <a:prstGeom prst="rect">
            <a:avLst/>
          </a:prstGeom>
          <a:noFill/>
        </p:spPr>
        <p:txBody>
          <a:bodyPr wrap="square">
            <a:noAutofit/>
          </a:bodyPr>
          <a:lstStyle/>
          <a:p>
            <a:pPr algn="l"/>
            <a:r>
              <a:rPr sz="1300" b="1" i="0">
                <a:solidFill>
                  <a:srgbClr val="0B8F86"/>
                </a:solidFill>
                <a:latin typeface="Segoe UI Semibold"/>
              </a:rPr>
              <a:t>01</a:t>
            </a:r>
          </a:p>
        </p:txBody>
      </p:sp>
      <p:sp>
        <p:nvSpPr>
          <p:cNvPr id="12" name="TextBox 11"/>
          <p:cNvSpPr txBox="1"/>
          <p:nvPr/>
        </p:nvSpPr>
        <p:spPr>
          <a:xfrm>
            <a:off x="841248" y="2267712"/>
            <a:ext cx="2185415" cy="365760"/>
          </a:xfrm>
          <a:prstGeom prst="rect">
            <a:avLst/>
          </a:prstGeom>
          <a:noFill/>
        </p:spPr>
        <p:txBody>
          <a:bodyPr wrap="square">
            <a:noAutofit/>
          </a:bodyPr>
          <a:lstStyle/>
          <a:p>
            <a:pPr algn="l"/>
            <a:r>
              <a:rPr sz="1450" b="1" i="0">
                <a:solidFill>
                  <a:srgbClr val="10233A"/>
                </a:solidFill>
                <a:latin typeface="Segoe UI"/>
              </a:rPr>
              <a:t>Assemble</a:t>
            </a:r>
          </a:p>
        </p:txBody>
      </p:sp>
      <p:sp>
        <p:nvSpPr>
          <p:cNvPr id="13" name="TextBox 12"/>
          <p:cNvSpPr txBox="1"/>
          <p:nvPr/>
        </p:nvSpPr>
        <p:spPr>
          <a:xfrm>
            <a:off x="841248" y="2670048"/>
            <a:ext cx="2185415" cy="960120"/>
          </a:xfrm>
          <a:prstGeom prst="rect">
            <a:avLst/>
          </a:prstGeom>
          <a:noFill/>
        </p:spPr>
        <p:txBody>
          <a:bodyPr wrap="square">
            <a:noAutofit/>
          </a:bodyPr>
          <a:lstStyle/>
          <a:p>
            <a:pPr algn="l"/>
            <a:r>
              <a:rPr sz="1150" b="0" i="0">
                <a:solidFill>
                  <a:srgbClr val="56677B"/>
                </a:solidFill>
                <a:latin typeface="Segoe UI"/>
              </a:rPr>
              <a:t>307,511 applications joined to 1.7M bureau records from other lenders.</a:t>
            </a:r>
          </a:p>
        </p:txBody>
      </p:sp>
      <p:sp>
        <p:nvSpPr>
          <p:cNvPr id="14" name="Rounded Rectangle 13"/>
          <p:cNvSpPr/>
          <p:nvPr/>
        </p:nvSpPr>
        <p:spPr>
          <a:xfrm>
            <a:off x="3438144" y="1783080"/>
            <a:ext cx="2596896" cy="196596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38144" y="1783080"/>
            <a:ext cx="50292" cy="196596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1920240"/>
            <a:ext cx="914400" cy="320040"/>
          </a:xfrm>
          <a:prstGeom prst="rect">
            <a:avLst/>
          </a:prstGeom>
          <a:noFill/>
        </p:spPr>
        <p:txBody>
          <a:bodyPr wrap="square">
            <a:noAutofit/>
          </a:bodyPr>
          <a:lstStyle/>
          <a:p>
            <a:pPr algn="l"/>
            <a:r>
              <a:rPr sz="1300" b="1" i="0">
                <a:solidFill>
                  <a:srgbClr val="0B8F86"/>
                </a:solidFill>
                <a:latin typeface="Segoe UI Semibold"/>
              </a:rPr>
              <a:t>02</a:t>
            </a:r>
          </a:p>
        </p:txBody>
      </p:sp>
      <p:sp>
        <p:nvSpPr>
          <p:cNvPr id="17" name="TextBox 16"/>
          <p:cNvSpPr txBox="1"/>
          <p:nvPr/>
        </p:nvSpPr>
        <p:spPr>
          <a:xfrm>
            <a:off x="3657600" y="2267712"/>
            <a:ext cx="2185415" cy="365760"/>
          </a:xfrm>
          <a:prstGeom prst="rect">
            <a:avLst/>
          </a:prstGeom>
          <a:noFill/>
        </p:spPr>
        <p:txBody>
          <a:bodyPr wrap="square">
            <a:noAutofit/>
          </a:bodyPr>
          <a:lstStyle/>
          <a:p>
            <a:pPr algn="l"/>
            <a:r>
              <a:rPr sz="1450" b="1" i="0">
                <a:solidFill>
                  <a:srgbClr val="10233A"/>
                </a:solidFill>
                <a:latin typeface="Segoe UI"/>
              </a:rPr>
              <a:t>Clean and split</a:t>
            </a:r>
          </a:p>
        </p:txBody>
      </p:sp>
      <p:sp>
        <p:nvSpPr>
          <p:cNvPr id="18" name="TextBox 17"/>
          <p:cNvSpPr txBox="1"/>
          <p:nvPr/>
        </p:nvSpPr>
        <p:spPr>
          <a:xfrm>
            <a:off x="3657600" y="2670048"/>
            <a:ext cx="2185415" cy="960120"/>
          </a:xfrm>
          <a:prstGeom prst="rect">
            <a:avLst/>
          </a:prstGeom>
          <a:noFill/>
        </p:spPr>
        <p:txBody>
          <a:bodyPr wrap="square">
            <a:noAutofit/>
          </a:bodyPr>
          <a:lstStyle/>
          <a:p>
            <a:pPr algn="l"/>
            <a:r>
              <a:rPr sz="1150" b="0" i="0">
                <a:solidFill>
                  <a:srgbClr val="56677B"/>
                </a:solidFill>
                <a:latin typeface="Segoe UI"/>
              </a:rPr>
              <a:t>Sentinel audit, missingness kept as signal, 70/15/15 stratified.</a:t>
            </a:r>
          </a:p>
        </p:txBody>
      </p:sp>
      <p:sp>
        <p:nvSpPr>
          <p:cNvPr id="19" name="Rounded Rectangle 18"/>
          <p:cNvSpPr/>
          <p:nvPr/>
        </p:nvSpPr>
        <p:spPr>
          <a:xfrm>
            <a:off x="6254496" y="1783080"/>
            <a:ext cx="2596896" cy="196596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783080"/>
            <a:ext cx="50292" cy="196596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1920240"/>
            <a:ext cx="914400" cy="320040"/>
          </a:xfrm>
          <a:prstGeom prst="rect">
            <a:avLst/>
          </a:prstGeom>
          <a:noFill/>
        </p:spPr>
        <p:txBody>
          <a:bodyPr wrap="square">
            <a:noAutofit/>
          </a:bodyPr>
          <a:lstStyle/>
          <a:p>
            <a:pPr algn="l"/>
            <a:r>
              <a:rPr sz="1300" b="1" i="0">
                <a:solidFill>
                  <a:srgbClr val="0B8F86"/>
                </a:solidFill>
                <a:latin typeface="Segoe UI Semibold"/>
              </a:rPr>
              <a:t>03</a:t>
            </a:r>
          </a:p>
        </p:txBody>
      </p:sp>
      <p:sp>
        <p:nvSpPr>
          <p:cNvPr id="22" name="TextBox 21"/>
          <p:cNvSpPr txBox="1"/>
          <p:nvPr/>
        </p:nvSpPr>
        <p:spPr>
          <a:xfrm>
            <a:off x="6473952" y="2267712"/>
            <a:ext cx="2185415" cy="365760"/>
          </a:xfrm>
          <a:prstGeom prst="rect">
            <a:avLst/>
          </a:prstGeom>
          <a:noFill/>
        </p:spPr>
        <p:txBody>
          <a:bodyPr wrap="square">
            <a:noAutofit/>
          </a:bodyPr>
          <a:lstStyle/>
          <a:p>
            <a:pPr algn="l"/>
            <a:r>
              <a:rPr sz="1450" b="1" i="0">
                <a:solidFill>
                  <a:srgbClr val="10233A"/>
                </a:solidFill>
                <a:latin typeface="Segoe UI"/>
              </a:rPr>
              <a:t>Engineer</a:t>
            </a:r>
          </a:p>
        </p:txBody>
      </p:sp>
      <p:sp>
        <p:nvSpPr>
          <p:cNvPr id="23" name="TextBox 22"/>
          <p:cNvSpPr txBox="1"/>
          <p:nvPr/>
        </p:nvSpPr>
        <p:spPr>
          <a:xfrm>
            <a:off x="6473952" y="2670048"/>
            <a:ext cx="2185415" cy="960120"/>
          </a:xfrm>
          <a:prstGeom prst="rect">
            <a:avLst/>
          </a:prstGeom>
          <a:noFill/>
        </p:spPr>
        <p:txBody>
          <a:bodyPr wrap="square">
            <a:noAutofit/>
          </a:bodyPr>
          <a:lstStyle/>
          <a:p>
            <a:pPr algn="l"/>
            <a:r>
              <a:rPr sz="1150" b="0" i="0">
                <a:solidFill>
                  <a:srgbClr val="56677B"/>
                </a:solidFill>
                <a:latin typeface="Segoe UI"/>
              </a:rPr>
              <a:t>153 features grouped the way a credit officer already thinks.</a:t>
            </a:r>
          </a:p>
        </p:txBody>
      </p:sp>
      <p:sp>
        <p:nvSpPr>
          <p:cNvPr id="24" name="Rounded Rectangle 23"/>
          <p:cNvSpPr/>
          <p:nvPr/>
        </p:nvSpPr>
        <p:spPr>
          <a:xfrm>
            <a:off x="9070848" y="1783080"/>
            <a:ext cx="2596896" cy="196596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70848" y="1783080"/>
            <a:ext cx="50292" cy="196596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0304" y="1920240"/>
            <a:ext cx="914400" cy="320040"/>
          </a:xfrm>
          <a:prstGeom prst="rect">
            <a:avLst/>
          </a:prstGeom>
          <a:noFill/>
        </p:spPr>
        <p:txBody>
          <a:bodyPr wrap="square">
            <a:noAutofit/>
          </a:bodyPr>
          <a:lstStyle/>
          <a:p>
            <a:pPr algn="l"/>
            <a:r>
              <a:rPr sz="1300" b="1" i="0">
                <a:solidFill>
                  <a:srgbClr val="0B8F86"/>
                </a:solidFill>
                <a:latin typeface="Segoe UI Semibold"/>
              </a:rPr>
              <a:t>04</a:t>
            </a:r>
          </a:p>
        </p:txBody>
      </p:sp>
      <p:sp>
        <p:nvSpPr>
          <p:cNvPr id="27" name="TextBox 26"/>
          <p:cNvSpPr txBox="1"/>
          <p:nvPr/>
        </p:nvSpPr>
        <p:spPr>
          <a:xfrm>
            <a:off x="9290304" y="2267712"/>
            <a:ext cx="2185415" cy="365760"/>
          </a:xfrm>
          <a:prstGeom prst="rect">
            <a:avLst/>
          </a:prstGeom>
          <a:noFill/>
        </p:spPr>
        <p:txBody>
          <a:bodyPr wrap="square">
            <a:noAutofit/>
          </a:bodyPr>
          <a:lstStyle/>
          <a:p>
            <a:pPr algn="l"/>
            <a:r>
              <a:rPr sz="1450" b="1" i="0">
                <a:solidFill>
                  <a:srgbClr val="10233A"/>
                </a:solidFill>
                <a:latin typeface="Segoe UI"/>
              </a:rPr>
              <a:t>Compete</a:t>
            </a:r>
          </a:p>
        </p:txBody>
      </p:sp>
      <p:sp>
        <p:nvSpPr>
          <p:cNvPr id="28" name="TextBox 27"/>
          <p:cNvSpPr txBox="1"/>
          <p:nvPr/>
        </p:nvSpPr>
        <p:spPr>
          <a:xfrm>
            <a:off x="9290304" y="2670048"/>
            <a:ext cx="2185415" cy="960120"/>
          </a:xfrm>
          <a:prstGeom prst="rect">
            <a:avLst/>
          </a:prstGeom>
          <a:noFill/>
        </p:spPr>
        <p:txBody>
          <a:bodyPr wrap="square">
            <a:noAutofit/>
          </a:bodyPr>
          <a:lstStyle/>
          <a:p>
            <a:pPr algn="l"/>
            <a:r>
              <a:rPr sz="1150" b="0" i="0">
                <a:solidFill>
                  <a:srgbClr val="56677B"/>
                </a:solidFill>
                <a:latin typeface="Segoe UI"/>
              </a:rPr>
              <a:t>Three candidate models, one pipeline, judged once on sealed data.</a:t>
            </a:r>
          </a:p>
        </p:txBody>
      </p:sp>
      <p:sp>
        <p:nvSpPr>
          <p:cNvPr id="29" name="Rounded Rectangle 28"/>
          <p:cNvSpPr/>
          <p:nvPr/>
        </p:nvSpPr>
        <p:spPr>
          <a:xfrm>
            <a:off x="621792" y="3977639"/>
            <a:ext cx="10927080" cy="914400"/>
          </a:xfrm>
          <a:prstGeom prst="roundRect">
            <a:avLst>
              <a:gd name="adj" fmla="val 3500"/>
            </a:avLst>
          </a:prstGeom>
          <a:solidFill>
            <a:srgbClr val="00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114800"/>
            <a:ext cx="7315200" cy="256032"/>
          </a:xfrm>
          <a:prstGeom prst="rect">
            <a:avLst/>
          </a:prstGeom>
          <a:noFill/>
        </p:spPr>
        <p:txBody>
          <a:bodyPr wrap="square">
            <a:noAutofit/>
          </a:bodyPr>
          <a:lstStyle/>
          <a:p>
            <a:pPr algn="l"/>
            <a:r>
              <a:rPr sz="950" b="1" i="0">
                <a:solidFill>
                  <a:srgbClr val="12B2A6"/>
                </a:solidFill>
                <a:latin typeface="Segoe UI"/>
              </a:rPr>
              <a:t>STRATEGIC PLANNING ASSUMPTION</a:t>
            </a:r>
          </a:p>
        </p:txBody>
      </p:sp>
      <p:sp>
        <p:nvSpPr>
          <p:cNvPr id="31" name="TextBox 30"/>
          <p:cNvSpPr txBox="1"/>
          <p:nvPr/>
        </p:nvSpPr>
        <p:spPr>
          <a:xfrm>
            <a:off x="914400" y="4370832"/>
            <a:ext cx="10332720" cy="457200"/>
          </a:xfrm>
          <a:prstGeom prst="rect">
            <a:avLst/>
          </a:prstGeom>
          <a:noFill/>
        </p:spPr>
        <p:txBody>
          <a:bodyPr wrap="square">
            <a:noAutofit/>
          </a:bodyPr>
          <a:lstStyle/>
          <a:p>
            <a:pPr algn="l"/>
            <a:r>
              <a:rPr sz="1300" b="0" i="0">
                <a:solidFill>
                  <a:srgbClr val="D3E1EE"/>
                </a:solidFill>
                <a:latin typeface="Segoe UI"/>
              </a:rPr>
              <a:t>Leakage is structurally impossible here: every fitted transform lives inside one pipeline, refitted per fold. The sealed test number is the only one that had to be earned twice.</a:t>
            </a:r>
          </a:p>
        </p:txBody>
      </p:sp>
      <p:sp>
        <p:nvSpPr>
          <p:cNvPr id="32" name="Rounded Rectangle 31"/>
          <p:cNvSpPr/>
          <p:nvPr/>
        </p:nvSpPr>
        <p:spPr>
          <a:xfrm>
            <a:off x="621792" y="5029200"/>
            <a:ext cx="10927080" cy="1188720"/>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 y="5029200"/>
            <a:ext cx="50292" cy="1188720"/>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5138928"/>
            <a:ext cx="10469880" cy="256032"/>
          </a:xfrm>
          <a:prstGeom prst="rect">
            <a:avLst/>
          </a:prstGeom>
          <a:noFill/>
        </p:spPr>
        <p:txBody>
          <a:bodyPr wrap="square">
            <a:noAutofit/>
          </a:bodyPr>
          <a:lstStyle/>
          <a:p>
            <a:pPr algn="l"/>
            <a:r>
              <a:rPr sz="950" b="1" i="0">
                <a:solidFill>
                  <a:srgbClr val="0B8F86"/>
                </a:solidFill>
                <a:latin typeface="Segoe UI"/>
              </a:rPr>
              <a:t>A DECISION WORTH DEFENDING</a:t>
            </a:r>
          </a:p>
        </p:txBody>
      </p:sp>
      <p:sp>
        <p:nvSpPr>
          <p:cNvPr id="35" name="TextBox 34"/>
          <p:cNvSpPr txBox="1"/>
          <p:nvPr/>
        </p:nvSpPr>
        <p:spPr>
          <a:xfrm>
            <a:off x="859536" y="5413248"/>
            <a:ext cx="10469880" cy="731520"/>
          </a:xfrm>
          <a:prstGeom prst="rect">
            <a:avLst/>
          </a:prstGeom>
          <a:noFill/>
        </p:spPr>
        <p:txBody>
          <a:bodyPr wrap="square">
            <a:noAutofit/>
          </a:bodyPr>
          <a:lstStyle/>
          <a:p>
            <a:pPr algn="l"/>
            <a:r>
              <a:rPr sz="1200" b="0" i="0">
                <a:solidFill>
                  <a:srgbClr val="10233A"/>
                </a:solidFill>
                <a:latin typeface="Segoe UI"/>
              </a:rPr>
              <a:t>No class weighting was used, deliberately. The costs are asymmetric, but that asymmetry belongs in the decision threshold where it can be seen and changed, not buried inside the model where it cannot.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05</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2273426"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MODEL SELECTION</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Accuracy alone would have picked the wrong model</a:t>
            </a:r>
          </a:p>
        </p:txBody>
      </p:sp>
      <p:sp>
        <p:nvSpPr>
          <p:cNvPr id="9" name="Rounded Rectangle 8"/>
          <p:cNvSpPr/>
          <p:nvPr/>
        </p:nvSpPr>
        <p:spPr>
          <a:xfrm>
            <a:off x="621792" y="1719072"/>
            <a:ext cx="4224528" cy="4224528"/>
          </a:xfrm>
          <a:prstGeom prst="roundRect">
            <a:avLst>
              <a:gd name="adj" fmla="val 3500"/>
            </a:avLst>
          </a:prstGeom>
          <a:solidFill>
            <a:srgbClr val="F2F6F9"/>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34056" y="1719072"/>
            <a:ext cx="2112264" cy="2112264"/>
          </a:xfrm>
          <a:prstGeom prst="rect">
            <a:avLst/>
          </a:prstGeom>
          <a:solidFill>
            <a:srgbClr val="E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28569" y="1810512"/>
            <a:ext cx="10972" cy="4041648"/>
          </a:xfrm>
          <a:prstGeom prst="rect">
            <a:avLst/>
          </a:prstGeom>
          <a:solidFill>
            <a:srgbClr val="CF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 y="3825849"/>
            <a:ext cx="4041648" cy="10972"/>
          </a:xfrm>
          <a:prstGeom prst="rect">
            <a:avLst/>
          </a:prstGeom>
          <a:solidFill>
            <a:srgbClr val="CFD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10512"/>
            <a:ext cx="1188720" cy="237744"/>
          </a:xfrm>
          <a:prstGeom prst="rect">
            <a:avLst/>
          </a:prstGeom>
          <a:noFill/>
        </p:spPr>
        <p:txBody>
          <a:bodyPr wrap="square">
            <a:noAutofit/>
          </a:bodyPr>
          <a:lstStyle/>
          <a:p>
            <a:pPr algn="l"/>
            <a:r>
              <a:rPr sz="900" b="1" i="0">
                <a:solidFill>
                  <a:srgbClr val="8E9DAF"/>
                </a:solidFill>
                <a:latin typeface="Segoe UI"/>
              </a:rPr>
              <a:t>CHALLENGERS</a:t>
            </a:r>
          </a:p>
        </p:txBody>
      </p:sp>
      <p:sp>
        <p:nvSpPr>
          <p:cNvPr id="14" name="TextBox 13"/>
          <p:cNvSpPr txBox="1"/>
          <p:nvPr/>
        </p:nvSpPr>
        <p:spPr>
          <a:xfrm>
            <a:off x="3529584" y="1810512"/>
            <a:ext cx="1188720" cy="237744"/>
          </a:xfrm>
          <a:prstGeom prst="rect">
            <a:avLst/>
          </a:prstGeom>
          <a:noFill/>
        </p:spPr>
        <p:txBody>
          <a:bodyPr wrap="square">
            <a:noAutofit/>
          </a:bodyPr>
          <a:lstStyle/>
          <a:p>
            <a:pPr algn="r"/>
            <a:r>
              <a:rPr sz="900" b="1" i="0">
                <a:solidFill>
                  <a:srgbClr val="8E9DAF"/>
                </a:solidFill>
                <a:latin typeface="Segoe UI"/>
              </a:rPr>
              <a:t>LEADERS</a:t>
            </a:r>
          </a:p>
        </p:txBody>
      </p:sp>
      <p:sp>
        <p:nvSpPr>
          <p:cNvPr id="15" name="TextBox 14"/>
          <p:cNvSpPr txBox="1"/>
          <p:nvPr/>
        </p:nvSpPr>
        <p:spPr>
          <a:xfrm>
            <a:off x="749808" y="5632704"/>
            <a:ext cx="1188720" cy="237744"/>
          </a:xfrm>
          <a:prstGeom prst="rect">
            <a:avLst/>
          </a:prstGeom>
          <a:noFill/>
        </p:spPr>
        <p:txBody>
          <a:bodyPr wrap="square">
            <a:noAutofit/>
          </a:bodyPr>
          <a:lstStyle/>
          <a:p>
            <a:pPr algn="l"/>
            <a:r>
              <a:rPr sz="900" b="1" i="0">
                <a:solidFill>
                  <a:srgbClr val="8E9DAF"/>
                </a:solidFill>
                <a:latin typeface="Segoe UI"/>
              </a:rPr>
              <a:t>NICHE PLAYERS</a:t>
            </a:r>
          </a:p>
        </p:txBody>
      </p:sp>
      <p:sp>
        <p:nvSpPr>
          <p:cNvPr id="16" name="TextBox 15"/>
          <p:cNvSpPr txBox="1"/>
          <p:nvPr/>
        </p:nvSpPr>
        <p:spPr>
          <a:xfrm>
            <a:off x="3529584" y="5632704"/>
            <a:ext cx="1188720" cy="237744"/>
          </a:xfrm>
          <a:prstGeom prst="rect">
            <a:avLst/>
          </a:prstGeom>
          <a:noFill/>
        </p:spPr>
        <p:txBody>
          <a:bodyPr wrap="square">
            <a:noAutofit/>
          </a:bodyPr>
          <a:lstStyle/>
          <a:p>
            <a:pPr algn="r"/>
            <a:r>
              <a:rPr sz="900" b="1" i="0">
                <a:solidFill>
                  <a:srgbClr val="8E9DAF"/>
                </a:solidFill>
                <a:latin typeface="Segoe UI"/>
              </a:rPr>
              <a:t>VISIONARIES</a:t>
            </a:r>
          </a:p>
        </p:txBody>
      </p:sp>
      <p:sp>
        <p:nvSpPr>
          <p:cNvPr id="17" name="Oval 16"/>
          <p:cNvSpPr/>
          <p:nvPr/>
        </p:nvSpPr>
        <p:spPr>
          <a:xfrm>
            <a:off x="1264066" y="5228539"/>
            <a:ext cx="146304" cy="146304"/>
          </a:xfrm>
          <a:prstGeom prst="ellipse">
            <a:avLst/>
          </a:prstGeom>
          <a:solidFill>
            <a:srgbClr val="8E9DAF"/>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01810" y="5027371"/>
            <a:ext cx="1691640" cy="256032"/>
          </a:xfrm>
          <a:prstGeom prst="rect">
            <a:avLst/>
          </a:prstGeom>
          <a:noFill/>
        </p:spPr>
        <p:txBody>
          <a:bodyPr wrap="square">
            <a:noAutofit/>
          </a:bodyPr>
          <a:lstStyle/>
          <a:p>
            <a:pPr algn="l"/>
            <a:r>
              <a:rPr sz="1100" b="0" i="0">
                <a:solidFill>
                  <a:srgbClr val="56677B"/>
                </a:solidFill>
                <a:latin typeface="Segoe UI"/>
              </a:rPr>
              <a:t>Prior baseline</a:t>
            </a:r>
          </a:p>
        </p:txBody>
      </p:sp>
      <p:sp>
        <p:nvSpPr>
          <p:cNvPr id="19" name="TextBox 18"/>
          <p:cNvSpPr txBox="1"/>
          <p:nvPr/>
        </p:nvSpPr>
        <p:spPr>
          <a:xfrm>
            <a:off x="1501810" y="5283403"/>
            <a:ext cx="1691640" cy="237744"/>
          </a:xfrm>
          <a:prstGeom prst="rect">
            <a:avLst/>
          </a:prstGeom>
          <a:noFill/>
        </p:spPr>
        <p:txBody>
          <a:bodyPr wrap="square">
            <a:noAutofit/>
          </a:bodyPr>
          <a:lstStyle/>
          <a:p>
            <a:pPr algn="l"/>
            <a:r>
              <a:rPr sz="900" b="0" i="0">
                <a:solidFill>
                  <a:srgbClr val="8E9DAF"/>
                </a:solidFill>
                <a:latin typeface="Segoe UI"/>
              </a:rPr>
              <a:t>no signal</a:t>
            </a:r>
          </a:p>
        </p:txBody>
      </p:sp>
      <p:sp>
        <p:nvSpPr>
          <p:cNvPr id="20" name="Oval 19"/>
          <p:cNvSpPr/>
          <p:nvPr/>
        </p:nvSpPr>
        <p:spPr>
          <a:xfrm>
            <a:off x="1778690" y="3464112"/>
            <a:ext cx="146304" cy="146304"/>
          </a:xfrm>
          <a:prstGeom prst="ellipse">
            <a:avLst/>
          </a:prstGeom>
          <a:solidFill>
            <a:srgbClr val="56677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16434" y="3262944"/>
            <a:ext cx="1691640" cy="256032"/>
          </a:xfrm>
          <a:prstGeom prst="rect">
            <a:avLst/>
          </a:prstGeom>
          <a:noFill/>
        </p:spPr>
        <p:txBody>
          <a:bodyPr wrap="square">
            <a:noAutofit/>
          </a:bodyPr>
          <a:lstStyle/>
          <a:p>
            <a:pPr algn="l"/>
            <a:r>
              <a:rPr sz="1100" b="0" i="0">
                <a:solidFill>
                  <a:srgbClr val="56677B"/>
                </a:solidFill>
                <a:latin typeface="Segoe UI"/>
              </a:rPr>
              <a:t>Random forest</a:t>
            </a:r>
          </a:p>
        </p:txBody>
      </p:sp>
      <p:sp>
        <p:nvSpPr>
          <p:cNvPr id="22" name="TextBox 21"/>
          <p:cNvSpPr txBox="1"/>
          <p:nvPr/>
        </p:nvSpPr>
        <p:spPr>
          <a:xfrm>
            <a:off x="2016434" y="3518976"/>
            <a:ext cx="1691640" cy="237744"/>
          </a:xfrm>
          <a:prstGeom prst="rect">
            <a:avLst/>
          </a:prstGeom>
          <a:noFill/>
        </p:spPr>
        <p:txBody>
          <a:bodyPr wrap="square">
            <a:noAutofit/>
          </a:bodyPr>
          <a:lstStyle/>
          <a:p>
            <a:pPr algn="l"/>
            <a:r>
              <a:rPr sz="900" b="0" i="0">
                <a:solidFill>
                  <a:srgbClr val="8E9DAF"/>
                </a:solidFill>
                <a:latin typeface="Segoe UI"/>
              </a:rPr>
              <a:t>0.758, opaque</a:t>
            </a:r>
          </a:p>
        </p:txBody>
      </p:sp>
      <p:sp>
        <p:nvSpPr>
          <p:cNvPr id="23" name="Oval 22"/>
          <p:cNvSpPr/>
          <p:nvPr/>
        </p:nvSpPr>
        <p:spPr>
          <a:xfrm>
            <a:off x="3763670" y="3978737"/>
            <a:ext cx="146304" cy="146304"/>
          </a:xfrm>
          <a:prstGeom prst="ellipse">
            <a:avLst/>
          </a:prstGeom>
          <a:solidFill>
            <a:srgbClr val="002856"/>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80590" y="3777569"/>
            <a:ext cx="1691640" cy="256032"/>
          </a:xfrm>
          <a:prstGeom prst="rect">
            <a:avLst/>
          </a:prstGeom>
          <a:noFill/>
        </p:spPr>
        <p:txBody>
          <a:bodyPr wrap="square">
            <a:noAutofit/>
          </a:bodyPr>
          <a:lstStyle/>
          <a:p>
            <a:pPr algn="r"/>
            <a:r>
              <a:rPr sz="1100" b="0" i="0">
                <a:solidFill>
                  <a:srgbClr val="56677B"/>
                </a:solidFill>
                <a:latin typeface="Segoe UI"/>
              </a:rPr>
              <a:t>Logistic scorecard</a:t>
            </a:r>
          </a:p>
        </p:txBody>
      </p:sp>
      <p:sp>
        <p:nvSpPr>
          <p:cNvPr id="25" name="TextBox 24"/>
          <p:cNvSpPr txBox="1"/>
          <p:nvPr/>
        </p:nvSpPr>
        <p:spPr>
          <a:xfrm>
            <a:off x="1980590" y="4033601"/>
            <a:ext cx="1691640" cy="237744"/>
          </a:xfrm>
          <a:prstGeom prst="rect">
            <a:avLst/>
          </a:prstGeom>
          <a:noFill/>
        </p:spPr>
        <p:txBody>
          <a:bodyPr wrap="square">
            <a:noAutofit/>
          </a:bodyPr>
          <a:lstStyle/>
          <a:p>
            <a:pPr algn="r"/>
            <a:r>
              <a:rPr sz="900" b="0" i="0">
                <a:solidFill>
                  <a:srgbClr val="8E9DAF"/>
                </a:solidFill>
                <a:latin typeface="Segoe UI"/>
              </a:rPr>
              <a:t>0.757, transparent</a:t>
            </a:r>
          </a:p>
        </p:txBody>
      </p:sp>
      <p:sp>
        <p:nvSpPr>
          <p:cNvPr id="26" name="Oval 25"/>
          <p:cNvSpPr/>
          <p:nvPr/>
        </p:nvSpPr>
        <p:spPr>
          <a:xfrm>
            <a:off x="3672596" y="2123236"/>
            <a:ext cx="475488" cy="475488"/>
          </a:xfrm>
          <a:prstGeom prst="ellipse">
            <a:avLst/>
          </a:prstGeom>
          <a:noFill/>
          <a:ln w="2032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791468" y="2242108"/>
            <a:ext cx="237744" cy="237744"/>
          </a:xfrm>
          <a:prstGeom prst="ellipse">
            <a:avLst/>
          </a:prstGeom>
          <a:solidFill>
            <a:srgbClr val="0B8F86"/>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08388" y="2086660"/>
            <a:ext cx="1691640" cy="256032"/>
          </a:xfrm>
          <a:prstGeom prst="rect">
            <a:avLst/>
          </a:prstGeom>
          <a:noFill/>
        </p:spPr>
        <p:txBody>
          <a:bodyPr wrap="square">
            <a:noAutofit/>
          </a:bodyPr>
          <a:lstStyle/>
          <a:p>
            <a:pPr algn="r"/>
            <a:r>
              <a:rPr sz="1100" b="1" i="0">
                <a:solidFill>
                  <a:srgbClr val="10233A"/>
                </a:solidFill>
                <a:latin typeface="Segoe UI"/>
              </a:rPr>
              <a:t>Boosting + SHAP</a:t>
            </a:r>
          </a:p>
        </p:txBody>
      </p:sp>
      <p:sp>
        <p:nvSpPr>
          <p:cNvPr id="29" name="TextBox 28"/>
          <p:cNvSpPr txBox="1"/>
          <p:nvPr/>
        </p:nvSpPr>
        <p:spPr>
          <a:xfrm>
            <a:off x="2008388" y="2342692"/>
            <a:ext cx="1691640" cy="237744"/>
          </a:xfrm>
          <a:prstGeom prst="rect">
            <a:avLst/>
          </a:prstGeom>
          <a:noFill/>
        </p:spPr>
        <p:txBody>
          <a:bodyPr wrap="square">
            <a:noAutofit/>
          </a:bodyPr>
          <a:lstStyle/>
          <a:p>
            <a:pPr algn="r"/>
            <a:r>
              <a:rPr sz="900" b="0" i="0">
                <a:solidFill>
                  <a:srgbClr val="8E9DAF"/>
                </a:solidFill>
                <a:latin typeface="Segoe UI"/>
              </a:rPr>
              <a:t>0.774, selected</a:t>
            </a:r>
          </a:p>
        </p:txBody>
      </p:sp>
      <p:sp>
        <p:nvSpPr>
          <p:cNvPr id="30" name="TextBox 29"/>
          <p:cNvSpPr txBox="1"/>
          <p:nvPr/>
        </p:nvSpPr>
        <p:spPr>
          <a:xfrm>
            <a:off x="621792" y="1426463"/>
            <a:ext cx="4224528" cy="256032"/>
          </a:xfrm>
          <a:prstGeom prst="rect">
            <a:avLst/>
          </a:prstGeom>
          <a:noFill/>
        </p:spPr>
        <p:txBody>
          <a:bodyPr wrap="square">
            <a:noAutofit/>
          </a:bodyPr>
          <a:lstStyle/>
          <a:p>
            <a:pPr algn="l"/>
            <a:r>
              <a:rPr sz="950" b="1" i="0">
                <a:solidFill>
                  <a:srgbClr val="56677B"/>
                </a:solidFill>
                <a:latin typeface="Segoe UI"/>
              </a:rPr>
              <a:t>ABILITY TO EXECUTE  →  accuracy</a:t>
            </a:r>
          </a:p>
        </p:txBody>
      </p:sp>
      <p:sp>
        <p:nvSpPr>
          <p:cNvPr id="31" name="TextBox 30"/>
          <p:cNvSpPr txBox="1"/>
          <p:nvPr/>
        </p:nvSpPr>
        <p:spPr>
          <a:xfrm>
            <a:off x="621792" y="6035040"/>
            <a:ext cx="4224528" cy="457200"/>
          </a:xfrm>
          <a:prstGeom prst="rect">
            <a:avLst/>
          </a:prstGeom>
          <a:noFill/>
        </p:spPr>
        <p:txBody>
          <a:bodyPr wrap="square">
            <a:noAutofit/>
          </a:bodyPr>
          <a:lstStyle/>
          <a:p>
            <a:pPr algn="ctr"/>
            <a:r>
              <a:rPr sz="950" b="1" i="0">
                <a:solidFill>
                  <a:srgbClr val="56677B"/>
                </a:solidFill>
                <a:latin typeface="Segoe UI"/>
              </a:rPr>
              <a:t>COMPLETENESS OF VISION  →  EXPLAINABILITY</a:t>
            </a:r>
          </a:p>
        </p:txBody>
      </p:sp>
      <p:sp>
        <p:nvSpPr>
          <p:cNvPr id="32" name="TextBox 31"/>
          <p:cNvSpPr txBox="1"/>
          <p:nvPr/>
        </p:nvSpPr>
        <p:spPr>
          <a:xfrm>
            <a:off x="5715000" y="1783080"/>
            <a:ext cx="6400800" cy="274320"/>
          </a:xfrm>
          <a:prstGeom prst="rect">
            <a:avLst/>
          </a:prstGeom>
          <a:noFill/>
        </p:spPr>
        <p:txBody>
          <a:bodyPr wrap="square">
            <a:noAutofit/>
          </a:bodyPr>
          <a:lstStyle/>
          <a:p>
            <a:pPr algn="l"/>
            <a:r>
              <a:rPr sz="1000" b="1" i="0">
                <a:solidFill>
                  <a:srgbClr val="0B8F86"/>
                </a:solidFill>
                <a:latin typeface="Segoe UI"/>
              </a:rPr>
              <a:t>HOW TO READ THIS</a:t>
            </a:r>
          </a:p>
        </p:txBody>
      </p:sp>
      <p:sp>
        <p:nvSpPr>
          <p:cNvPr id="33" name="Rounded Rectangle 32"/>
          <p:cNvSpPr/>
          <p:nvPr/>
        </p:nvSpPr>
        <p:spPr>
          <a:xfrm>
            <a:off x="5715000" y="2121408"/>
            <a:ext cx="5833872" cy="1060704"/>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15000" y="2121408"/>
            <a:ext cx="50292" cy="1060704"/>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34456" y="2231136"/>
            <a:ext cx="2743200" cy="256032"/>
          </a:xfrm>
          <a:prstGeom prst="rect">
            <a:avLst/>
          </a:prstGeom>
          <a:noFill/>
        </p:spPr>
        <p:txBody>
          <a:bodyPr wrap="square">
            <a:noAutofit/>
          </a:bodyPr>
          <a:lstStyle/>
          <a:p>
            <a:pPr algn="l"/>
            <a:r>
              <a:rPr sz="950" b="1" i="0">
                <a:solidFill>
                  <a:srgbClr val="002856"/>
                </a:solidFill>
                <a:latin typeface="Segoe UI"/>
              </a:rPr>
              <a:t>THE CHECKLIST</a:t>
            </a:r>
          </a:p>
        </p:txBody>
      </p:sp>
      <p:sp>
        <p:nvSpPr>
          <p:cNvPr id="36" name="TextBox 35"/>
          <p:cNvSpPr txBox="1"/>
          <p:nvPr/>
        </p:nvSpPr>
        <p:spPr>
          <a:xfrm>
            <a:off x="5934456" y="2468879"/>
            <a:ext cx="2743200" cy="292608"/>
          </a:xfrm>
          <a:prstGeom prst="rect">
            <a:avLst/>
          </a:prstGeom>
          <a:noFill/>
        </p:spPr>
        <p:txBody>
          <a:bodyPr wrap="square">
            <a:noAutofit/>
          </a:bodyPr>
          <a:lstStyle/>
          <a:p>
            <a:pPr algn="l"/>
            <a:r>
              <a:rPr sz="1350" b="1" i="0">
                <a:solidFill>
                  <a:srgbClr val="10233A"/>
                </a:solidFill>
                <a:latin typeface="Segoe UI"/>
              </a:rPr>
              <a:t>Logistic scorecard</a:t>
            </a:r>
          </a:p>
        </p:txBody>
      </p:sp>
      <p:sp>
        <p:nvSpPr>
          <p:cNvPr id="37" name="TextBox 36"/>
          <p:cNvSpPr txBox="1"/>
          <p:nvPr/>
        </p:nvSpPr>
        <p:spPr>
          <a:xfrm>
            <a:off x="8503920" y="2267712"/>
            <a:ext cx="2880360" cy="868680"/>
          </a:xfrm>
          <a:prstGeom prst="rect">
            <a:avLst/>
          </a:prstGeom>
          <a:noFill/>
        </p:spPr>
        <p:txBody>
          <a:bodyPr wrap="square">
            <a:noAutofit/>
          </a:bodyPr>
          <a:lstStyle/>
          <a:p>
            <a:pPr algn="l"/>
            <a:r>
              <a:rPr sz="1050" b="0" i="0">
                <a:solidFill>
                  <a:srgbClr val="56677B"/>
                </a:solidFill>
                <a:latin typeface="Segoe UI"/>
              </a:rPr>
              <a:t>Adds up points like an underwriter with a rulebook. Total transparency, but it can only draw straight lines.</a:t>
            </a:r>
          </a:p>
        </p:txBody>
      </p:sp>
      <p:sp>
        <p:nvSpPr>
          <p:cNvPr id="38" name="Rounded Rectangle 37"/>
          <p:cNvSpPr/>
          <p:nvPr/>
        </p:nvSpPr>
        <p:spPr>
          <a:xfrm>
            <a:off x="5715000" y="3273552"/>
            <a:ext cx="5833872" cy="1060704"/>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15000" y="3273552"/>
            <a:ext cx="50292" cy="1060704"/>
          </a:xfrm>
          <a:prstGeom prst="rect">
            <a:avLst/>
          </a:prstGeom>
          <a:solidFill>
            <a:srgbClr val="5667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34456" y="3383280"/>
            <a:ext cx="2743200" cy="256032"/>
          </a:xfrm>
          <a:prstGeom prst="rect">
            <a:avLst/>
          </a:prstGeom>
          <a:noFill/>
        </p:spPr>
        <p:txBody>
          <a:bodyPr wrap="square">
            <a:noAutofit/>
          </a:bodyPr>
          <a:lstStyle/>
          <a:p>
            <a:pPr algn="l"/>
            <a:r>
              <a:rPr sz="950" b="1" i="0">
                <a:solidFill>
                  <a:srgbClr val="56677B"/>
                </a:solidFill>
                <a:latin typeface="Segoe UI"/>
              </a:rPr>
              <a:t>THE PANEL</a:t>
            </a:r>
          </a:p>
        </p:txBody>
      </p:sp>
      <p:sp>
        <p:nvSpPr>
          <p:cNvPr id="41" name="TextBox 40"/>
          <p:cNvSpPr txBox="1"/>
          <p:nvPr/>
        </p:nvSpPr>
        <p:spPr>
          <a:xfrm>
            <a:off x="5934456" y="3621024"/>
            <a:ext cx="2743200" cy="292608"/>
          </a:xfrm>
          <a:prstGeom prst="rect">
            <a:avLst/>
          </a:prstGeom>
          <a:noFill/>
        </p:spPr>
        <p:txBody>
          <a:bodyPr wrap="square">
            <a:noAutofit/>
          </a:bodyPr>
          <a:lstStyle/>
          <a:p>
            <a:pPr algn="l"/>
            <a:r>
              <a:rPr sz="1350" b="1" i="0">
                <a:solidFill>
                  <a:srgbClr val="10233A"/>
                </a:solidFill>
                <a:latin typeface="Segoe UI"/>
              </a:rPr>
              <a:t>Random forest</a:t>
            </a:r>
          </a:p>
        </p:txBody>
      </p:sp>
      <p:sp>
        <p:nvSpPr>
          <p:cNvPr id="42" name="TextBox 41"/>
          <p:cNvSpPr txBox="1"/>
          <p:nvPr/>
        </p:nvSpPr>
        <p:spPr>
          <a:xfrm>
            <a:off x="8503920" y="3419856"/>
            <a:ext cx="2880360" cy="868680"/>
          </a:xfrm>
          <a:prstGeom prst="rect">
            <a:avLst/>
          </a:prstGeom>
          <a:noFill/>
        </p:spPr>
        <p:txBody>
          <a:bodyPr wrap="square">
            <a:noAutofit/>
          </a:bodyPr>
          <a:lstStyle/>
          <a:p>
            <a:pPr algn="l"/>
            <a:r>
              <a:rPr sz="1050" b="0" i="0">
                <a:solidFill>
                  <a:srgbClr val="56677B"/>
                </a:solidFill>
                <a:latin typeface="Segoe UI"/>
              </a:rPr>
              <a:t>Hundreds of small opinions, then a majority vote. Accurate enough, but it cannot tell you why it voted that way.</a:t>
            </a:r>
          </a:p>
        </p:txBody>
      </p:sp>
      <p:sp>
        <p:nvSpPr>
          <p:cNvPr id="43" name="Rounded Rectangle 42"/>
          <p:cNvSpPr/>
          <p:nvPr/>
        </p:nvSpPr>
        <p:spPr>
          <a:xfrm>
            <a:off x="5715000" y="4425696"/>
            <a:ext cx="5833872" cy="1060704"/>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15000" y="4425696"/>
            <a:ext cx="50292" cy="1060704"/>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34456" y="4535424"/>
            <a:ext cx="2743200" cy="256032"/>
          </a:xfrm>
          <a:prstGeom prst="rect">
            <a:avLst/>
          </a:prstGeom>
          <a:noFill/>
        </p:spPr>
        <p:txBody>
          <a:bodyPr wrap="square">
            <a:noAutofit/>
          </a:bodyPr>
          <a:lstStyle/>
          <a:p>
            <a:pPr algn="l"/>
            <a:r>
              <a:rPr sz="950" b="1" i="0">
                <a:solidFill>
                  <a:srgbClr val="0B8F86"/>
                </a:solidFill>
                <a:latin typeface="Segoe UI"/>
              </a:rPr>
              <a:t>THE APPRENTICE</a:t>
            </a:r>
          </a:p>
        </p:txBody>
      </p:sp>
      <p:sp>
        <p:nvSpPr>
          <p:cNvPr id="46" name="TextBox 45"/>
          <p:cNvSpPr txBox="1"/>
          <p:nvPr/>
        </p:nvSpPr>
        <p:spPr>
          <a:xfrm>
            <a:off x="5934456" y="4773168"/>
            <a:ext cx="2743200" cy="292608"/>
          </a:xfrm>
          <a:prstGeom prst="rect">
            <a:avLst/>
          </a:prstGeom>
          <a:noFill/>
        </p:spPr>
        <p:txBody>
          <a:bodyPr wrap="square">
            <a:noAutofit/>
          </a:bodyPr>
          <a:lstStyle/>
          <a:p>
            <a:pPr algn="l"/>
            <a:r>
              <a:rPr sz="1350" b="1" i="0">
                <a:solidFill>
                  <a:srgbClr val="10233A"/>
                </a:solidFill>
                <a:latin typeface="Segoe UI"/>
              </a:rPr>
              <a:t>Gradient boosting</a:t>
            </a:r>
          </a:p>
        </p:txBody>
      </p:sp>
      <p:sp>
        <p:nvSpPr>
          <p:cNvPr id="47" name="TextBox 46"/>
          <p:cNvSpPr txBox="1"/>
          <p:nvPr/>
        </p:nvSpPr>
        <p:spPr>
          <a:xfrm>
            <a:off x="8503920" y="4572000"/>
            <a:ext cx="2880360" cy="868680"/>
          </a:xfrm>
          <a:prstGeom prst="rect">
            <a:avLst/>
          </a:prstGeom>
          <a:noFill/>
        </p:spPr>
        <p:txBody>
          <a:bodyPr wrap="square">
            <a:noAutofit/>
          </a:bodyPr>
          <a:lstStyle/>
          <a:p>
            <a:pPr algn="l"/>
            <a:r>
              <a:rPr sz="1050" b="0" i="0">
                <a:solidFill>
                  <a:srgbClr val="56677B"/>
                </a:solidFill>
                <a:latin typeface="Segoe UI"/>
              </a:rPr>
              <a:t>Each round studies the last round's mistakes. Sharpest answer, and opaque on its own.</a:t>
            </a:r>
          </a:p>
        </p:txBody>
      </p:sp>
      <p:sp>
        <p:nvSpPr>
          <p:cNvPr id="48" name="Rounded Rectangle 47"/>
          <p:cNvSpPr/>
          <p:nvPr/>
        </p:nvSpPr>
        <p:spPr>
          <a:xfrm>
            <a:off x="5715000" y="5504688"/>
            <a:ext cx="5833872" cy="804672"/>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715000" y="5504688"/>
            <a:ext cx="50292" cy="804672"/>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52744" y="5614416"/>
            <a:ext cx="5376672" cy="256032"/>
          </a:xfrm>
          <a:prstGeom prst="rect">
            <a:avLst/>
          </a:prstGeom>
          <a:noFill/>
        </p:spPr>
        <p:txBody>
          <a:bodyPr wrap="square">
            <a:noAutofit/>
          </a:bodyPr>
          <a:lstStyle/>
          <a:p>
            <a:pPr algn="l"/>
            <a:r>
              <a:rPr sz="950" b="1" i="0">
                <a:solidFill>
                  <a:srgbClr val="0B8F86"/>
                </a:solidFill>
                <a:latin typeface="Segoe UI"/>
              </a:rPr>
              <a:t>THE DECIDING FACTOR</a:t>
            </a:r>
          </a:p>
        </p:txBody>
      </p:sp>
      <p:sp>
        <p:nvSpPr>
          <p:cNvPr id="51" name="TextBox 50"/>
          <p:cNvSpPr txBox="1"/>
          <p:nvPr/>
        </p:nvSpPr>
        <p:spPr>
          <a:xfrm>
            <a:off x="5952744" y="5888736"/>
            <a:ext cx="5376672" cy="347472"/>
          </a:xfrm>
          <a:prstGeom prst="rect">
            <a:avLst/>
          </a:prstGeom>
          <a:noFill/>
        </p:spPr>
        <p:txBody>
          <a:bodyPr wrap="square">
            <a:noAutofit/>
          </a:bodyPr>
          <a:lstStyle/>
          <a:p>
            <a:pPr algn="l"/>
            <a:r>
              <a:rPr sz="1150" b="0" i="0">
                <a:solidFill>
                  <a:srgbClr val="10233A"/>
                </a:solidFill>
                <a:latin typeface="Segoe UI"/>
              </a:rPr>
              <a:t>SHAP is what moves boosting from Challenger to Leader: same accuracy, now able to justify every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06</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1495729"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BENCHMARK</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0.774 is where a good model should sit on this kind of data</a:t>
            </a:r>
          </a:p>
        </p:txBody>
      </p:sp>
      <p:sp>
        <p:nvSpPr>
          <p:cNvPr id="9" name="TextBox 8"/>
          <p:cNvSpPr txBox="1"/>
          <p:nvPr/>
        </p:nvSpPr>
        <p:spPr>
          <a:xfrm>
            <a:off x="621792" y="1737360"/>
            <a:ext cx="10881360" cy="457200"/>
          </a:xfrm>
          <a:prstGeom prst="rect">
            <a:avLst/>
          </a:prstGeom>
          <a:noFill/>
        </p:spPr>
        <p:txBody>
          <a:bodyPr wrap="square">
            <a:noAutofit/>
          </a:bodyPr>
          <a:lstStyle/>
          <a:p>
            <a:pPr algn="l"/>
            <a:r>
              <a:rPr sz="1400" b="0" i="0">
                <a:solidFill>
                  <a:srgbClr val="10233A"/>
                </a:solidFill>
                <a:latin typeface="Segoe UI"/>
              </a:rPr>
              <a:t>The score is AUROC: given one customer who repays and one who defaults, how often does JARVIS correctly rank the defaulter as riskier?</a:t>
            </a:r>
          </a:p>
        </p:txBody>
      </p:sp>
      <p:sp>
        <p:nvSpPr>
          <p:cNvPr id="10" name="Rectangle 9"/>
          <p:cNvSpPr/>
          <p:nvPr/>
        </p:nvSpPr>
        <p:spPr>
          <a:xfrm>
            <a:off x="621792" y="2697480"/>
            <a:ext cx="3059582" cy="329184"/>
          </a:xfrm>
          <a:prstGeom prst="rect">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072384"/>
            <a:ext cx="3059582" cy="411480"/>
          </a:xfrm>
          <a:prstGeom prst="rect">
            <a:avLst/>
          </a:prstGeom>
          <a:noFill/>
        </p:spPr>
        <p:txBody>
          <a:bodyPr wrap="square">
            <a:noAutofit/>
          </a:bodyPr>
          <a:lstStyle/>
          <a:p>
            <a:pPr algn="ctr"/>
            <a:r>
              <a:rPr sz="900" b="0" i="0">
                <a:solidFill>
                  <a:srgbClr val="56677B"/>
                </a:solidFill>
                <a:latin typeface="Segoe UI"/>
              </a:rPr>
              <a:t>0.50 to 0.65
coin flip to weak</a:t>
            </a:r>
          </a:p>
        </p:txBody>
      </p:sp>
      <p:sp>
        <p:nvSpPr>
          <p:cNvPr id="12" name="Rectangle 11"/>
          <p:cNvSpPr/>
          <p:nvPr/>
        </p:nvSpPr>
        <p:spPr>
          <a:xfrm>
            <a:off x="3681374" y="2697480"/>
            <a:ext cx="1966874" cy="329184"/>
          </a:xfrm>
          <a:prstGeom prst="rect">
            <a:avLst/>
          </a:prstGeom>
          <a:solidFill>
            <a:srgbClr val="FB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1374" y="3072384"/>
            <a:ext cx="1966874" cy="411480"/>
          </a:xfrm>
          <a:prstGeom prst="rect">
            <a:avLst/>
          </a:prstGeom>
          <a:noFill/>
        </p:spPr>
        <p:txBody>
          <a:bodyPr wrap="square">
            <a:noAutofit/>
          </a:bodyPr>
          <a:lstStyle/>
          <a:p>
            <a:pPr algn="ctr"/>
            <a:r>
              <a:rPr sz="900" b="0" i="0">
                <a:solidFill>
                  <a:srgbClr val="56677B"/>
                </a:solidFill>
                <a:latin typeface="Segoe UI"/>
              </a:rPr>
              <a:t>0.65 to 0.70
usable, not good</a:t>
            </a:r>
          </a:p>
        </p:txBody>
      </p:sp>
      <p:sp>
        <p:nvSpPr>
          <p:cNvPr id="14" name="Rectangle 13"/>
          <p:cNvSpPr/>
          <p:nvPr/>
        </p:nvSpPr>
        <p:spPr>
          <a:xfrm>
            <a:off x="5648248" y="2697480"/>
            <a:ext cx="3278123" cy="329184"/>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48248" y="3072384"/>
            <a:ext cx="3278123" cy="411480"/>
          </a:xfrm>
          <a:prstGeom prst="rect">
            <a:avLst/>
          </a:prstGeom>
          <a:noFill/>
        </p:spPr>
        <p:txBody>
          <a:bodyPr wrap="square">
            <a:noAutofit/>
          </a:bodyPr>
          <a:lstStyle/>
          <a:p>
            <a:pPr algn="ctr"/>
            <a:r>
              <a:rPr sz="900" b="0" i="0">
                <a:solidFill>
                  <a:srgbClr val="56677B"/>
                </a:solidFill>
                <a:latin typeface="Segoe UI"/>
              </a:rPr>
              <a:t>0.70 to 0.78
industry normal here</a:t>
            </a:r>
          </a:p>
        </p:txBody>
      </p:sp>
      <p:sp>
        <p:nvSpPr>
          <p:cNvPr id="16" name="Rectangle 15"/>
          <p:cNvSpPr/>
          <p:nvPr/>
        </p:nvSpPr>
        <p:spPr>
          <a:xfrm>
            <a:off x="8926372" y="2697480"/>
            <a:ext cx="2622499" cy="329184"/>
          </a:xfrm>
          <a:prstGeom prst="rect">
            <a:avLst/>
          </a:prstGeom>
          <a:solidFill>
            <a:srgbClr val="D3E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26372" y="3072384"/>
            <a:ext cx="2622499" cy="411480"/>
          </a:xfrm>
          <a:prstGeom prst="rect">
            <a:avLst/>
          </a:prstGeom>
          <a:noFill/>
        </p:spPr>
        <p:txBody>
          <a:bodyPr wrap="square">
            <a:noAutofit/>
          </a:bodyPr>
          <a:lstStyle/>
          <a:p>
            <a:pPr algn="ctr"/>
            <a:r>
              <a:rPr sz="900" b="0" i="0">
                <a:solidFill>
                  <a:srgbClr val="56677B"/>
                </a:solidFill>
                <a:latin typeface="Segoe UI"/>
              </a:rPr>
              <a:t>0.80 and up
needs behavioural data</a:t>
            </a:r>
          </a:p>
        </p:txBody>
      </p:sp>
      <p:sp>
        <p:nvSpPr>
          <p:cNvPr id="18" name="Rectangle 17"/>
          <p:cNvSpPr/>
          <p:nvPr/>
        </p:nvSpPr>
        <p:spPr>
          <a:xfrm>
            <a:off x="8090382" y="2587752"/>
            <a:ext cx="32918" cy="548640"/>
          </a:xfrm>
          <a:prstGeom prst="rect">
            <a:avLst/>
          </a:prstGeom>
          <a:solidFill>
            <a:srgbClr val="10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09561" y="2276856"/>
            <a:ext cx="2194560" cy="274320"/>
          </a:xfrm>
          <a:prstGeom prst="rect">
            <a:avLst/>
          </a:prstGeom>
          <a:noFill/>
        </p:spPr>
        <p:txBody>
          <a:bodyPr wrap="square">
            <a:noAutofit/>
          </a:bodyPr>
          <a:lstStyle/>
          <a:p>
            <a:pPr algn="ctr"/>
            <a:r>
              <a:rPr sz="1150" b="1" i="0">
                <a:solidFill>
                  <a:srgbClr val="10233A"/>
                </a:solidFill>
                <a:latin typeface="Segoe UI"/>
              </a:rPr>
              <a:t>JARVIS: 0.774</a:t>
            </a:r>
          </a:p>
        </p:txBody>
      </p:sp>
      <p:sp>
        <p:nvSpPr>
          <p:cNvPr id="20" name="Rounded Rectangle 19"/>
          <p:cNvSpPr/>
          <p:nvPr/>
        </p:nvSpPr>
        <p:spPr>
          <a:xfrm>
            <a:off x="621792" y="3931920"/>
            <a:ext cx="2651760" cy="114300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 y="3931920"/>
            <a:ext cx="50292" cy="1143000"/>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041648"/>
            <a:ext cx="2286000" cy="457200"/>
          </a:xfrm>
          <a:prstGeom prst="rect">
            <a:avLst/>
          </a:prstGeom>
          <a:noFill/>
        </p:spPr>
        <p:txBody>
          <a:bodyPr wrap="square">
            <a:noAutofit/>
          </a:bodyPr>
          <a:lstStyle/>
          <a:p>
            <a:pPr algn="l"/>
            <a:r>
              <a:rPr sz="2600" b="1" i="0">
                <a:solidFill>
                  <a:srgbClr val="0B8F86"/>
                </a:solidFill>
                <a:latin typeface="Segoe UI Semibold"/>
              </a:rPr>
              <a:t>0.774</a:t>
            </a:r>
          </a:p>
        </p:txBody>
      </p:sp>
      <p:sp>
        <p:nvSpPr>
          <p:cNvPr id="23" name="TextBox 22"/>
          <p:cNvSpPr txBox="1"/>
          <p:nvPr/>
        </p:nvSpPr>
        <p:spPr>
          <a:xfrm>
            <a:off x="822960" y="4526280"/>
            <a:ext cx="2286000" cy="457200"/>
          </a:xfrm>
          <a:prstGeom prst="rect">
            <a:avLst/>
          </a:prstGeom>
          <a:noFill/>
        </p:spPr>
        <p:txBody>
          <a:bodyPr wrap="square">
            <a:noAutofit/>
          </a:bodyPr>
          <a:lstStyle/>
          <a:p>
            <a:pPr algn="l"/>
            <a:r>
              <a:rPr sz="1050" b="0" i="0">
                <a:solidFill>
                  <a:srgbClr val="56677B"/>
                </a:solidFill>
                <a:latin typeface="Segoe UI"/>
              </a:rPr>
              <a:t>sealed test AUROC</a:t>
            </a:r>
          </a:p>
        </p:txBody>
      </p:sp>
      <p:sp>
        <p:nvSpPr>
          <p:cNvPr id="24" name="Rounded Rectangle 23"/>
          <p:cNvSpPr/>
          <p:nvPr/>
        </p:nvSpPr>
        <p:spPr>
          <a:xfrm>
            <a:off x="3392424" y="3931920"/>
            <a:ext cx="2651760" cy="114300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92424" y="3931920"/>
            <a:ext cx="50292" cy="1143000"/>
          </a:xfrm>
          <a:prstGeom prst="rect">
            <a:avLst/>
          </a:prstGeom>
          <a:solidFill>
            <a:srgbClr val="5667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93592" y="4041648"/>
            <a:ext cx="2286000" cy="457200"/>
          </a:xfrm>
          <a:prstGeom prst="rect">
            <a:avLst/>
          </a:prstGeom>
          <a:noFill/>
        </p:spPr>
        <p:txBody>
          <a:bodyPr wrap="square">
            <a:noAutofit/>
          </a:bodyPr>
          <a:lstStyle/>
          <a:p>
            <a:pPr algn="l"/>
            <a:r>
              <a:rPr sz="2600" b="1" i="0">
                <a:solidFill>
                  <a:srgbClr val="56677B"/>
                </a:solidFill>
                <a:latin typeface="Segoe UI Semibold"/>
              </a:rPr>
              <a:t>0.757</a:t>
            </a:r>
          </a:p>
        </p:txBody>
      </p:sp>
      <p:sp>
        <p:nvSpPr>
          <p:cNvPr id="27" name="TextBox 26"/>
          <p:cNvSpPr txBox="1"/>
          <p:nvPr/>
        </p:nvSpPr>
        <p:spPr>
          <a:xfrm>
            <a:off x="3593592" y="4526280"/>
            <a:ext cx="2286000" cy="457200"/>
          </a:xfrm>
          <a:prstGeom prst="rect">
            <a:avLst/>
          </a:prstGeom>
          <a:noFill/>
        </p:spPr>
        <p:txBody>
          <a:bodyPr wrap="square">
            <a:noAutofit/>
          </a:bodyPr>
          <a:lstStyle/>
          <a:p>
            <a:pPr algn="l"/>
            <a:r>
              <a:rPr sz="1050" b="0" i="0">
                <a:solidFill>
                  <a:srgbClr val="56677B"/>
                </a:solidFill>
                <a:latin typeface="Segoe UI"/>
              </a:rPr>
              <a:t>incumbent scorecard</a:t>
            </a:r>
          </a:p>
        </p:txBody>
      </p:sp>
      <p:sp>
        <p:nvSpPr>
          <p:cNvPr id="28" name="Rounded Rectangle 27"/>
          <p:cNvSpPr/>
          <p:nvPr/>
        </p:nvSpPr>
        <p:spPr>
          <a:xfrm>
            <a:off x="6163056" y="3931920"/>
            <a:ext cx="2651760" cy="114300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3056" y="3931920"/>
            <a:ext cx="50292" cy="114300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4041648"/>
            <a:ext cx="2286000" cy="457200"/>
          </a:xfrm>
          <a:prstGeom prst="rect">
            <a:avLst/>
          </a:prstGeom>
          <a:noFill/>
        </p:spPr>
        <p:txBody>
          <a:bodyPr wrap="square">
            <a:noAutofit/>
          </a:bodyPr>
          <a:lstStyle/>
          <a:p>
            <a:pPr algn="l"/>
            <a:r>
              <a:rPr sz="2600" b="1" i="0">
                <a:solidFill>
                  <a:srgbClr val="1E8E5A"/>
                </a:solidFill>
                <a:latin typeface="Segoe UI Semibold"/>
              </a:rPr>
              <a:t>1 in 3</a:t>
            </a:r>
          </a:p>
        </p:txBody>
      </p:sp>
      <p:sp>
        <p:nvSpPr>
          <p:cNvPr id="31" name="TextBox 30"/>
          <p:cNvSpPr txBox="1"/>
          <p:nvPr/>
        </p:nvSpPr>
        <p:spPr>
          <a:xfrm>
            <a:off x="6364224" y="4526280"/>
            <a:ext cx="2286000" cy="457200"/>
          </a:xfrm>
          <a:prstGeom prst="rect">
            <a:avLst/>
          </a:prstGeom>
          <a:noFill/>
        </p:spPr>
        <p:txBody>
          <a:bodyPr wrap="square">
            <a:noAutofit/>
          </a:bodyPr>
          <a:lstStyle/>
          <a:p>
            <a:pPr algn="l"/>
            <a:r>
              <a:rPr sz="1050" b="0" i="0">
                <a:solidFill>
                  <a:srgbClr val="56677B"/>
                </a:solidFill>
                <a:latin typeface="Segoe UI"/>
              </a:rPr>
              <a:t>of all defaults sit in the riskiest tenth</a:t>
            </a:r>
          </a:p>
        </p:txBody>
      </p:sp>
      <p:sp>
        <p:nvSpPr>
          <p:cNvPr id="32" name="Rounded Rectangle 31"/>
          <p:cNvSpPr/>
          <p:nvPr/>
        </p:nvSpPr>
        <p:spPr>
          <a:xfrm>
            <a:off x="8933688" y="3931920"/>
            <a:ext cx="2651760" cy="114300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3688" y="3931920"/>
            <a:ext cx="50292" cy="114300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34856" y="4041648"/>
            <a:ext cx="2286000" cy="457200"/>
          </a:xfrm>
          <a:prstGeom prst="rect">
            <a:avLst/>
          </a:prstGeom>
          <a:noFill/>
        </p:spPr>
        <p:txBody>
          <a:bodyPr wrap="square">
            <a:noAutofit/>
          </a:bodyPr>
          <a:lstStyle/>
          <a:p>
            <a:pPr algn="l"/>
            <a:r>
              <a:rPr sz="2600" b="1" i="0">
                <a:solidFill>
                  <a:srgbClr val="1E8E5A"/>
                </a:solidFill>
                <a:latin typeface="Segoe UI Semibold"/>
              </a:rPr>
              <a:t>0.067</a:t>
            </a:r>
          </a:p>
        </p:txBody>
      </p:sp>
      <p:sp>
        <p:nvSpPr>
          <p:cNvPr id="35" name="TextBox 34"/>
          <p:cNvSpPr txBox="1"/>
          <p:nvPr/>
        </p:nvSpPr>
        <p:spPr>
          <a:xfrm>
            <a:off x="9134856" y="4526280"/>
            <a:ext cx="2286000" cy="457200"/>
          </a:xfrm>
          <a:prstGeom prst="rect">
            <a:avLst/>
          </a:prstGeom>
          <a:noFill/>
        </p:spPr>
        <p:txBody>
          <a:bodyPr wrap="square">
            <a:noAutofit/>
          </a:bodyPr>
          <a:lstStyle/>
          <a:p>
            <a:pPr algn="l"/>
            <a:r>
              <a:rPr sz="1050" b="0" i="0">
                <a:solidFill>
                  <a:srgbClr val="56677B"/>
                </a:solidFill>
                <a:latin typeface="Segoe UI"/>
              </a:rPr>
              <a:t>Brier score: the probabilities are honest</a:t>
            </a:r>
          </a:p>
        </p:txBody>
      </p:sp>
      <p:sp>
        <p:nvSpPr>
          <p:cNvPr id="36" name="Rounded Rectangle 35"/>
          <p:cNvSpPr/>
          <p:nvPr/>
        </p:nvSpPr>
        <p:spPr>
          <a:xfrm>
            <a:off x="621792" y="5257800"/>
            <a:ext cx="10927080" cy="960120"/>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1792" y="5257800"/>
            <a:ext cx="50292" cy="960120"/>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5367528"/>
            <a:ext cx="10469880" cy="256032"/>
          </a:xfrm>
          <a:prstGeom prst="rect">
            <a:avLst/>
          </a:prstGeom>
          <a:noFill/>
        </p:spPr>
        <p:txBody>
          <a:bodyPr wrap="square">
            <a:noAutofit/>
          </a:bodyPr>
          <a:lstStyle/>
          <a:p>
            <a:pPr algn="l"/>
            <a:r>
              <a:rPr sz="950" b="1" i="0">
                <a:solidFill>
                  <a:srgbClr val="0B8F86"/>
                </a:solidFill>
                <a:latin typeface="Segoe UI"/>
              </a:rPr>
              <a:t>READING THE SCALE HONESTLY</a:t>
            </a:r>
          </a:p>
        </p:txBody>
      </p:sp>
      <p:sp>
        <p:nvSpPr>
          <p:cNvPr id="39" name="TextBox 38"/>
          <p:cNvSpPr txBox="1"/>
          <p:nvPr/>
        </p:nvSpPr>
        <p:spPr>
          <a:xfrm>
            <a:off x="859536" y="5641848"/>
            <a:ext cx="10469880" cy="502920"/>
          </a:xfrm>
          <a:prstGeom prst="rect">
            <a:avLst/>
          </a:prstGeom>
          <a:noFill/>
        </p:spPr>
        <p:txBody>
          <a:bodyPr wrap="square">
            <a:noAutofit/>
          </a:bodyPr>
          <a:lstStyle/>
          <a:p>
            <a:pPr algn="l"/>
            <a:r>
              <a:rPr sz="1200" b="0" i="0">
                <a:solidFill>
                  <a:srgbClr val="10233A"/>
                </a:solidFill>
                <a:latin typeface="Segoe UI"/>
              </a:rPr>
              <a:t>0.80 is not the target and claiming it would be a warning sign. Without behavioural or transaction history, models on application and bureau data alone land between 0.70 and 0.78. Anything far above that range usually means a leak.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07</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1884578" cy="292608"/>
          </a:xfrm>
          <a:prstGeom prst="roundRect">
            <a:avLst>
              <a:gd name="adj" fmla="val 50000"/>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THE DECISION</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The 7% cut-off is where a loan stops making money</a:t>
            </a:r>
          </a:p>
        </p:txBody>
      </p:sp>
      <p:sp>
        <p:nvSpPr>
          <p:cNvPr id="9" name="Rounded Rectangle 8"/>
          <p:cNvSpPr/>
          <p:nvPr/>
        </p:nvSpPr>
        <p:spPr>
          <a:xfrm>
            <a:off x="621792" y="1783080"/>
            <a:ext cx="5349240" cy="1691640"/>
          </a:xfrm>
          <a:prstGeom prst="roundRect">
            <a:avLst>
              <a:gd name="adj" fmla="val 3500"/>
            </a:avLst>
          </a:prstGeom>
          <a:solidFill>
            <a:srgbClr val="E8F5EE"/>
          </a:solidFill>
          <a:ln w="12700">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783080"/>
            <a:ext cx="50292" cy="169164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38528"/>
            <a:ext cx="4846320" cy="274320"/>
          </a:xfrm>
          <a:prstGeom prst="rect">
            <a:avLst/>
          </a:prstGeom>
          <a:noFill/>
        </p:spPr>
        <p:txBody>
          <a:bodyPr wrap="square">
            <a:noAutofit/>
          </a:bodyPr>
          <a:lstStyle/>
          <a:p>
            <a:pPr algn="l"/>
            <a:r>
              <a:rPr sz="1050" b="1" i="0">
                <a:solidFill>
                  <a:srgbClr val="1E8E5A"/>
                </a:solidFill>
                <a:latin typeface="Segoe UI"/>
              </a:rPr>
              <a:t>NET BENEFIT ON THE SEALED TEST BOOK</a:t>
            </a:r>
          </a:p>
        </p:txBody>
      </p:sp>
      <p:sp>
        <p:nvSpPr>
          <p:cNvPr id="12" name="TextBox 11"/>
          <p:cNvSpPr txBox="1"/>
          <p:nvPr/>
        </p:nvSpPr>
        <p:spPr>
          <a:xfrm>
            <a:off x="859536" y="2212848"/>
            <a:ext cx="4937760" cy="914400"/>
          </a:xfrm>
          <a:prstGeom prst="rect">
            <a:avLst/>
          </a:prstGeom>
          <a:noFill/>
        </p:spPr>
        <p:txBody>
          <a:bodyPr wrap="square">
            <a:noAutofit/>
          </a:bodyPr>
          <a:lstStyle/>
          <a:p>
            <a:pPr algn="l"/>
            <a:r>
              <a:rPr sz="4800" b="1" i="0">
                <a:solidFill>
                  <a:srgbClr val="1E8E5A"/>
                </a:solidFill>
                <a:latin typeface="Segoe UI Semibold"/>
              </a:rPr>
              <a:t>+$578.7M</a:t>
            </a:r>
          </a:p>
        </p:txBody>
      </p:sp>
      <p:sp>
        <p:nvSpPr>
          <p:cNvPr id="13" name="TextBox 12"/>
          <p:cNvSpPr txBox="1"/>
          <p:nvPr/>
        </p:nvSpPr>
        <p:spPr>
          <a:xfrm>
            <a:off x="896112" y="3108960"/>
            <a:ext cx="4846320" cy="320040"/>
          </a:xfrm>
          <a:prstGeom prst="rect">
            <a:avLst/>
          </a:prstGeom>
          <a:noFill/>
        </p:spPr>
        <p:txBody>
          <a:bodyPr wrap="square">
            <a:noAutofit/>
          </a:bodyPr>
          <a:lstStyle/>
          <a:p>
            <a:pPr algn="l"/>
            <a:r>
              <a:rPr sz="1150" b="0" i="0">
                <a:solidFill>
                  <a:srgbClr val="56677B"/>
                </a:solidFill>
                <a:latin typeface="Segoe UI"/>
              </a:rPr>
              <a:t>versus approving everyone, across 46,127 applications</a:t>
            </a:r>
          </a:p>
        </p:txBody>
      </p:sp>
      <p:sp>
        <p:nvSpPr>
          <p:cNvPr id="14" name="Rounded Rectangle 13"/>
          <p:cNvSpPr/>
          <p:nvPr/>
        </p:nvSpPr>
        <p:spPr>
          <a:xfrm>
            <a:off x="621792" y="3611880"/>
            <a:ext cx="5349240" cy="1874519"/>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 y="3611880"/>
            <a:ext cx="50292" cy="1874519"/>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767328"/>
            <a:ext cx="4846320" cy="274320"/>
          </a:xfrm>
          <a:prstGeom prst="rect">
            <a:avLst/>
          </a:prstGeom>
          <a:noFill/>
        </p:spPr>
        <p:txBody>
          <a:bodyPr wrap="square">
            <a:noAutofit/>
          </a:bodyPr>
          <a:lstStyle/>
          <a:p>
            <a:pPr algn="l"/>
            <a:r>
              <a:rPr sz="1050" b="1" i="0">
                <a:solidFill>
                  <a:srgbClr val="0B8F86"/>
                </a:solidFill>
                <a:latin typeface="Segoe UI"/>
              </a:rPr>
              <a:t>WHY 7%, AND NOT SOME OTHER NUMBER</a:t>
            </a:r>
          </a:p>
        </p:txBody>
      </p:sp>
      <p:sp>
        <p:nvSpPr>
          <p:cNvPr id="17" name="TextBox 16"/>
          <p:cNvSpPr txBox="1"/>
          <p:nvPr/>
        </p:nvSpPr>
        <p:spPr>
          <a:xfrm>
            <a:off x="896112" y="4059936"/>
            <a:ext cx="4846320" cy="320040"/>
          </a:xfrm>
          <a:prstGeom prst="rect">
            <a:avLst/>
          </a:prstGeom>
          <a:noFill/>
        </p:spPr>
        <p:txBody>
          <a:bodyPr wrap="square">
            <a:noAutofit/>
          </a:bodyPr>
          <a:lstStyle/>
          <a:p>
            <a:pPr algn="l"/>
            <a:r>
              <a:rPr sz="1300" b="0" i="0">
                <a:solidFill>
                  <a:srgbClr val="10233A"/>
                </a:solidFill>
                <a:latin typeface="Segoe UI"/>
              </a:rPr>
              <a:t>A good loan earns 5%. A bad one loses 65%.</a:t>
            </a:r>
          </a:p>
        </p:txBody>
      </p:sp>
      <p:sp>
        <p:nvSpPr>
          <p:cNvPr id="18" name="TextBox 17"/>
          <p:cNvSpPr txBox="1"/>
          <p:nvPr/>
        </p:nvSpPr>
        <p:spPr>
          <a:xfrm>
            <a:off x="896112" y="4407408"/>
            <a:ext cx="4846320" cy="457200"/>
          </a:xfrm>
          <a:prstGeom prst="rect">
            <a:avLst/>
          </a:prstGeom>
          <a:noFill/>
        </p:spPr>
        <p:txBody>
          <a:bodyPr wrap="square">
            <a:noAutofit/>
          </a:bodyPr>
          <a:lstStyle/>
          <a:p>
            <a:pPr algn="l"/>
            <a:r>
              <a:rPr sz="2100" b="1" i="0">
                <a:solidFill>
                  <a:srgbClr val="10233A"/>
                </a:solidFill>
                <a:latin typeface="Segoe UI Semibold"/>
              </a:rPr>
              <a:t>5%  ÷  (5% + 65%)  =  7.1%</a:t>
            </a:r>
          </a:p>
        </p:txBody>
      </p:sp>
      <p:sp>
        <p:nvSpPr>
          <p:cNvPr id="19" name="TextBox 18"/>
          <p:cNvSpPr txBox="1"/>
          <p:nvPr/>
        </p:nvSpPr>
        <p:spPr>
          <a:xfrm>
            <a:off x="896112" y="4919472"/>
            <a:ext cx="4846320" cy="502920"/>
          </a:xfrm>
          <a:prstGeom prst="rect">
            <a:avLst/>
          </a:prstGeom>
          <a:noFill/>
        </p:spPr>
        <p:txBody>
          <a:bodyPr wrap="square">
            <a:noAutofit/>
          </a:bodyPr>
          <a:lstStyle/>
          <a:p>
            <a:pPr algn="l"/>
            <a:r>
              <a:rPr sz="1100" b="0" i="0">
                <a:solidFill>
                  <a:srgbClr val="56677B"/>
                </a:solidFill>
                <a:latin typeface="Segoe UI"/>
              </a:rPr>
              <a:t>Sweeping the real profit curve over 46,127 loans lands on 7%. Two independent routes, the same answer.</a:t>
            </a:r>
          </a:p>
        </p:txBody>
      </p:sp>
      <p:sp>
        <p:nvSpPr>
          <p:cNvPr id="20" name="Rounded Rectangle 19"/>
          <p:cNvSpPr/>
          <p:nvPr/>
        </p:nvSpPr>
        <p:spPr>
          <a:xfrm>
            <a:off x="6172200" y="1783080"/>
            <a:ext cx="5376672" cy="2788920"/>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eck_profit_curve.png"/>
          <p:cNvPicPr>
            <a:picLocks noChangeAspect="1"/>
          </p:cNvPicPr>
          <p:nvPr/>
        </p:nvPicPr>
        <p:blipFill>
          <a:blip r:embed="rId2"/>
          <a:stretch>
            <a:fillRect/>
          </a:stretch>
        </p:blipFill>
        <p:spPr>
          <a:xfrm>
            <a:off x="6537078" y="1874519"/>
            <a:ext cx="4646914" cy="2606039"/>
          </a:xfrm>
          <a:prstGeom prst="rect">
            <a:avLst/>
          </a:prstGeom>
        </p:spPr>
      </p:pic>
      <p:sp>
        <p:nvSpPr>
          <p:cNvPr id="22" name="Rounded Rectangle 21"/>
          <p:cNvSpPr/>
          <p:nvPr/>
        </p:nvSpPr>
        <p:spPr>
          <a:xfrm>
            <a:off x="6172200" y="4709160"/>
            <a:ext cx="2587752" cy="777240"/>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4709160"/>
            <a:ext cx="50292" cy="77724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4791456"/>
            <a:ext cx="2286000" cy="365760"/>
          </a:xfrm>
          <a:prstGeom prst="rect">
            <a:avLst/>
          </a:prstGeom>
          <a:noFill/>
        </p:spPr>
        <p:txBody>
          <a:bodyPr wrap="square">
            <a:noAutofit/>
          </a:bodyPr>
          <a:lstStyle/>
          <a:p>
            <a:pPr algn="l"/>
            <a:r>
              <a:rPr sz="2000" b="1" i="0">
                <a:solidFill>
                  <a:srgbClr val="002856"/>
                </a:solidFill>
                <a:latin typeface="Segoe UI Semibold"/>
              </a:rPr>
              <a:t>63.2%</a:t>
            </a:r>
          </a:p>
        </p:txBody>
      </p:sp>
      <p:sp>
        <p:nvSpPr>
          <p:cNvPr id="25" name="TextBox 24"/>
          <p:cNvSpPr txBox="1"/>
          <p:nvPr/>
        </p:nvSpPr>
        <p:spPr>
          <a:xfrm>
            <a:off x="6355080" y="5138928"/>
            <a:ext cx="2286000" cy="274320"/>
          </a:xfrm>
          <a:prstGeom prst="rect">
            <a:avLst/>
          </a:prstGeom>
          <a:noFill/>
        </p:spPr>
        <p:txBody>
          <a:bodyPr wrap="square">
            <a:noAutofit/>
          </a:bodyPr>
          <a:lstStyle/>
          <a:p>
            <a:pPr algn="l"/>
            <a:r>
              <a:rPr sz="1000" b="0" i="0">
                <a:solidFill>
                  <a:srgbClr val="56677B"/>
                </a:solidFill>
                <a:latin typeface="Segoe UI"/>
              </a:rPr>
              <a:t>approved at that line</a:t>
            </a:r>
          </a:p>
        </p:txBody>
      </p:sp>
      <p:sp>
        <p:nvSpPr>
          <p:cNvPr id="26" name="Rounded Rectangle 25"/>
          <p:cNvSpPr/>
          <p:nvPr/>
        </p:nvSpPr>
        <p:spPr>
          <a:xfrm>
            <a:off x="8961120" y="4709160"/>
            <a:ext cx="2587752" cy="777240"/>
          </a:xfrm>
          <a:prstGeom prst="roundRect">
            <a:avLst>
              <a:gd name="adj" fmla="val 3500"/>
            </a:avLst>
          </a:prstGeom>
          <a:solidFill>
            <a:srgbClr val="FFFFFF"/>
          </a:solidFill>
          <a:ln w="12700">
            <a:solidFill>
              <a:srgbClr val="D8E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20" y="4709160"/>
            <a:ext cx="50292" cy="77724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0" y="4791456"/>
            <a:ext cx="2286000" cy="365760"/>
          </a:xfrm>
          <a:prstGeom prst="rect">
            <a:avLst/>
          </a:prstGeom>
          <a:noFill/>
        </p:spPr>
        <p:txBody>
          <a:bodyPr wrap="square">
            <a:noAutofit/>
          </a:bodyPr>
          <a:lstStyle/>
          <a:p>
            <a:pPr algn="l"/>
            <a:r>
              <a:rPr sz="2000" b="1" i="0">
                <a:solidFill>
                  <a:srgbClr val="002856"/>
                </a:solidFill>
                <a:latin typeface="Segoe UI Semibold"/>
              </a:rPr>
              <a:t>74.5%</a:t>
            </a:r>
          </a:p>
        </p:txBody>
      </p:sp>
      <p:sp>
        <p:nvSpPr>
          <p:cNvPr id="29" name="TextBox 28"/>
          <p:cNvSpPr txBox="1"/>
          <p:nvPr/>
        </p:nvSpPr>
        <p:spPr>
          <a:xfrm>
            <a:off x="9144000" y="5138928"/>
            <a:ext cx="2286000" cy="274320"/>
          </a:xfrm>
          <a:prstGeom prst="rect">
            <a:avLst/>
          </a:prstGeom>
          <a:noFill/>
        </p:spPr>
        <p:txBody>
          <a:bodyPr wrap="square">
            <a:noAutofit/>
          </a:bodyPr>
          <a:lstStyle/>
          <a:p>
            <a:pPr algn="l"/>
            <a:r>
              <a:rPr sz="1000" b="0" i="0">
                <a:solidFill>
                  <a:srgbClr val="56677B"/>
                </a:solidFill>
                <a:latin typeface="Segoe UI"/>
              </a:rPr>
              <a:t>of future defaults stopped</a:t>
            </a:r>
          </a:p>
        </p:txBody>
      </p:sp>
      <p:sp>
        <p:nvSpPr>
          <p:cNvPr id="30" name="Rounded Rectangle 29"/>
          <p:cNvSpPr/>
          <p:nvPr/>
        </p:nvSpPr>
        <p:spPr>
          <a:xfrm>
            <a:off x="6172200" y="5623560"/>
            <a:ext cx="5376672" cy="603504"/>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5623560"/>
            <a:ext cx="50292" cy="603504"/>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5733288"/>
            <a:ext cx="4919472" cy="256032"/>
          </a:xfrm>
          <a:prstGeom prst="rect">
            <a:avLst/>
          </a:prstGeom>
          <a:noFill/>
        </p:spPr>
        <p:txBody>
          <a:bodyPr wrap="square">
            <a:noAutofit/>
          </a:bodyPr>
          <a:lstStyle/>
          <a:p>
            <a:pPr algn="l"/>
            <a:r>
              <a:rPr sz="950" b="1" i="0">
                <a:solidFill>
                  <a:srgbClr val="0B8F86"/>
                </a:solidFill>
                <a:latin typeface="Segoe UI"/>
              </a:rPr>
              <a:t>THE POINT</a:t>
            </a:r>
          </a:p>
        </p:txBody>
      </p:sp>
      <p:sp>
        <p:nvSpPr>
          <p:cNvPr id="33" name="TextBox 32"/>
          <p:cNvSpPr txBox="1"/>
          <p:nvPr/>
        </p:nvSpPr>
        <p:spPr>
          <a:xfrm>
            <a:off x="6409944" y="6007608"/>
            <a:ext cx="4919472" cy="146304"/>
          </a:xfrm>
          <a:prstGeom prst="rect">
            <a:avLst/>
          </a:prstGeom>
          <a:noFill/>
        </p:spPr>
        <p:txBody>
          <a:bodyPr wrap="square">
            <a:noAutofit/>
          </a:bodyPr>
          <a:lstStyle/>
          <a:p>
            <a:pPr algn="l"/>
            <a:r>
              <a:rPr sz="1150" b="0" i="0">
                <a:solidFill>
                  <a:srgbClr val="10233A"/>
                </a:solidFill>
                <a:latin typeface="Segoe UI"/>
              </a:rPr>
              <a:t>It is a dial. Move it and I can price the move.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08</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2143810"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EXPLAINABILITY</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Every decline arrives with its reasons already attached</a:t>
            </a:r>
          </a:p>
        </p:txBody>
      </p:sp>
      <p:sp>
        <p:nvSpPr>
          <p:cNvPr id="9" name="Rounded Rectangle 8"/>
          <p:cNvSpPr/>
          <p:nvPr/>
        </p:nvSpPr>
        <p:spPr>
          <a:xfrm>
            <a:off x="621792" y="1737360"/>
            <a:ext cx="5257800" cy="3703320"/>
          </a:xfrm>
          <a:prstGeom prst="roundRect">
            <a:avLst>
              <a:gd name="adj" fmla="val 3500"/>
            </a:avLst>
          </a:prstGeom>
          <a:solidFill>
            <a:srgbClr val="FBECEA"/>
          </a:solidFill>
          <a:ln w="12700">
            <a:solidFill>
              <a:srgbClr val="B8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737360"/>
            <a:ext cx="50292" cy="370332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883664"/>
            <a:ext cx="4754880" cy="274320"/>
          </a:xfrm>
          <a:prstGeom prst="rect">
            <a:avLst/>
          </a:prstGeom>
          <a:noFill/>
        </p:spPr>
        <p:txBody>
          <a:bodyPr wrap="square">
            <a:noAutofit/>
          </a:bodyPr>
          <a:lstStyle/>
          <a:p>
            <a:pPr algn="l"/>
            <a:r>
              <a:rPr sz="950" b="1" i="0">
                <a:solidFill>
                  <a:srgbClr val="B83A2E"/>
                </a:solidFill>
                <a:latin typeface="Segoe UI"/>
              </a:rPr>
              <a:t>WHAT THE APPLICANT RECEIVES</a:t>
            </a:r>
          </a:p>
        </p:txBody>
      </p:sp>
      <p:sp>
        <p:nvSpPr>
          <p:cNvPr id="12" name="TextBox 11"/>
          <p:cNvSpPr txBox="1"/>
          <p:nvPr/>
        </p:nvSpPr>
        <p:spPr>
          <a:xfrm>
            <a:off x="896112" y="2157984"/>
            <a:ext cx="4754880" cy="347472"/>
          </a:xfrm>
          <a:prstGeom prst="rect">
            <a:avLst/>
          </a:prstGeom>
          <a:noFill/>
        </p:spPr>
        <p:txBody>
          <a:bodyPr wrap="square">
            <a:noAutofit/>
          </a:bodyPr>
          <a:lstStyle/>
          <a:p>
            <a:pPr algn="l"/>
            <a:r>
              <a:rPr sz="1400" b="1" i="0">
                <a:solidFill>
                  <a:srgbClr val="10233A"/>
                </a:solidFill>
                <a:latin typeface="Segoe UI"/>
              </a:rPr>
              <a:t>“Your application was declined.</a:t>
            </a:r>
          </a:p>
        </p:txBody>
      </p:sp>
      <p:sp>
        <p:nvSpPr>
          <p:cNvPr id="13" name="TextBox 12"/>
          <p:cNvSpPr txBox="1"/>
          <p:nvPr/>
        </p:nvSpPr>
        <p:spPr>
          <a:xfrm>
            <a:off x="896112" y="2468880"/>
            <a:ext cx="4754880" cy="347472"/>
          </a:xfrm>
          <a:prstGeom prst="rect">
            <a:avLst/>
          </a:prstGeom>
          <a:noFill/>
        </p:spPr>
        <p:txBody>
          <a:bodyPr wrap="square">
            <a:noAutofit/>
          </a:bodyPr>
          <a:lstStyle/>
          <a:p>
            <a:pPr algn="l"/>
            <a:r>
              <a:rPr sz="1400" b="1" i="0">
                <a:solidFill>
                  <a:srgbClr val="10233A"/>
                </a:solidFill>
                <a:latin typeface="Segoe UI"/>
              </a:rPr>
              <a:t>The main reasons were:”</a:t>
            </a:r>
          </a:p>
        </p:txBody>
      </p:sp>
      <p:sp>
        <p:nvSpPr>
          <p:cNvPr id="14" name="Oval 13"/>
          <p:cNvSpPr/>
          <p:nvPr/>
        </p:nvSpPr>
        <p:spPr>
          <a:xfrm>
            <a:off x="914400" y="3017520"/>
            <a:ext cx="237744" cy="237744"/>
          </a:xfrm>
          <a:prstGeom prst="ellipse">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Segoe UI"/>
              </a:rPr>
              <a:t>1</a:t>
            </a:r>
          </a:p>
        </p:txBody>
      </p:sp>
      <p:sp>
        <p:nvSpPr>
          <p:cNvPr id="15" name="TextBox 14"/>
          <p:cNvSpPr txBox="1"/>
          <p:nvPr/>
        </p:nvSpPr>
        <p:spPr>
          <a:xfrm>
            <a:off x="1280160" y="2999232"/>
            <a:ext cx="4389120" cy="329184"/>
          </a:xfrm>
          <a:prstGeom prst="rect">
            <a:avLst/>
          </a:prstGeom>
          <a:noFill/>
        </p:spPr>
        <p:txBody>
          <a:bodyPr wrap="square">
            <a:noAutofit/>
          </a:bodyPr>
          <a:lstStyle/>
          <a:p>
            <a:pPr algn="l"/>
            <a:r>
              <a:rPr sz="1250" b="0" i="0">
                <a:solidFill>
                  <a:srgbClr val="10233A"/>
                </a:solidFill>
                <a:latin typeface="Segoe UI"/>
              </a:rPr>
              <a:t>Your external credit score is low</a:t>
            </a:r>
          </a:p>
        </p:txBody>
      </p:sp>
      <p:sp>
        <p:nvSpPr>
          <p:cNvPr id="16" name="Oval 15"/>
          <p:cNvSpPr/>
          <p:nvPr/>
        </p:nvSpPr>
        <p:spPr>
          <a:xfrm>
            <a:off x="914400" y="3438144"/>
            <a:ext cx="237744" cy="237744"/>
          </a:xfrm>
          <a:prstGeom prst="ellipse">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Segoe UI"/>
              </a:rPr>
              <a:t>2</a:t>
            </a:r>
          </a:p>
        </p:txBody>
      </p:sp>
      <p:sp>
        <p:nvSpPr>
          <p:cNvPr id="17" name="TextBox 16"/>
          <p:cNvSpPr txBox="1"/>
          <p:nvPr/>
        </p:nvSpPr>
        <p:spPr>
          <a:xfrm>
            <a:off x="1280160" y="3419856"/>
            <a:ext cx="4389120" cy="329184"/>
          </a:xfrm>
          <a:prstGeom prst="rect">
            <a:avLst/>
          </a:prstGeom>
          <a:noFill/>
        </p:spPr>
        <p:txBody>
          <a:bodyPr wrap="square">
            <a:noAutofit/>
          </a:bodyPr>
          <a:lstStyle/>
          <a:p>
            <a:pPr algn="l"/>
            <a:r>
              <a:rPr sz="1250" b="0" i="0">
                <a:solidFill>
                  <a:srgbClr val="10233A"/>
                </a:solidFill>
                <a:latin typeface="Segoe UI"/>
              </a:rPr>
              <a:t>You have amounts past due with other lenders</a:t>
            </a:r>
          </a:p>
        </p:txBody>
      </p:sp>
      <p:sp>
        <p:nvSpPr>
          <p:cNvPr id="18" name="Oval 17"/>
          <p:cNvSpPr/>
          <p:nvPr/>
        </p:nvSpPr>
        <p:spPr>
          <a:xfrm>
            <a:off x="914400" y="3858768"/>
            <a:ext cx="237744" cy="237744"/>
          </a:xfrm>
          <a:prstGeom prst="ellipse">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Segoe UI"/>
              </a:rPr>
              <a:t>3</a:t>
            </a:r>
          </a:p>
        </p:txBody>
      </p:sp>
      <p:sp>
        <p:nvSpPr>
          <p:cNvPr id="19" name="TextBox 18"/>
          <p:cNvSpPr txBox="1"/>
          <p:nvPr/>
        </p:nvSpPr>
        <p:spPr>
          <a:xfrm>
            <a:off x="1280160" y="3840480"/>
            <a:ext cx="4389120" cy="329184"/>
          </a:xfrm>
          <a:prstGeom prst="rect">
            <a:avLst/>
          </a:prstGeom>
          <a:noFill/>
        </p:spPr>
        <p:txBody>
          <a:bodyPr wrap="square">
            <a:noAutofit/>
          </a:bodyPr>
          <a:lstStyle/>
          <a:p>
            <a:pPr algn="l"/>
            <a:r>
              <a:rPr sz="1250" b="0" i="0">
                <a:solidFill>
                  <a:srgbClr val="10233A"/>
                </a:solidFill>
                <a:latin typeface="Segoe UI"/>
              </a:rPr>
              <a:t>You are using a high share of your existing credit</a:t>
            </a:r>
          </a:p>
        </p:txBody>
      </p:sp>
      <p:sp>
        <p:nvSpPr>
          <p:cNvPr id="20" name="Oval 19"/>
          <p:cNvSpPr/>
          <p:nvPr/>
        </p:nvSpPr>
        <p:spPr>
          <a:xfrm>
            <a:off x="914400" y="4279392"/>
            <a:ext cx="237744" cy="237744"/>
          </a:xfrm>
          <a:prstGeom prst="ellipse">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Segoe UI"/>
              </a:rPr>
              <a:t>4</a:t>
            </a:r>
          </a:p>
        </p:txBody>
      </p:sp>
      <p:sp>
        <p:nvSpPr>
          <p:cNvPr id="21" name="TextBox 20"/>
          <p:cNvSpPr txBox="1"/>
          <p:nvPr/>
        </p:nvSpPr>
        <p:spPr>
          <a:xfrm>
            <a:off x="1280160" y="4261104"/>
            <a:ext cx="4389120" cy="329184"/>
          </a:xfrm>
          <a:prstGeom prst="rect">
            <a:avLst/>
          </a:prstGeom>
          <a:noFill/>
        </p:spPr>
        <p:txBody>
          <a:bodyPr wrap="square">
            <a:noAutofit/>
          </a:bodyPr>
          <a:lstStyle/>
          <a:p>
            <a:pPr algn="l"/>
            <a:r>
              <a:rPr sz="1250" b="0" i="0">
                <a:solidFill>
                  <a:srgbClr val="10233A"/>
                </a:solidFill>
                <a:latin typeface="Segoe UI"/>
              </a:rPr>
              <a:t>Payments elsewhere have been past due</a:t>
            </a:r>
          </a:p>
        </p:txBody>
      </p:sp>
      <p:sp>
        <p:nvSpPr>
          <p:cNvPr id="22" name="TextBox 21"/>
          <p:cNvSpPr txBox="1"/>
          <p:nvPr/>
        </p:nvSpPr>
        <p:spPr>
          <a:xfrm>
            <a:off x="896112" y="4864608"/>
            <a:ext cx="4754880" cy="411480"/>
          </a:xfrm>
          <a:prstGeom prst="rect">
            <a:avLst/>
          </a:prstGeom>
          <a:noFill/>
        </p:spPr>
        <p:txBody>
          <a:bodyPr wrap="square">
            <a:noAutofit/>
          </a:bodyPr>
          <a:lstStyle/>
          <a:p>
            <a:pPr algn="l"/>
            <a:r>
              <a:rPr sz="1000" b="0" i="1">
                <a:solidFill>
                  <a:srgbClr val="56677B"/>
                </a:solidFill>
                <a:latin typeface="Segoe UI"/>
              </a:rPr>
              <a:t>Plain language, no column names. Generated automatically for every decline.</a:t>
            </a:r>
          </a:p>
        </p:txBody>
      </p:sp>
      <p:sp>
        <p:nvSpPr>
          <p:cNvPr id="23" name="Rounded Rectangle 22"/>
          <p:cNvSpPr/>
          <p:nvPr/>
        </p:nvSpPr>
        <p:spPr>
          <a:xfrm>
            <a:off x="6035040" y="1737360"/>
            <a:ext cx="5513832" cy="370332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35040" y="1737360"/>
            <a:ext cx="50292" cy="370332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1883664"/>
            <a:ext cx="4937760" cy="274320"/>
          </a:xfrm>
          <a:prstGeom prst="rect">
            <a:avLst/>
          </a:prstGeom>
          <a:noFill/>
        </p:spPr>
        <p:txBody>
          <a:bodyPr wrap="square">
            <a:noAutofit/>
          </a:bodyPr>
          <a:lstStyle/>
          <a:p>
            <a:pPr algn="l"/>
            <a:r>
              <a:rPr sz="950" b="1" i="0">
                <a:solidFill>
                  <a:srgbClr val="002856"/>
                </a:solidFill>
                <a:latin typeface="Segoe UI"/>
              </a:rPr>
              <a:t>WHERE THOSE REASONS COME FROM</a:t>
            </a:r>
          </a:p>
        </p:txBody>
      </p:sp>
      <p:sp>
        <p:nvSpPr>
          <p:cNvPr id="26" name="TextBox 25"/>
          <p:cNvSpPr txBox="1"/>
          <p:nvPr/>
        </p:nvSpPr>
        <p:spPr>
          <a:xfrm>
            <a:off x="6309360" y="2157984"/>
            <a:ext cx="4983480" cy="365760"/>
          </a:xfrm>
          <a:prstGeom prst="rect">
            <a:avLst/>
          </a:prstGeom>
          <a:noFill/>
        </p:spPr>
        <p:txBody>
          <a:bodyPr wrap="square">
            <a:noAutofit/>
          </a:bodyPr>
          <a:lstStyle/>
          <a:p>
            <a:pPr algn="l"/>
            <a:r>
              <a:rPr sz="1200" b="0" i="0">
                <a:solidFill>
                  <a:srgbClr val="10233A"/>
                </a:solidFill>
                <a:latin typeface="Segoe UI"/>
              </a:rPr>
              <a:t>The model returns the score already broken into the factors that built it.</a:t>
            </a:r>
          </a:p>
        </p:txBody>
      </p:sp>
      <p:sp>
        <p:nvSpPr>
          <p:cNvPr id="27" name="TextBox 26"/>
          <p:cNvSpPr txBox="1"/>
          <p:nvPr/>
        </p:nvSpPr>
        <p:spPr>
          <a:xfrm>
            <a:off x="6309360" y="2660904"/>
            <a:ext cx="2514600" cy="310896"/>
          </a:xfrm>
          <a:prstGeom prst="rect">
            <a:avLst/>
          </a:prstGeom>
          <a:noFill/>
        </p:spPr>
        <p:txBody>
          <a:bodyPr wrap="square">
            <a:noAutofit/>
          </a:bodyPr>
          <a:lstStyle/>
          <a:p>
            <a:pPr algn="l"/>
            <a:r>
              <a:rPr sz="1050" b="0" i="0">
                <a:solidFill>
                  <a:srgbClr val="10233A"/>
                </a:solidFill>
                <a:latin typeface="Segoe UI"/>
              </a:rPr>
              <a:t>Low external credit score</a:t>
            </a:r>
          </a:p>
        </p:txBody>
      </p:sp>
      <p:sp>
        <p:nvSpPr>
          <p:cNvPr id="28" name="Rectangle 27"/>
          <p:cNvSpPr/>
          <p:nvPr/>
        </p:nvSpPr>
        <p:spPr>
          <a:xfrm>
            <a:off x="8796528" y="2724912"/>
            <a:ext cx="2148840" cy="182880"/>
          </a:xfrm>
          <a:prstGeom prst="rect">
            <a:avLst/>
          </a:prstGeom>
          <a:solidFill>
            <a:srgbClr val="E3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796528" y="2724912"/>
            <a:ext cx="2148840" cy="18288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36807" y="2660904"/>
            <a:ext cx="685800" cy="274320"/>
          </a:xfrm>
          <a:prstGeom prst="rect">
            <a:avLst/>
          </a:prstGeom>
          <a:noFill/>
        </p:spPr>
        <p:txBody>
          <a:bodyPr wrap="square">
            <a:noAutofit/>
          </a:bodyPr>
          <a:lstStyle/>
          <a:p>
            <a:pPr algn="l"/>
            <a:r>
              <a:rPr sz="1050" b="1" i="0">
                <a:solidFill>
                  <a:srgbClr val="56677B"/>
                </a:solidFill>
                <a:latin typeface="Segoe UI"/>
              </a:rPr>
              <a:t>+2.22</a:t>
            </a:r>
          </a:p>
        </p:txBody>
      </p:sp>
      <p:sp>
        <p:nvSpPr>
          <p:cNvPr id="31" name="TextBox 30"/>
          <p:cNvSpPr txBox="1"/>
          <p:nvPr/>
        </p:nvSpPr>
        <p:spPr>
          <a:xfrm>
            <a:off x="6309360" y="3081528"/>
            <a:ext cx="2514600" cy="310896"/>
          </a:xfrm>
          <a:prstGeom prst="rect">
            <a:avLst/>
          </a:prstGeom>
          <a:noFill/>
        </p:spPr>
        <p:txBody>
          <a:bodyPr wrap="square">
            <a:noAutofit/>
          </a:bodyPr>
          <a:lstStyle/>
          <a:p>
            <a:pPr algn="l"/>
            <a:r>
              <a:rPr sz="1050" b="0" i="0">
                <a:solidFill>
                  <a:srgbClr val="10233A"/>
                </a:solidFill>
                <a:latin typeface="Segoe UI"/>
              </a:rPr>
              <a:t>Amounts past due elsewhere</a:t>
            </a:r>
          </a:p>
        </p:txBody>
      </p:sp>
      <p:sp>
        <p:nvSpPr>
          <p:cNvPr id="32" name="Rectangle 31"/>
          <p:cNvSpPr/>
          <p:nvPr/>
        </p:nvSpPr>
        <p:spPr>
          <a:xfrm>
            <a:off x="8796528" y="3145536"/>
            <a:ext cx="2148840" cy="182880"/>
          </a:xfrm>
          <a:prstGeom prst="rect">
            <a:avLst/>
          </a:prstGeom>
          <a:solidFill>
            <a:srgbClr val="E3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96528" y="3145536"/>
            <a:ext cx="464614" cy="18288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36807" y="3081528"/>
            <a:ext cx="685800" cy="274320"/>
          </a:xfrm>
          <a:prstGeom prst="rect">
            <a:avLst/>
          </a:prstGeom>
          <a:noFill/>
        </p:spPr>
        <p:txBody>
          <a:bodyPr wrap="square">
            <a:noAutofit/>
          </a:bodyPr>
          <a:lstStyle/>
          <a:p>
            <a:pPr algn="l"/>
            <a:r>
              <a:rPr sz="1050" b="1" i="0">
                <a:solidFill>
                  <a:srgbClr val="56677B"/>
                </a:solidFill>
                <a:latin typeface="Segoe UI"/>
              </a:rPr>
              <a:t>+0.48</a:t>
            </a:r>
          </a:p>
        </p:txBody>
      </p:sp>
      <p:sp>
        <p:nvSpPr>
          <p:cNvPr id="35" name="TextBox 34"/>
          <p:cNvSpPr txBox="1"/>
          <p:nvPr/>
        </p:nvSpPr>
        <p:spPr>
          <a:xfrm>
            <a:off x="6309360" y="3502152"/>
            <a:ext cx="2514600" cy="310896"/>
          </a:xfrm>
          <a:prstGeom prst="rect">
            <a:avLst/>
          </a:prstGeom>
          <a:noFill/>
        </p:spPr>
        <p:txBody>
          <a:bodyPr wrap="square">
            <a:noAutofit/>
          </a:bodyPr>
          <a:lstStyle/>
          <a:p>
            <a:pPr algn="l"/>
            <a:r>
              <a:rPr sz="1050" b="0" i="0">
                <a:solidFill>
                  <a:srgbClr val="10233A"/>
                </a:solidFill>
                <a:latin typeface="Segoe UI"/>
              </a:rPr>
              <a:t>High utilisation of existing credit</a:t>
            </a:r>
          </a:p>
        </p:txBody>
      </p:sp>
      <p:sp>
        <p:nvSpPr>
          <p:cNvPr id="36" name="Rectangle 35"/>
          <p:cNvSpPr/>
          <p:nvPr/>
        </p:nvSpPr>
        <p:spPr>
          <a:xfrm>
            <a:off x="8796528" y="3566160"/>
            <a:ext cx="2148840" cy="182880"/>
          </a:xfrm>
          <a:prstGeom prst="rect">
            <a:avLst/>
          </a:prstGeom>
          <a:solidFill>
            <a:srgbClr val="E3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796528" y="3566160"/>
            <a:ext cx="203268" cy="18288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036807" y="3502152"/>
            <a:ext cx="685800" cy="274320"/>
          </a:xfrm>
          <a:prstGeom prst="rect">
            <a:avLst/>
          </a:prstGeom>
          <a:noFill/>
        </p:spPr>
        <p:txBody>
          <a:bodyPr wrap="square">
            <a:noAutofit/>
          </a:bodyPr>
          <a:lstStyle/>
          <a:p>
            <a:pPr algn="l"/>
            <a:r>
              <a:rPr sz="1050" b="1" i="0">
                <a:solidFill>
                  <a:srgbClr val="56677B"/>
                </a:solidFill>
                <a:latin typeface="Segoe UI"/>
              </a:rPr>
              <a:t>+0.21</a:t>
            </a:r>
          </a:p>
        </p:txBody>
      </p:sp>
      <p:sp>
        <p:nvSpPr>
          <p:cNvPr id="39" name="TextBox 38"/>
          <p:cNvSpPr txBox="1"/>
          <p:nvPr/>
        </p:nvSpPr>
        <p:spPr>
          <a:xfrm>
            <a:off x="6309360" y="3922776"/>
            <a:ext cx="2514600" cy="310896"/>
          </a:xfrm>
          <a:prstGeom prst="rect">
            <a:avLst/>
          </a:prstGeom>
          <a:noFill/>
        </p:spPr>
        <p:txBody>
          <a:bodyPr wrap="square">
            <a:noAutofit/>
          </a:bodyPr>
          <a:lstStyle/>
          <a:p>
            <a:pPr algn="l"/>
            <a:r>
              <a:rPr sz="1050" b="0" i="0">
                <a:solidFill>
                  <a:srgbClr val="10233A"/>
                </a:solidFill>
                <a:latin typeface="Segoe UI"/>
              </a:rPr>
              <a:t>Past-due payment history</a:t>
            </a:r>
          </a:p>
        </p:txBody>
      </p:sp>
      <p:sp>
        <p:nvSpPr>
          <p:cNvPr id="40" name="Rectangle 39"/>
          <p:cNvSpPr/>
          <p:nvPr/>
        </p:nvSpPr>
        <p:spPr>
          <a:xfrm>
            <a:off x="8796528" y="3986784"/>
            <a:ext cx="2148840" cy="182880"/>
          </a:xfrm>
          <a:prstGeom prst="rect">
            <a:avLst/>
          </a:prstGeom>
          <a:solidFill>
            <a:srgbClr val="E3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796528" y="3986784"/>
            <a:ext cx="203268" cy="18288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036807" y="3922776"/>
            <a:ext cx="685800" cy="274320"/>
          </a:xfrm>
          <a:prstGeom prst="rect">
            <a:avLst/>
          </a:prstGeom>
          <a:noFill/>
        </p:spPr>
        <p:txBody>
          <a:bodyPr wrap="square">
            <a:noAutofit/>
          </a:bodyPr>
          <a:lstStyle/>
          <a:p>
            <a:pPr algn="l"/>
            <a:r>
              <a:rPr sz="1050" b="1" i="0">
                <a:solidFill>
                  <a:srgbClr val="56677B"/>
                </a:solidFill>
                <a:latin typeface="Segoe UI"/>
              </a:rPr>
              <a:t>+0.21</a:t>
            </a:r>
          </a:p>
        </p:txBody>
      </p:sp>
      <p:sp>
        <p:nvSpPr>
          <p:cNvPr id="43" name="Rectangle 42"/>
          <p:cNvSpPr/>
          <p:nvPr/>
        </p:nvSpPr>
        <p:spPr>
          <a:xfrm>
            <a:off x="6309360" y="4407408"/>
            <a:ext cx="4983480" cy="12801"/>
          </a:xfrm>
          <a:prstGeom prst="rect">
            <a:avLst/>
          </a:prstGeom>
          <a:solidFill>
            <a:srgbClr val="D8E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4498848"/>
            <a:ext cx="3108960" cy="292608"/>
          </a:xfrm>
          <a:prstGeom prst="rect">
            <a:avLst/>
          </a:prstGeom>
          <a:noFill/>
        </p:spPr>
        <p:txBody>
          <a:bodyPr wrap="square">
            <a:noAutofit/>
          </a:bodyPr>
          <a:lstStyle/>
          <a:p>
            <a:pPr algn="l"/>
            <a:r>
              <a:rPr sz="1150" b="1" i="0">
                <a:solidFill>
                  <a:srgbClr val="10233A"/>
                </a:solidFill>
                <a:latin typeface="Segoe UI"/>
              </a:rPr>
              <a:t>These add up to the score exactly</a:t>
            </a:r>
          </a:p>
        </p:txBody>
      </p:sp>
      <p:sp>
        <p:nvSpPr>
          <p:cNvPr id="45" name="TextBox 44"/>
          <p:cNvSpPr txBox="1"/>
          <p:nvPr/>
        </p:nvSpPr>
        <p:spPr>
          <a:xfrm>
            <a:off x="10378440" y="4443984"/>
            <a:ext cx="914400" cy="384048"/>
          </a:xfrm>
          <a:prstGeom prst="rect">
            <a:avLst/>
          </a:prstGeom>
          <a:noFill/>
        </p:spPr>
        <p:txBody>
          <a:bodyPr wrap="square">
            <a:noAutofit/>
          </a:bodyPr>
          <a:lstStyle/>
          <a:p>
            <a:pPr algn="r"/>
            <a:r>
              <a:rPr sz="1900" b="1" i="0">
                <a:solidFill>
                  <a:srgbClr val="B83A2E"/>
                </a:solidFill>
                <a:latin typeface="Segoe UI Semibold"/>
              </a:rPr>
              <a:t>72.6%</a:t>
            </a:r>
          </a:p>
        </p:txBody>
      </p:sp>
      <p:sp>
        <p:nvSpPr>
          <p:cNvPr id="46" name="TextBox 45"/>
          <p:cNvSpPr txBox="1"/>
          <p:nvPr/>
        </p:nvSpPr>
        <p:spPr>
          <a:xfrm>
            <a:off x="6309360" y="4882896"/>
            <a:ext cx="4983480" cy="548640"/>
          </a:xfrm>
          <a:prstGeom prst="rect">
            <a:avLst/>
          </a:prstGeom>
          <a:noFill/>
        </p:spPr>
        <p:txBody>
          <a:bodyPr wrap="square">
            <a:noAutofit/>
          </a:bodyPr>
          <a:lstStyle/>
          <a:p>
            <a:pPr algn="l"/>
            <a:r>
              <a:rPr sz="1050" b="0" i="0">
                <a:solidFill>
                  <a:srgbClr val="56677B"/>
                </a:solidFill>
                <a:latin typeface="Segoe UI"/>
              </a:rPr>
              <a:t>so the four printed on the letter are the four largest pieces of this applicant’s own number, not a guess written afterwards.</a:t>
            </a:r>
          </a:p>
        </p:txBody>
      </p:sp>
      <p:sp>
        <p:nvSpPr>
          <p:cNvPr id="47" name="Rounded Rectangle 46"/>
          <p:cNvSpPr/>
          <p:nvPr/>
        </p:nvSpPr>
        <p:spPr>
          <a:xfrm>
            <a:off x="621792" y="5596128"/>
            <a:ext cx="10927080" cy="658368"/>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1792" y="5596128"/>
            <a:ext cx="50292" cy="658368"/>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9536" y="5705856"/>
            <a:ext cx="10469880" cy="256032"/>
          </a:xfrm>
          <a:prstGeom prst="rect">
            <a:avLst/>
          </a:prstGeom>
          <a:noFill/>
        </p:spPr>
        <p:txBody>
          <a:bodyPr wrap="square">
            <a:noAutofit/>
          </a:bodyPr>
          <a:lstStyle/>
          <a:p>
            <a:pPr algn="l"/>
            <a:r>
              <a:rPr sz="950" b="1" i="0">
                <a:solidFill>
                  <a:srgbClr val="0B8F86"/>
                </a:solidFill>
                <a:latin typeface="Segoe UI"/>
              </a:rPr>
              <a:t>WHY THIS MATTERS</a:t>
            </a:r>
          </a:p>
        </p:txBody>
      </p:sp>
      <p:sp>
        <p:nvSpPr>
          <p:cNvPr id="50" name="TextBox 49"/>
          <p:cNvSpPr txBox="1"/>
          <p:nvPr/>
        </p:nvSpPr>
        <p:spPr>
          <a:xfrm>
            <a:off x="859536" y="5980176"/>
            <a:ext cx="10469880" cy="201167"/>
          </a:xfrm>
          <a:prstGeom prst="rect">
            <a:avLst/>
          </a:prstGeom>
          <a:noFill/>
        </p:spPr>
        <p:txBody>
          <a:bodyPr wrap="square">
            <a:noAutofit/>
          </a:bodyPr>
          <a:lstStyle/>
          <a:p>
            <a:pPr algn="l"/>
            <a:r>
              <a:rPr sz="1200" b="0" i="0">
                <a:solidFill>
                  <a:srgbClr val="10233A"/>
                </a:solidFill>
                <a:latin typeface="Segoe UI"/>
              </a:rPr>
              <a:t>Compliance is not written after the decision. It falls out of the same arithmetic that made it, so the stated reason can never drift from the real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09</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2014194" cy="292608"/>
          </a:xfrm>
          <a:prstGeom prst="roundRect">
            <a:avLst>
              <a:gd name="adj" fmla="val 50000"/>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RISK REGISTER</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Three limitations, each with a named control</a:t>
            </a:r>
          </a:p>
        </p:txBody>
      </p:sp>
      <p:sp>
        <p:nvSpPr>
          <p:cNvPr id="9" name="Rounded Rectangle 8"/>
          <p:cNvSpPr/>
          <p:nvPr/>
        </p:nvSpPr>
        <p:spPr>
          <a:xfrm>
            <a:off x="621792" y="1783080"/>
            <a:ext cx="10927080" cy="1207008"/>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783080"/>
            <a:ext cx="50292" cy="1207008"/>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29384"/>
            <a:ext cx="2651760" cy="548640"/>
          </a:xfrm>
          <a:prstGeom prst="rect">
            <a:avLst/>
          </a:prstGeom>
          <a:noFill/>
        </p:spPr>
        <p:txBody>
          <a:bodyPr wrap="square">
            <a:noAutofit/>
          </a:bodyPr>
          <a:lstStyle/>
          <a:p>
            <a:pPr algn="l"/>
            <a:r>
              <a:rPr sz="1350" b="1" i="0">
                <a:solidFill>
                  <a:srgbClr val="10233A"/>
                </a:solidFill>
                <a:latin typeface="Segoe UI"/>
              </a:rPr>
              <a:t>Macroeconomic shift</a:t>
            </a:r>
          </a:p>
        </p:txBody>
      </p:sp>
      <p:sp>
        <p:nvSpPr>
          <p:cNvPr id="12" name="TextBox 11"/>
          <p:cNvSpPr txBox="1"/>
          <p:nvPr/>
        </p:nvSpPr>
        <p:spPr>
          <a:xfrm>
            <a:off x="3611880" y="1947672"/>
            <a:ext cx="3657600" cy="822960"/>
          </a:xfrm>
          <a:prstGeom prst="rect">
            <a:avLst/>
          </a:prstGeom>
          <a:noFill/>
        </p:spPr>
        <p:txBody>
          <a:bodyPr wrap="square">
            <a:noAutofit/>
          </a:bodyPr>
          <a:lstStyle/>
          <a:p>
            <a:pPr algn="l"/>
            <a:r>
              <a:rPr sz="1100" b="0" i="0">
                <a:solidFill>
                  <a:srgbClr val="56677B"/>
                </a:solidFill>
                <a:latin typeface="Segoe UI"/>
              </a:rPr>
              <a:t>Everyone gets riskier at once and the model does not see it coming.</a:t>
            </a:r>
          </a:p>
        </p:txBody>
      </p:sp>
      <p:sp>
        <p:nvSpPr>
          <p:cNvPr id="13" name="TextBox 12"/>
          <p:cNvSpPr txBox="1"/>
          <p:nvPr/>
        </p:nvSpPr>
        <p:spPr>
          <a:xfrm>
            <a:off x="7360920" y="1947672"/>
            <a:ext cx="3931920" cy="640080"/>
          </a:xfrm>
          <a:prstGeom prst="rect">
            <a:avLst/>
          </a:prstGeom>
          <a:noFill/>
        </p:spPr>
        <p:txBody>
          <a:bodyPr wrap="square">
            <a:noAutofit/>
          </a:bodyPr>
          <a:lstStyle/>
          <a:p>
            <a:pPr algn="l"/>
            <a:r>
              <a:rPr sz="1100" b="0" i="0">
                <a:solidFill>
                  <a:srgbClr val="10233A"/>
                </a:solidFill>
                <a:latin typeface="Segoe UI"/>
              </a:rPr>
              <a:t>Drift tripwire, monthly. Test-fired on a simulated severe recession.</a:t>
            </a:r>
          </a:p>
        </p:txBody>
      </p:sp>
      <p:sp>
        <p:nvSpPr>
          <p:cNvPr id="14" name="Rounded Rectangle 13"/>
          <p:cNvSpPr/>
          <p:nvPr/>
        </p:nvSpPr>
        <p:spPr>
          <a:xfrm>
            <a:off x="8910828" y="2587752"/>
            <a:ext cx="2427732" cy="292608"/>
          </a:xfrm>
          <a:prstGeom prst="roundRect">
            <a:avLst>
              <a:gd name="adj" fmla="val 50000"/>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850" spc="70">
                <a:solidFill>
                  <a:srgbClr val="FFFFFF"/>
                </a:solidFill>
                <a:latin typeface="Segoe UI"/>
              </a:rPr>
              <a:t>TESTED, NOT PROMISED</a:t>
            </a:r>
          </a:p>
        </p:txBody>
      </p:sp>
      <p:sp>
        <p:nvSpPr>
          <p:cNvPr id="15" name="Rounded Rectangle 14"/>
          <p:cNvSpPr/>
          <p:nvPr/>
        </p:nvSpPr>
        <p:spPr>
          <a:xfrm>
            <a:off x="621792" y="3099815"/>
            <a:ext cx="10927080" cy="1207008"/>
          </a:xfrm>
          <a:prstGeom prst="roundRect">
            <a:avLst>
              <a:gd name="adj" fmla="val 3500"/>
            </a:avLst>
          </a:prstGeom>
          <a:solidFill>
            <a:srgbClr val="FB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 y="3099815"/>
            <a:ext cx="50292" cy="1207008"/>
          </a:xfrm>
          <a:prstGeom prst="rect">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46120"/>
            <a:ext cx="2651760" cy="548640"/>
          </a:xfrm>
          <a:prstGeom prst="rect">
            <a:avLst/>
          </a:prstGeom>
          <a:noFill/>
        </p:spPr>
        <p:txBody>
          <a:bodyPr wrap="square">
            <a:noAutofit/>
          </a:bodyPr>
          <a:lstStyle/>
          <a:p>
            <a:pPr algn="l"/>
            <a:r>
              <a:rPr sz="1350" b="1" i="0">
                <a:solidFill>
                  <a:srgbClr val="10233A"/>
                </a:solidFill>
                <a:latin typeface="Segoe UI"/>
              </a:rPr>
              <a:t>No out-of-time validation</a:t>
            </a:r>
          </a:p>
        </p:txBody>
      </p:sp>
      <p:sp>
        <p:nvSpPr>
          <p:cNvPr id="18" name="TextBox 17"/>
          <p:cNvSpPr txBox="1"/>
          <p:nvPr/>
        </p:nvSpPr>
        <p:spPr>
          <a:xfrm>
            <a:off x="3611880" y="3264408"/>
            <a:ext cx="3657600" cy="822960"/>
          </a:xfrm>
          <a:prstGeom prst="rect">
            <a:avLst/>
          </a:prstGeom>
          <a:noFill/>
        </p:spPr>
        <p:txBody>
          <a:bodyPr wrap="square">
            <a:noAutofit/>
          </a:bodyPr>
          <a:lstStyle/>
          <a:p>
            <a:pPr algn="l"/>
            <a:r>
              <a:rPr sz="1100" b="0" i="0">
                <a:solidFill>
                  <a:srgbClr val="56677B"/>
                </a:solidFill>
                <a:latin typeface="Segoe UI"/>
              </a:rPr>
              <a:t>The data carries no dates, so the model cannot be tested against another period.</a:t>
            </a:r>
          </a:p>
        </p:txBody>
      </p:sp>
      <p:sp>
        <p:nvSpPr>
          <p:cNvPr id="19" name="TextBox 18"/>
          <p:cNvSpPr txBox="1"/>
          <p:nvPr/>
        </p:nvSpPr>
        <p:spPr>
          <a:xfrm>
            <a:off x="7360920" y="3264408"/>
            <a:ext cx="3931920" cy="640080"/>
          </a:xfrm>
          <a:prstGeom prst="rect">
            <a:avLst/>
          </a:prstGeom>
          <a:noFill/>
        </p:spPr>
        <p:txBody>
          <a:bodyPr wrap="square">
            <a:noAutofit/>
          </a:bodyPr>
          <a:lstStyle/>
          <a:p>
            <a:pPr algn="l"/>
            <a:r>
              <a:rPr sz="1100" b="0" i="0">
                <a:solidFill>
                  <a:srgbClr val="10233A"/>
                </a:solidFill>
                <a:latin typeface="Segoe UI"/>
              </a:rPr>
              <a:t>Monthly retraining plus drift monitoring until dated cohorts exist.</a:t>
            </a:r>
          </a:p>
        </p:txBody>
      </p:sp>
      <p:sp>
        <p:nvSpPr>
          <p:cNvPr id="20" name="Rounded Rectangle 19"/>
          <p:cNvSpPr/>
          <p:nvPr/>
        </p:nvSpPr>
        <p:spPr>
          <a:xfrm>
            <a:off x="8910828" y="3904487"/>
            <a:ext cx="2427732" cy="292608"/>
          </a:xfrm>
          <a:prstGeom prst="roundRect">
            <a:avLst>
              <a:gd name="adj" fmla="val 50000"/>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850" spc="70">
                <a:solidFill>
                  <a:srgbClr val="FFFFFF"/>
                </a:solidFill>
                <a:latin typeface="Segoe UI"/>
              </a:rPr>
              <a:t>COMPENSATING CONTROL</a:t>
            </a:r>
          </a:p>
        </p:txBody>
      </p:sp>
      <p:sp>
        <p:nvSpPr>
          <p:cNvPr id="21" name="Rounded Rectangle 20"/>
          <p:cNvSpPr/>
          <p:nvPr/>
        </p:nvSpPr>
        <p:spPr>
          <a:xfrm>
            <a:off x="621792" y="4416552"/>
            <a:ext cx="10927080" cy="1207008"/>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 y="4416552"/>
            <a:ext cx="50292" cy="1207008"/>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562856"/>
            <a:ext cx="2651760" cy="548640"/>
          </a:xfrm>
          <a:prstGeom prst="rect">
            <a:avLst/>
          </a:prstGeom>
          <a:noFill/>
        </p:spPr>
        <p:txBody>
          <a:bodyPr wrap="square">
            <a:noAutofit/>
          </a:bodyPr>
          <a:lstStyle/>
          <a:p>
            <a:pPr algn="l"/>
            <a:r>
              <a:rPr sz="1350" b="1" i="0">
                <a:solidFill>
                  <a:srgbClr val="10233A"/>
                </a:solidFill>
                <a:latin typeface="Segoe UI"/>
              </a:rPr>
              <a:t>Approved-population bias</a:t>
            </a:r>
          </a:p>
        </p:txBody>
      </p:sp>
      <p:sp>
        <p:nvSpPr>
          <p:cNvPr id="24" name="TextBox 23"/>
          <p:cNvSpPr txBox="1"/>
          <p:nvPr/>
        </p:nvSpPr>
        <p:spPr>
          <a:xfrm>
            <a:off x="3611880" y="4581144"/>
            <a:ext cx="3657600" cy="822960"/>
          </a:xfrm>
          <a:prstGeom prst="rect">
            <a:avLst/>
          </a:prstGeom>
          <a:noFill/>
        </p:spPr>
        <p:txBody>
          <a:bodyPr wrap="square">
            <a:noAutofit/>
          </a:bodyPr>
          <a:lstStyle/>
          <a:p>
            <a:pPr algn="l"/>
            <a:r>
              <a:rPr sz="1100" b="0" i="0">
                <a:solidFill>
                  <a:srgbClr val="56677B"/>
                </a:solidFill>
                <a:latin typeface="Segoe UI"/>
              </a:rPr>
              <a:t>JARVIS has only ever seen applicants the old process said yes to.</a:t>
            </a:r>
          </a:p>
        </p:txBody>
      </p:sp>
      <p:sp>
        <p:nvSpPr>
          <p:cNvPr id="25" name="TextBox 24"/>
          <p:cNvSpPr txBox="1"/>
          <p:nvPr/>
        </p:nvSpPr>
        <p:spPr>
          <a:xfrm>
            <a:off x="7360920" y="4581144"/>
            <a:ext cx="3931920" cy="640080"/>
          </a:xfrm>
          <a:prstGeom prst="rect">
            <a:avLst/>
          </a:prstGeom>
          <a:noFill/>
        </p:spPr>
        <p:txBody>
          <a:bodyPr wrap="square">
            <a:noAutofit/>
          </a:bodyPr>
          <a:lstStyle/>
          <a:p>
            <a:pPr algn="l"/>
            <a:r>
              <a:rPr sz="1100" b="0" i="0">
                <a:solidFill>
                  <a:srgbClr val="10233A"/>
                </a:solidFill>
                <a:latin typeface="Segoe UI"/>
              </a:rPr>
              <a:t>Thin files route to a human reviewer. Reject inference is first on the roadmap.</a:t>
            </a:r>
          </a:p>
        </p:txBody>
      </p:sp>
      <p:sp>
        <p:nvSpPr>
          <p:cNvPr id="26" name="Rounded Rectangle 25"/>
          <p:cNvSpPr/>
          <p:nvPr/>
        </p:nvSpPr>
        <p:spPr>
          <a:xfrm>
            <a:off x="9225610" y="5221224"/>
            <a:ext cx="2112949"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850" spc="70">
                <a:solidFill>
                  <a:srgbClr val="FFFFFF"/>
                </a:solidFill>
                <a:latin typeface="Segoe UI"/>
              </a:rPr>
              <a:t>HUMAN IN THE LOOP</a:t>
            </a:r>
          </a:p>
        </p:txBody>
      </p:sp>
      <p:sp>
        <p:nvSpPr>
          <p:cNvPr id="27" name="TextBox 26"/>
          <p:cNvSpPr txBox="1"/>
          <p:nvPr/>
        </p:nvSpPr>
        <p:spPr>
          <a:xfrm>
            <a:off x="3611880" y="1572768"/>
            <a:ext cx="1828800" cy="228600"/>
          </a:xfrm>
          <a:prstGeom prst="rect">
            <a:avLst/>
          </a:prstGeom>
          <a:noFill/>
        </p:spPr>
        <p:txBody>
          <a:bodyPr wrap="square">
            <a:noAutofit/>
          </a:bodyPr>
          <a:lstStyle/>
          <a:p>
            <a:pPr algn="l"/>
            <a:r>
              <a:rPr sz="900" b="1" i="0">
                <a:solidFill>
                  <a:srgbClr val="8E9DAF"/>
                </a:solidFill>
                <a:latin typeface="Segoe UI"/>
              </a:rPr>
              <a:t>RISK</a:t>
            </a:r>
          </a:p>
        </p:txBody>
      </p:sp>
      <p:sp>
        <p:nvSpPr>
          <p:cNvPr id="28" name="TextBox 27"/>
          <p:cNvSpPr txBox="1"/>
          <p:nvPr/>
        </p:nvSpPr>
        <p:spPr>
          <a:xfrm>
            <a:off x="7360920" y="1572768"/>
            <a:ext cx="1828800" cy="228600"/>
          </a:xfrm>
          <a:prstGeom prst="rect">
            <a:avLst/>
          </a:prstGeom>
          <a:noFill/>
        </p:spPr>
        <p:txBody>
          <a:bodyPr wrap="square">
            <a:noAutofit/>
          </a:bodyPr>
          <a:lstStyle/>
          <a:p>
            <a:pPr algn="l"/>
            <a:r>
              <a:rPr sz="900" b="1" i="0">
                <a:solidFill>
                  <a:srgbClr val="8E9DAF"/>
                </a:solidFill>
                <a:latin typeface="Segoe UI"/>
              </a:rPr>
              <a:t>CONTROL</a:t>
            </a:r>
          </a:p>
        </p:txBody>
      </p:sp>
      <p:sp>
        <p:nvSpPr>
          <p:cNvPr id="29" name="Rounded Rectangle 28"/>
          <p:cNvSpPr/>
          <p:nvPr/>
        </p:nvSpPr>
        <p:spPr>
          <a:xfrm>
            <a:off x="621792" y="5669280"/>
            <a:ext cx="10927080" cy="713232"/>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 y="5669280"/>
            <a:ext cx="50292" cy="713232"/>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 y="5779008"/>
            <a:ext cx="10469880" cy="256032"/>
          </a:xfrm>
          <a:prstGeom prst="rect">
            <a:avLst/>
          </a:prstGeom>
          <a:noFill/>
        </p:spPr>
        <p:txBody>
          <a:bodyPr wrap="square">
            <a:noAutofit/>
          </a:bodyPr>
          <a:lstStyle/>
          <a:p>
            <a:pPr algn="l"/>
            <a:r>
              <a:rPr sz="950" b="1" i="0">
                <a:solidFill>
                  <a:srgbClr val="0B8F86"/>
                </a:solidFill>
                <a:latin typeface="Segoe UI"/>
              </a:rPr>
              <a:t>POSITION</a:t>
            </a:r>
          </a:p>
        </p:txBody>
      </p:sp>
      <p:sp>
        <p:nvSpPr>
          <p:cNvPr id="32" name="TextBox 31"/>
          <p:cNvSpPr txBox="1"/>
          <p:nvPr/>
        </p:nvSpPr>
        <p:spPr>
          <a:xfrm>
            <a:off x="859536" y="6053328"/>
            <a:ext cx="10469880" cy="256032"/>
          </a:xfrm>
          <a:prstGeom prst="rect">
            <a:avLst/>
          </a:prstGeom>
          <a:noFill/>
        </p:spPr>
        <p:txBody>
          <a:bodyPr wrap="square">
            <a:noAutofit/>
          </a:bodyPr>
          <a:lstStyle/>
          <a:p>
            <a:pPr algn="l"/>
            <a:r>
              <a:rPr sz="1150" b="0" i="0">
                <a:solidFill>
                  <a:srgbClr val="10233A"/>
                </a:solidFill>
                <a:latin typeface="Segoe UI"/>
              </a:rPr>
              <a:t>A model whose blind spots are named and instrumented is safer than one that looks flawless.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10</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2143810" cy="292608"/>
          </a:xfrm>
          <a:prstGeom prst="roundRect">
            <a:avLst>
              <a:gd name="adj" fmla="val 50000"/>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FAIRNESS AUDIT</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The audit failed, and fixing it cost almost nothing</a:t>
            </a:r>
          </a:p>
        </p:txBody>
      </p:sp>
      <p:sp>
        <p:nvSpPr>
          <p:cNvPr id="9" name="Rounded Rectangle 8"/>
          <p:cNvSpPr/>
          <p:nvPr/>
        </p:nvSpPr>
        <p:spPr>
          <a:xfrm>
            <a:off x="621792" y="1783080"/>
            <a:ext cx="5349240" cy="2148840"/>
          </a:xfrm>
          <a:prstGeom prst="roundRect">
            <a:avLst>
              <a:gd name="adj" fmla="val 3500"/>
            </a:avLst>
          </a:prstGeom>
          <a:solidFill>
            <a:srgbClr val="FBECEA"/>
          </a:solidFill>
          <a:ln w="12700">
            <a:solidFill>
              <a:srgbClr val="B83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783080"/>
            <a:ext cx="50292" cy="2148840"/>
          </a:xfrm>
          <a:prstGeom prst="rect">
            <a:avLst/>
          </a:prstGeom>
          <a:solidFill>
            <a:srgbClr val="B8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38528"/>
            <a:ext cx="4754880" cy="274320"/>
          </a:xfrm>
          <a:prstGeom prst="rect">
            <a:avLst/>
          </a:prstGeom>
          <a:noFill/>
        </p:spPr>
        <p:txBody>
          <a:bodyPr wrap="square">
            <a:noAutofit/>
          </a:bodyPr>
          <a:lstStyle/>
          <a:p>
            <a:pPr algn="l"/>
            <a:r>
              <a:rPr sz="1050" b="1" i="0">
                <a:solidFill>
                  <a:srgbClr val="B83A2E"/>
                </a:solidFill>
                <a:latin typeface="Segoe UI"/>
              </a:rPr>
              <a:t>THE DEFECT</a:t>
            </a:r>
          </a:p>
        </p:txBody>
      </p:sp>
      <p:sp>
        <p:nvSpPr>
          <p:cNvPr id="12" name="TextBox 11"/>
          <p:cNvSpPr txBox="1"/>
          <p:nvPr/>
        </p:nvSpPr>
        <p:spPr>
          <a:xfrm>
            <a:off x="896112" y="2240280"/>
            <a:ext cx="4846320" cy="731520"/>
          </a:xfrm>
          <a:prstGeom prst="rect">
            <a:avLst/>
          </a:prstGeom>
          <a:noFill/>
        </p:spPr>
        <p:txBody>
          <a:bodyPr wrap="square">
            <a:noAutofit/>
          </a:bodyPr>
          <a:lstStyle/>
          <a:p>
            <a:pPr algn="l"/>
            <a:r>
              <a:rPr sz="1300" b="0" i="0">
                <a:solidFill>
                  <a:srgbClr val="10233A"/>
                </a:solidFill>
                <a:latin typeface="Segoe UI"/>
              </a:rPr>
              <a:t>Gender was a model input. That is prohibited in credit decisions regardless of how much accuracy it buys.</a:t>
            </a:r>
          </a:p>
        </p:txBody>
      </p:sp>
      <p:sp>
        <p:nvSpPr>
          <p:cNvPr id="13" name="TextBox 12"/>
          <p:cNvSpPr txBox="1"/>
          <p:nvPr/>
        </p:nvSpPr>
        <p:spPr>
          <a:xfrm>
            <a:off x="896112" y="2971800"/>
            <a:ext cx="3291840" cy="274320"/>
          </a:xfrm>
          <a:prstGeom prst="rect">
            <a:avLst/>
          </a:prstGeom>
          <a:noFill/>
        </p:spPr>
        <p:txBody>
          <a:bodyPr wrap="square">
            <a:noAutofit/>
          </a:bodyPr>
          <a:lstStyle/>
          <a:p>
            <a:pPr algn="l"/>
            <a:r>
              <a:rPr sz="1100" b="0" i="0">
                <a:solidFill>
                  <a:srgbClr val="56677B"/>
                </a:solidFill>
                <a:latin typeface="Segoe UI"/>
              </a:rPr>
              <a:t>Male adverse-impact ratio</a:t>
            </a:r>
          </a:p>
        </p:txBody>
      </p:sp>
      <p:sp>
        <p:nvSpPr>
          <p:cNvPr id="14" name="TextBox 13"/>
          <p:cNvSpPr txBox="1"/>
          <p:nvPr/>
        </p:nvSpPr>
        <p:spPr>
          <a:xfrm>
            <a:off x="4480560" y="2926080"/>
            <a:ext cx="1280160" cy="365760"/>
          </a:xfrm>
          <a:prstGeom prst="rect">
            <a:avLst/>
          </a:prstGeom>
          <a:noFill/>
        </p:spPr>
        <p:txBody>
          <a:bodyPr wrap="square">
            <a:noAutofit/>
          </a:bodyPr>
          <a:lstStyle/>
          <a:p>
            <a:pPr algn="l"/>
            <a:r>
              <a:rPr sz="1700" b="1" i="0">
                <a:solidFill>
                  <a:srgbClr val="B83A2E"/>
                </a:solidFill>
                <a:latin typeface="Segoe UI Semibold"/>
              </a:rPr>
              <a:t>0.75</a:t>
            </a:r>
          </a:p>
        </p:txBody>
      </p:sp>
      <p:sp>
        <p:nvSpPr>
          <p:cNvPr id="15" name="TextBox 14"/>
          <p:cNvSpPr txBox="1"/>
          <p:nvPr/>
        </p:nvSpPr>
        <p:spPr>
          <a:xfrm>
            <a:off x="896112" y="3310128"/>
            <a:ext cx="3291840" cy="274320"/>
          </a:xfrm>
          <a:prstGeom prst="rect">
            <a:avLst/>
          </a:prstGeom>
          <a:noFill/>
        </p:spPr>
        <p:txBody>
          <a:bodyPr wrap="square">
            <a:noAutofit/>
          </a:bodyPr>
          <a:lstStyle/>
          <a:p>
            <a:pPr algn="l"/>
            <a:r>
              <a:rPr sz="1100" b="0" i="0">
                <a:solidFill>
                  <a:srgbClr val="56677B"/>
                </a:solidFill>
                <a:latin typeface="Segoe UI"/>
              </a:rPr>
              <a:t>Applicants aged 20 to 35</a:t>
            </a:r>
          </a:p>
        </p:txBody>
      </p:sp>
      <p:sp>
        <p:nvSpPr>
          <p:cNvPr id="16" name="TextBox 15"/>
          <p:cNvSpPr txBox="1"/>
          <p:nvPr/>
        </p:nvSpPr>
        <p:spPr>
          <a:xfrm>
            <a:off x="4480560" y="3264408"/>
            <a:ext cx="1280160" cy="365760"/>
          </a:xfrm>
          <a:prstGeom prst="rect">
            <a:avLst/>
          </a:prstGeom>
          <a:noFill/>
        </p:spPr>
        <p:txBody>
          <a:bodyPr wrap="square">
            <a:noAutofit/>
          </a:bodyPr>
          <a:lstStyle/>
          <a:p>
            <a:pPr algn="l"/>
            <a:r>
              <a:rPr sz="1700" b="1" i="0">
                <a:solidFill>
                  <a:srgbClr val="B83A2E"/>
                </a:solidFill>
                <a:latin typeface="Segoe UI Semibold"/>
              </a:rPr>
              <a:t>0.62</a:t>
            </a:r>
          </a:p>
        </p:txBody>
      </p:sp>
      <p:sp>
        <p:nvSpPr>
          <p:cNvPr id="17" name="TextBox 16"/>
          <p:cNvSpPr txBox="1"/>
          <p:nvPr/>
        </p:nvSpPr>
        <p:spPr>
          <a:xfrm>
            <a:off x="896112" y="3639312"/>
            <a:ext cx="4846320" cy="274320"/>
          </a:xfrm>
          <a:prstGeom prst="rect">
            <a:avLst/>
          </a:prstGeom>
          <a:noFill/>
        </p:spPr>
        <p:txBody>
          <a:bodyPr wrap="square">
            <a:noAutofit/>
          </a:bodyPr>
          <a:lstStyle/>
          <a:p>
            <a:pPr algn="l"/>
            <a:r>
              <a:rPr sz="1000" b="0" i="1">
                <a:solidFill>
                  <a:srgbClr val="56677B"/>
                </a:solidFill>
                <a:latin typeface="Segoe UI"/>
              </a:rPr>
              <a:t>Four-fifths screen: anything below 0.80 is flagged.</a:t>
            </a:r>
          </a:p>
        </p:txBody>
      </p:sp>
      <p:sp>
        <p:nvSpPr>
          <p:cNvPr id="18" name="Rounded Rectangle 17"/>
          <p:cNvSpPr/>
          <p:nvPr/>
        </p:nvSpPr>
        <p:spPr>
          <a:xfrm>
            <a:off x="6199632" y="1783080"/>
            <a:ext cx="5349240" cy="2148840"/>
          </a:xfrm>
          <a:prstGeom prst="roundRect">
            <a:avLst>
              <a:gd name="adj" fmla="val 3500"/>
            </a:avLst>
          </a:prstGeom>
          <a:solidFill>
            <a:srgbClr val="E8F5EE"/>
          </a:solidFill>
          <a:ln w="12700">
            <a:solidFill>
              <a:srgbClr val="1E8E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1783080"/>
            <a:ext cx="50292" cy="214884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1938528"/>
            <a:ext cx="4754880" cy="274320"/>
          </a:xfrm>
          <a:prstGeom prst="rect">
            <a:avLst/>
          </a:prstGeom>
          <a:noFill/>
        </p:spPr>
        <p:txBody>
          <a:bodyPr wrap="square">
            <a:noAutofit/>
          </a:bodyPr>
          <a:lstStyle/>
          <a:p>
            <a:pPr algn="l"/>
            <a:r>
              <a:rPr sz="1050" b="1" i="0">
                <a:solidFill>
                  <a:srgbClr val="1E8E5A"/>
                </a:solidFill>
                <a:latin typeface="Segoe UI"/>
              </a:rPr>
              <a:t>THE FIX</a:t>
            </a:r>
          </a:p>
        </p:txBody>
      </p:sp>
      <p:sp>
        <p:nvSpPr>
          <p:cNvPr id="21" name="TextBox 20"/>
          <p:cNvSpPr txBox="1"/>
          <p:nvPr/>
        </p:nvSpPr>
        <p:spPr>
          <a:xfrm>
            <a:off x="6473952" y="2240280"/>
            <a:ext cx="4846320" cy="365760"/>
          </a:xfrm>
          <a:prstGeom prst="rect">
            <a:avLst/>
          </a:prstGeom>
          <a:noFill/>
        </p:spPr>
        <p:txBody>
          <a:bodyPr wrap="square">
            <a:noAutofit/>
          </a:bodyPr>
          <a:lstStyle/>
          <a:p>
            <a:pPr algn="l"/>
            <a:r>
              <a:rPr sz="1300" b="0" i="0">
                <a:solidFill>
                  <a:srgbClr val="10233A"/>
                </a:solidFill>
                <a:latin typeface="Segoe UI"/>
              </a:rPr>
              <a:t>Retrained the identical model without gender.</a:t>
            </a:r>
          </a:p>
        </p:txBody>
      </p:sp>
      <p:sp>
        <p:nvSpPr>
          <p:cNvPr id="22" name="TextBox 21"/>
          <p:cNvSpPr txBox="1"/>
          <p:nvPr/>
        </p:nvSpPr>
        <p:spPr>
          <a:xfrm>
            <a:off x="6473952" y="2606040"/>
            <a:ext cx="4846320" cy="640080"/>
          </a:xfrm>
          <a:prstGeom prst="rect">
            <a:avLst/>
          </a:prstGeom>
          <a:noFill/>
        </p:spPr>
        <p:txBody>
          <a:bodyPr wrap="square">
            <a:noAutofit/>
          </a:bodyPr>
          <a:lstStyle/>
          <a:p>
            <a:pPr algn="l"/>
            <a:r>
              <a:rPr sz="3400" b="1" i="0">
                <a:solidFill>
                  <a:srgbClr val="1E8E5A"/>
                </a:solidFill>
                <a:latin typeface="Segoe UI Semibold"/>
              </a:rPr>
              <a:t>0.0005</a:t>
            </a:r>
          </a:p>
        </p:txBody>
      </p:sp>
      <p:sp>
        <p:nvSpPr>
          <p:cNvPr id="23" name="TextBox 22"/>
          <p:cNvSpPr txBox="1"/>
          <p:nvPr/>
        </p:nvSpPr>
        <p:spPr>
          <a:xfrm>
            <a:off x="6473952" y="3200400"/>
            <a:ext cx="4846320" cy="274320"/>
          </a:xfrm>
          <a:prstGeom prst="rect">
            <a:avLst/>
          </a:prstGeom>
          <a:noFill/>
        </p:spPr>
        <p:txBody>
          <a:bodyPr wrap="square">
            <a:noAutofit/>
          </a:bodyPr>
          <a:lstStyle/>
          <a:p>
            <a:pPr algn="l"/>
            <a:r>
              <a:rPr sz="1150" b="0" i="0">
                <a:solidFill>
                  <a:srgbClr val="56677B"/>
                </a:solidFill>
                <a:latin typeface="Segoe UI"/>
              </a:rPr>
              <a:t>the entire accuracy cost, in AUROC</a:t>
            </a:r>
          </a:p>
        </p:txBody>
      </p:sp>
      <p:sp>
        <p:nvSpPr>
          <p:cNvPr id="24" name="TextBox 23"/>
          <p:cNvSpPr txBox="1"/>
          <p:nvPr/>
        </p:nvSpPr>
        <p:spPr>
          <a:xfrm>
            <a:off x="6473952" y="3493008"/>
            <a:ext cx="4846320" cy="411480"/>
          </a:xfrm>
          <a:prstGeom prst="rect">
            <a:avLst/>
          </a:prstGeom>
          <a:noFill/>
        </p:spPr>
        <p:txBody>
          <a:bodyPr wrap="square">
            <a:noAutofit/>
          </a:bodyPr>
          <a:lstStyle/>
          <a:p>
            <a:pPr algn="l"/>
            <a:r>
              <a:rPr sz="1050" b="0" i="1">
                <a:solidFill>
                  <a:srgbClr val="56677B"/>
                </a:solidFill>
                <a:latin typeface="Segoe UI"/>
              </a:rPr>
              <a:t>Age effects remain and are defensible: they are risk-based, and older applicants are favoured rather than penalised.</a:t>
            </a:r>
          </a:p>
        </p:txBody>
      </p:sp>
      <p:sp>
        <p:nvSpPr>
          <p:cNvPr id="25" name="Rounded Rectangle 24"/>
          <p:cNvSpPr/>
          <p:nvPr/>
        </p:nvSpPr>
        <p:spPr>
          <a:xfrm>
            <a:off x="621792" y="4160520"/>
            <a:ext cx="10927080" cy="1188720"/>
          </a:xfrm>
          <a:prstGeom prst="roundRect">
            <a:avLst>
              <a:gd name="adj" fmla="val 35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325112"/>
            <a:ext cx="10332720" cy="365760"/>
          </a:xfrm>
          <a:prstGeom prst="rect">
            <a:avLst/>
          </a:prstGeom>
          <a:noFill/>
        </p:spPr>
        <p:txBody>
          <a:bodyPr wrap="square">
            <a:noAutofit/>
          </a:bodyPr>
          <a:lstStyle/>
          <a:p>
            <a:pPr algn="l"/>
            <a:r>
              <a:rPr sz="1550" b="1" i="0">
                <a:solidFill>
                  <a:srgbClr val="FFFFFF"/>
                </a:solidFill>
                <a:latin typeface="Segoe UI"/>
              </a:rPr>
              <a:t>RECOMMENDATION:  DEPLOY THE GENDER-FREE PIPELINE, WITH CONDITIONS</a:t>
            </a:r>
          </a:p>
        </p:txBody>
      </p:sp>
      <p:sp>
        <p:nvSpPr>
          <p:cNvPr id="27" name="TextBox 26"/>
          <p:cNvSpPr txBox="1"/>
          <p:nvPr/>
        </p:nvSpPr>
        <p:spPr>
          <a:xfrm>
            <a:off x="914400" y="4718304"/>
            <a:ext cx="10332720" cy="457200"/>
          </a:xfrm>
          <a:prstGeom prst="rect">
            <a:avLst/>
          </a:prstGeom>
          <a:noFill/>
        </p:spPr>
        <p:txBody>
          <a:bodyPr wrap="square">
            <a:noAutofit/>
          </a:bodyPr>
          <a:lstStyle/>
          <a:p>
            <a:pPr algn="l"/>
            <a:r>
              <a:rPr sz="1200" b="0" i="0">
                <a:solidFill>
                  <a:srgbClr val="C5D8E8"/>
                </a:solidFill>
                <a:latin typeface="Segoe UI"/>
              </a:rPr>
              <a:t>Reason codes on every decline  ·  monthly drift monitoring  ·  quarterly fairness re-audit  ·  a human lane for thin files  ·  monthly champion/challenger retraining</a:t>
            </a:r>
          </a:p>
        </p:txBody>
      </p:sp>
      <p:sp>
        <p:nvSpPr>
          <p:cNvPr id="28" name="Rounded Rectangle 27"/>
          <p:cNvSpPr/>
          <p:nvPr/>
        </p:nvSpPr>
        <p:spPr>
          <a:xfrm>
            <a:off x="621792" y="5532120"/>
            <a:ext cx="10927080" cy="685800"/>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 y="5532120"/>
            <a:ext cx="50292" cy="685800"/>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 y="5641848"/>
            <a:ext cx="10469880" cy="256032"/>
          </a:xfrm>
          <a:prstGeom prst="rect">
            <a:avLst/>
          </a:prstGeom>
          <a:noFill/>
        </p:spPr>
        <p:txBody>
          <a:bodyPr wrap="square">
            <a:noAutofit/>
          </a:bodyPr>
          <a:lstStyle/>
          <a:p>
            <a:pPr algn="l"/>
            <a:r>
              <a:rPr sz="950" b="1" i="0">
                <a:solidFill>
                  <a:srgbClr val="0B8F86"/>
                </a:solidFill>
                <a:latin typeface="Segoe UI"/>
              </a:rPr>
              <a:t>POSITION</a:t>
            </a:r>
          </a:p>
        </p:txBody>
      </p:sp>
      <p:sp>
        <p:nvSpPr>
          <p:cNvPr id="31" name="TextBox 30"/>
          <p:cNvSpPr txBox="1"/>
          <p:nvPr/>
        </p:nvSpPr>
        <p:spPr>
          <a:xfrm>
            <a:off x="859536" y="5916168"/>
            <a:ext cx="10469880" cy="228600"/>
          </a:xfrm>
          <a:prstGeom prst="rect">
            <a:avLst/>
          </a:prstGeom>
          <a:noFill/>
        </p:spPr>
        <p:txBody>
          <a:bodyPr wrap="square">
            <a:noAutofit/>
          </a:bodyPr>
          <a:lstStyle/>
          <a:p>
            <a:pPr algn="l"/>
            <a:r>
              <a:rPr sz="1200" b="0" i="0">
                <a:solidFill>
                  <a:srgbClr val="10233A"/>
                </a:solidFill>
                <a:latin typeface="Segoe UI"/>
              </a:rPr>
              <a:t>I would rather find a defect in my own model than have someone else find it in production.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11</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2662275"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LIVE DEMONSTRATION</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JARVIS, scoring an applicant you choose, right now</a:t>
            </a:r>
          </a:p>
        </p:txBody>
      </p:sp>
      <p:sp>
        <p:nvSpPr>
          <p:cNvPr id="9" name="Rounded Rectangle 8"/>
          <p:cNvSpPr/>
          <p:nvPr/>
        </p:nvSpPr>
        <p:spPr>
          <a:xfrm>
            <a:off x="621792" y="1783080"/>
            <a:ext cx="10927080" cy="192024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 y="1783080"/>
            <a:ext cx="50292" cy="192024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65960"/>
            <a:ext cx="10241280" cy="457200"/>
          </a:xfrm>
          <a:prstGeom prst="rect">
            <a:avLst/>
          </a:prstGeom>
          <a:noFill/>
        </p:spPr>
        <p:txBody>
          <a:bodyPr wrap="square">
            <a:noAutofit/>
          </a:bodyPr>
          <a:lstStyle/>
          <a:p>
            <a:pPr algn="l"/>
            <a:r>
              <a:rPr sz="1650" b="1" i="0">
                <a:solidFill>
                  <a:srgbClr val="10233A"/>
                </a:solidFill>
                <a:latin typeface="Segoe UI"/>
              </a:rPr>
              <a:t>I am about to open the underwriting desk, type in an applicant, and let the real model decide in front of you.</a:t>
            </a:r>
          </a:p>
        </p:txBody>
      </p:sp>
      <p:sp>
        <p:nvSpPr>
          <p:cNvPr id="12" name="TextBox 11"/>
          <p:cNvSpPr txBox="1"/>
          <p:nvPr/>
        </p:nvSpPr>
        <p:spPr>
          <a:xfrm>
            <a:off x="914400" y="2542032"/>
            <a:ext cx="3200400" cy="274320"/>
          </a:xfrm>
          <a:prstGeom prst="rect">
            <a:avLst/>
          </a:prstGeom>
          <a:noFill/>
        </p:spPr>
        <p:txBody>
          <a:bodyPr wrap="square">
            <a:noAutofit/>
          </a:bodyPr>
          <a:lstStyle/>
          <a:p>
            <a:pPr algn="l"/>
            <a:r>
              <a:rPr sz="1300" b="1" i="0">
                <a:solidFill>
                  <a:srgbClr val="0B8F86"/>
                </a:solidFill>
                <a:latin typeface="Segoe UI"/>
              </a:rPr>
              <a:t>The decision</a:t>
            </a:r>
          </a:p>
        </p:txBody>
      </p:sp>
      <p:sp>
        <p:nvSpPr>
          <p:cNvPr id="13" name="TextBox 12"/>
          <p:cNvSpPr txBox="1"/>
          <p:nvPr/>
        </p:nvSpPr>
        <p:spPr>
          <a:xfrm>
            <a:off x="914400" y="2816352"/>
            <a:ext cx="3200400" cy="685800"/>
          </a:xfrm>
          <a:prstGeom prst="rect">
            <a:avLst/>
          </a:prstGeom>
          <a:noFill/>
        </p:spPr>
        <p:txBody>
          <a:bodyPr wrap="square">
            <a:noAutofit/>
          </a:bodyPr>
          <a:lstStyle/>
          <a:p>
            <a:pPr algn="l"/>
            <a:r>
              <a:rPr sz="1100" b="0" i="0">
                <a:solidFill>
                  <a:srgbClr val="56677B"/>
                </a:solidFill>
                <a:latin typeface="Segoe UI"/>
              </a:rPr>
              <a:t>probability of default, and approve or decline at the 7% line</a:t>
            </a:r>
          </a:p>
        </p:txBody>
      </p:sp>
      <p:sp>
        <p:nvSpPr>
          <p:cNvPr id="14" name="TextBox 13"/>
          <p:cNvSpPr txBox="1"/>
          <p:nvPr/>
        </p:nvSpPr>
        <p:spPr>
          <a:xfrm>
            <a:off x="4370831" y="2542032"/>
            <a:ext cx="3200400" cy="274320"/>
          </a:xfrm>
          <a:prstGeom prst="rect">
            <a:avLst/>
          </a:prstGeom>
          <a:noFill/>
        </p:spPr>
        <p:txBody>
          <a:bodyPr wrap="square">
            <a:noAutofit/>
          </a:bodyPr>
          <a:lstStyle/>
          <a:p>
            <a:pPr algn="l"/>
            <a:r>
              <a:rPr sz="1300" b="1" i="0">
                <a:solidFill>
                  <a:srgbClr val="0B8F86"/>
                </a:solidFill>
                <a:latin typeface="Segoe UI"/>
              </a:rPr>
              <a:t>The money</a:t>
            </a:r>
          </a:p>
        </p:txBody>
      </p:sp>
      <p:sp>
        <p:nvSpPr>
          <p:cNvPr id="15" name="TextBox 14"/>
          <p:cNvSpPr txBox="1"/>
          <p:nvPr/>
        </p:nvSpPr>
        <p:spPr>
          <a:xfrm>
            <a:off x="4370831" y="2816352"/>
            <a:ext cx="3200400" cy="685800"/>
          </a:xfrm>
          <a:prstGeom prst="rect">
            <a:avLst/>
          </a:prstGeom>
          <a:noFill/>
        </p:spPr>
        <p:txBody>
          <a:bodyPr wrap="square">
            <a:noAutofit/>
          </a:bodyPr>
          <a:lstStyle/>
          <a:p>
            <a:pPr algn="l"/>
            <a:r>
              <a:rPr sz="1100" b="0" i="0">
                <a:solidFill>
                  <a:srgbClr val="56677B"/>
                </a:solidFill>
                <a:latin typeface="Segoe UI"/>
              </a:rPr>
              <a:t>expected loss against expected margin, for that exact loan</a:t>
            </a:r>
          </a:p>
        </p:txBody>
      </p:sp>
      <p:sp>
        <p:nvSpPr>
          <p:cNvPr id="16" name="TextBox 15"/>
          <p:cNvSpPr txBox="1"/>
          <p:nvPr/>
        </p:nvSpPr>
        <p:spPr>
          <a:xfrm>
            <a:off x="7827263" y="2542032"/>
            <a:ext cx="3200400" cy="274320"/>
          </a:xfrm>
          <a:prstGeom prst="rect">
            <a:avLst/>
          </a:prstGeom>
          <a:noFill/>
        </p:spPr>
        <p:txBody>
          <a:bodyPr wrap="square">
            <a:noAutofit/>
          </a:bodyPr>
          <a:lstStyle/>
          <a:p>
            <a:pPr algn="l"/>
            <a:r>
              <a:rPr sz="1300" b="1" i="0">
                <a:solidFill>
                  <a:srgbClr val="0B8F86"/>
                </a:solidFill>
                <a:latin typeface="Segoe UI"/>
              </a:rPr>
              <a:t>The reasons</a:t>
            </a:r>
          </a:p>
        </p:txBody>
      </p:sp>
      <p:sp>
        <p:nvSpPr>
          <p:cNvPr id="17" name="TextBox 16"/>
          <p:cNvSpPr txBox="1"/>
          <p:nvPr/>
        </p:nvSpPr>
        <p:spPr>
          <a:xfrm>
            <a:off x="7827263" y="2816352"/>
            <a:ext cx="3200400" cy="685800"/>
          </a:xfrm>
          <a:prstGeom prst="rect">
            <a:avLst/>
          </a:prstGeom>
          <a:noFill/>
        </p:spPr>
        <p:txBody>
          <a:bodyPr wrap="square">
            <a:noAutofit/>
          </a:bodyPr>
          <a:lstStyle/>
          <a:p>
            <a:pPr algn="l"/>
            <a:r>
              <a:rPr sz="1100" b="0" i="0">
                <a:solidFill>
                  <a:srgbClr val="56677B"/>
                </a:solidFill>
                <a:latin typeface="Segoe UI"/>
              </a:rPr>
              <a:t>the same four that would appear on the applicant's letter</a:t>
            </a:r>
          </a:p>
        </p:txBody>
      </p:sp>
      <p:sp>
        <p:nvSpPr>
          <p:cNvPr id="18" name="Rounded Rectangle 17"/>
          <p:cNvSpPr/>
          <p:nvPr/>
        </p:nvSpPr>
        <p:spPr>
          <a:xfrm>
            <a:off x="621792" y="3913632"/>
            <a:ext cx="10927080" cy="868680"/>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913632"/>
            <a:ext cx="50292" cy="868680"/>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023360"/>
            <a:ext cx="10469880" cy="256032"/>
          </a:xfrm>
          <a:prstGeom prst="rect">
            <a:avLst/>
          </a:prstGeom>
          <a:noFill/>
        </p:spPr>
        <p:txBody>
          <a:bodyPr wrap="square">
            <a:noAutofit/>
          </a:bodyPr>
          <a:lstStyle/>
          <a:p>
            <a:pPr algn="l"/>
            <a:r>
              <a:rPr sz="950" b="1" i="0">
                <a:solidFill>
                  <a:srgbClr val="0B8F86"/>
                </a:solidFill>
                <a:latin typeface="Segoe UI"/>
              </a:rPr>
              <a:t>WHY LIVE</a:t>
            </a:r>
          </a:p>
        </p:txBody>
      </p:sp>
      <p:sp>
        <p:nvSpPr>
          <p:cNvPr id="21" name="TextBox 20"/>
          <p:cNvSpPr txBox="1"/>
          <p:nvPr/>
        </p:nvSpPr>
        <p:spPr>
          <a:xfrm>
            <a:off x="859536" y="4297680"/>
            <a:ext cx="10469880" cy="411479"/>
          </a:xfrm>
          <a:prstGeom prst="rect">
            <a:avLst/>
          </a:prstGeom>
          <a:noFill/>
        </p:spPr>
        <p:txBody>
          <a:bodyPr wrap="square">
            <a:noAutofit/>
          </a:bodyPr>
          <a:lstStyle/>
          <a:p>
            <a:pPr algn="l"/>
            <a:r>
              <a:rPr sz="1250" b="0" i="0">
                <a:solidFill>
                  <a:srgbClr val="10233A"/>
                </a:solidFill>
                <a:latin typeface="Segoe UI"/>
              </a:rPr>
              <a:t>Nothing here is pre-recorded. It is the same model artifact validated in this deck, scoring an applicant chosen in the room.</a:t>
            </a:r>
          </a:p>
        </p:txBody>
      </p:sp>
      <p:sp>
        <p:nvSpPr>
          <p:cNvPr id="22" name="TextBox 21"/>
          <p:cNvSpPr txBox="1"/>
          <p:nvPr/>
        </p:nvSpPr>
        <p:spPr>
          <a:xfrm>
            <a:off x="621792" y="4983480"/>
            <a:ext cx="10927080" cy="365760"/>
          </a:xfrm>
          <a:prstGeom prst="rect">
            <a:avLst/>
          </a:prstGeom>
          <a:noFill/>
        </p:spPr>
        <p:txBody>
          <a:bodyPr wrap="square">
            <a:noAutofit/>
          </a:bodyPr>
          <a:lstStyle/>
          <a:p>
            <a:pPr algn="l"/>
            <a:r>
              <a:rPr sz="1050" b="0" i="1">
                <a:solidFill>
                  <a:srgbClr val="8E9DAF"/>
                </a:solidFill>
                <a:latin typeface="Segoe UI"/>
              </a:rPr>
              <a:t>Fallback: if the demo misbehaves, the decline letter on slide 8 is the same output from the same model, and I will talk you through that instead.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840" y="219456"/>
            <a:ext cx="548640" cy="274320"/>
          </a:xfrm>
          <a:prstGeom prst="rect">
            <a:avLst/>
          </a:prstGeom>
          <a:noFill/>
        </p:spPr>
        <p:txBody>
          <a:bodyPr wrap="square">
            <a:noAutofit/>
          </a:bodyPr>
          <a:lstStyle/>
          <a:p>
            <a:pPr algn="r"/>
            <a:r>
              <a:rPr sz="1100" b="0" i="0">
                <a:solidFill>
                  <a:srgbClr val="8E9DAF"/>
                </a:solidFill>
                <a:latin typeface="Segoe UI"/>
              </a:rPr>
              <a:t>12</a:t>
            </a:r>
          </a:p>
        </p:txBody>
      </p:sp>
      <p:sp>
        <p:nvSpPr>
          <p:cNvPr id="5" name="TextBox 4"/>
          <p:cNvSpPr txBox="1"/>
          <p:nvPr/>
        </p:nvSpPr>
        <p:spPr>
          <a:xfrm>
            <a:off x="621792" y="237744"/>
            <a:ext cx="6858000" cy="274320"/>
          </a:xfrm>
          <a:prstGeom prst="rect">
            <a:avLst/>
          </a:prstGeom>
          <a:noFill/>
        </p:spPr>
        <p:txBody>
          <a:bodyPr wrap="square">
            <a:noAutofit/>
          </a:bodyPr>
          <a:lstStyle/>
          <a:p>
            <a:pPr algn="l"/>
            <a:r>
              <a:rPr sz="950" b="1" i="0">
                <a:solidFill>
                  <a:srgbClr val="8E9DAF"/>
                </a:solidFill>
                <a:latin typeface="Segoe UI"/>
              </a:rPr>
              <a:t>STARK FINANCIAL  ·  CONSUMER LENDING</a:t>
            </a:r>
          </a:p>
        </p:txBody>
      </p:sp>
      <p:sp>
        <p:nvSpPr>
          <p:cNvPr id="6" name="TextBox 5"/>
          <p:cNvSpPr txBox="1"/>
          <p:nvPr/>
        </p:nvSpPr>
        <p:spPr>
          <a:xfrm>
            <a:off x="621792" y="6428232"/>
            <a:ext cx="10972800" cy="292608"/>
          </a:xfrm>
          <a:prstGeom prst="rect">
            <a:avLst/>
          </a:prstGeom>
          <a:noFill/>
        </p:spPr>
        <p:txBody>
          <a:bodyPr wrap="square">
            <a:noAutofit/>
          </a:bodyPr>
          <a:lstStyle/>
          <a:p>
            <a:pPr algn="l"/>
            <a:r>
              <a:rPr sz="850" b="0" i="0">
                <a:solidFill>
                  <a:srgbClr val="8E9DAF"/>
                </a:solidFill>
                <a:latin typeface="Segoe UI"/>
              </a:rPr>
              <a:t>Source: Kaustubh Patil analysis for Stark Financial  ·  n = 307,511 applications  ·  sealed test n = 46,127  ·  August 2026</a:t>
            </a:r>
          </a:p>
        </p:txBody>
      </p:sp>
      <p:sp>
        <p:nvSpPr>
          <p:cNvPr id="7" name="Rounded Rectangle 6"/>
          <p:cNvSpPr/>
          <p:nvPr/>
        </p:nvSpPr>
        <p:spPr>
          <a:xfrm>
            <a:off x="621792" y="548640"/>
            <a:ext cx="1884578" cy="292608"/>
          </a:xfrm>
          <a:prstGeom prst="roundRect">
            <a:avLst>
              <a:gd name="adj" fmla="val 50000"/>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b="1" sz="1050" spc="70">
                <a:solidFill>
                  <a:srgbClr val="FFFFFF"/>
                </a:solidFill>
                <a:latin typeface="Segoe UI"/>
              </a:rPr>
              <a:t>HOW IT WORKS</a:t>
            </a:r>
          </a:p>
        </p:txBody>
      </p:sp>
      <p:sp>
        <p:nvSpPr>
          <p:cNvPr id="8" name="TextBox 7"/>
          <p:cNvSpPr txBox="1"/>
          <p:nvPr/>
        </p:nvSpPr>
        <p:spPr>
          <a:xfrm>
            <a:off x="621792" y="868680"/>
            <a:ext cx="10927080" cy="1051560"/>
          </a:xfrm>
          <a:prstGeom prst="rect">
            <a:avLst/>
          </a:prstGeom>
          <a:noFill/>
        </p:spPr>
        <p:txBody>
          <a:bodyPr wrap="square">
            <a:noAutofit/>
          </a:bodyPr>
          <a:lstStyle/>
          <a:p>
            <a:pPr algn="l"/>
            <a:r>
              <a:rPr sz="2600" b="1" i="0">
                <a:solidFill>
                  <a:srgbClr val="10233A"/>
                </a:solidFill>
                <a:latin typeface="Segoe UI Semibold"/>
              </a:rPr>
              <a:t>The model decides. The AI only writes it up.</a:t>
            </a:r>
          </a:p>
        </p:txBody>
      </p:sp>
      <p:sp>
        <p:nvSpPr>
          <p:cNvPr id="9" name="Rounded Rectangle 8"/>
          <p:cNvSpPr/>
          <p:nvPr/>
        </p:nvSpPr>
        <p:spPr>
          <a:xfrm>
            <a:off x="685800" y="1920240"/>
            <a:ext cx="2450592" cy="178308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920240"/>
            <a:ext cx="50292" cy="178308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048256"/>
            <a:ext cx="914400" cy="274320"/>
          </a:xfrm>
          <a:prstGeom prst="rect">
            <a:avLst/>
          </a:prstGeom>
          <a:noFill/>
        </p:spPr>
        <p:txBody>
          <a:bodyPr wrap="square">
            <a:noAutofit/>
          </a:bodyPr>
          <a:lstStyle/>
          <a:p>
            <a:pPr algn="l"/>
            <a:r>
              <a:rPr sz="1100" b="1" i="0">
                <a:solidFill>
                  <a:srgbClr val="002856"/>
                </a:solidFill>
                <a:latin typeface="Segoe UI"/>
              </a:rPr>
              <a:t>1</a:t>
            </a:r>
          </a:p>
        </p:txBody>
      </p:sp>
      <p:sp>
        <p:nvSpPr>
          <p:cNvPr id="12" name="TextBox 11"/>
          <p:cNvSpPr txBox="1"/>
          <p:nvPr/>
        </p:nvSpPr>
        <p:spPr>
          <a:xfrm>
            <a:off x="886968" y="2340864"/>
            <a:ext cx="2039112" cy="822960"/>
          </a:xfrm>
          <a:prstGeom prst="rect">
            <a:avLst/>
          </a:prstGeom>
          <a:noFill/>
        </p:spPr>
        <p:txBody>
          <a:bodyPr wrap="square">
            <a:noAutofit/>
          </a:bodyPr>
          <a:lstStyle/>
          <a:p>
            <a:pPr algn="l"/>
            <a:r>
              <a:rPr sz="1400" b="1" i="0">
                <a:solidFill>
                  <a:srgbClr val="10233A"/>
                </a:solidFill>
                <a:latin typeface="Segoe UI"/>
              </a:rPr>
              <a:t>You type
the applicant</a:t>
            </a:r>
          </a:p>
        </p:txBody>
      </p:sp>
      <p:sp>
        <p:nvSpPr>
          <p:cNvPr id="13" name="TextBox 12"/>
          <p:cNvSpPr txBox="1"/>
          <p:nvPr/>
        </p:nvSpPr>
        <p:spPr>
          <a:xfrm>
            <a:off x="886968" y="3145536"/>
            <a:ext cx="2039112" cy="411480"/>
          </a:xfrm>
          <a:prstGeom prst="rect">
            <a:avLst/>
          </a:prstGeom>
          <a:noFill/>
        </p:spPr>
        <p:txBody>
          <a:bodyPr wrap="square">
            <a:noAutofit/>
          </a:bodyPr>
          <a:lstStyle/>
          <a:p>
            <a:pPr algn="l"/>
            <a:r>
              <a:rPr sz="1050" b="0" i="0">
                <a:solidFill>
                  <a:srgbClr val="56677B"/>
                </a:solidFill>
                <a:latin typeface="Segoe UI"/>
              </a:rPr>
              <a:t>in the browser</a:t>
            </a:r>
          </a:p>
        </p:txBody>
      </p:sp>
      <p:sp>
        <p:nvSpPr>
          <p:cNvPr id="14" name="Chevron 13"/>
          <p:cNvSpPr/>
          <p:nvPr/>
        </p:nvSpPr>
        <p:spPr>
          <a:xfrm>
            <a:off x="3218688" y="2688336"/>
            <a:ext cx="274320" cy="256032"/>
          </a:xfrm>
          <a:prstGeom prst="chevron">
            <a:avLst/>
          </a:prstGeom>
          <a:solidFill>
            <a:srgbClr val="B9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75304" y="1920240"/>
            <a:ext cx="2450592" cy="1783080"/>
          </a:xfrm>
          <a:prstGeom prst="roundRect">
            <a:avLst>
              <a:gd name="adj" fmla="val 3500"/>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75304" y="1920240"/>
            <a:ext cx="50292" cy="178308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76472" y="2048256"/>
            <a:ext cx="914400" cy="274320"/>
          </a:xfrm>
          <a:prstGeom prst="rect">
            <a:avLst/>
          </a:prstGeom>
          <a:noFill/>
        </p:spPr>
        <p:txBody>
          <a:bodyPr wrap="square">
            <a:noAutofit/>
          </a:bodyPr>
          <a:lstStyle/>
          <a:p>
            <a:pPr algn="l"/>
            <a:r>
              <a:rPr sz="1100" b="1" i="0">
                <a:solidFill>
                  <a:srgbClr val="002856"/>
                </a:solidFill>
                <a:latin typeface="Segoe UI"/>
              </a:rPr>
              <a:t>2</a:t>
            </a:r>
          </a:p>
        </p:txBody>
      </p:sp>
      <p:sp>
        <p:nvSpPr>
          <p:cNvPr id="18" name="TextBox 17"/>
          <p:cNvSpPr txBox="1"/>
          <p:nvPr/>
        </p:nvSpPr>
        <p:spPr>
          <a:xfrm>
            <a:off x="3776472" y="2340864"/>
            <a:ext cx="2039112" cy="822960"/>
          </a:xfrm>
          <a:prstGeom prst="rect">
            <a:avLst/>
          </a:prstGeom>
          <a:noFill/>
        </p:spPr>
        <p:txBody>
          <a:bodyPr wrap="square">
            <a:noAutofit/>
          </a:bodyPr>
          <a:lstStyle/>
          <a:p>
            <a:pPr algn="l"/>
            <a:r>
              <a:rPr sz="1400" b="1" i="0">
                <a:solidFill>
                  <a:srgbClr val="10233A"/>
                </a:solidFill>
                <a:latin typeface="Segoe UI"/>
              </a:rPr>
              <a:t>The trained model
scores it</a:t>
            </a:r>
          </a:p>
        </p:txBody>
      </p:sp>
      <p:sp>
        <p:nvSpPr>
          <p:cNvPr id="19" name="TextBox 18"/>
          <p:cNvSpPr txBox="1"/>
          <p:nvPr/>
        </p:nvSpPr>
        <p:spPr>
          <a:xfrm>
            <a:off x="3776472" y="3145536"/>
            <a:ext cx="2039112" cy="411480"/>
          </a:xfrm>
          <a:prstGeom prst="rect">
            <a:avLst/>
          </a:prstGeom>
          <a:noFill/>
        </p:spPr>
        <p:txBody>
          <a:bodyPr wrap="square">
            <a:noAutofit/>
          </a:bodyPr>
          <a:lstStyle/>
          <a:p>
            <a:pPr algn="l"/>
            <a:r>
              <a:rPr sz="1050" b="0" i="0">
                <a:solidFill>
                  <a:srgbClr val="56677B"/>
                </a:solidFill>
                <a:latin typeface="Segoe UI"/>
              </a:rPr>
              <a:t>probability of default</a:t>
            </a:r>
          </a:p>
        </p:txBody>
      </p:sp>
      <p:sp>
        <p:nvSpPr>
          <p:cNvPr id="20" name="Chevron 19"/>
          <p:cNvSpPr/>
          <p:nvPr/>
        </p:nvSpPr>
        <p:spPr>
          <a:xfrm>
            <a:off x="6108192" y="2688336"/>
            <a:ext cx="274320" cy="256032"/>
          </a:xfrm>
          <a:prstGeom prst="chevron">
            <a:avLst/>
          </a:prstGeom>
          <a:solidFill>
            <a:srgbClr val="B9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64808" y="1920240"/>
            <a:ext cx="2450592" cy="1783080"/>
          </a:xfrm>
          <a:prstGeom prst="roundRect">
            <a:avLst>
              <a:gd name="adj" fmla="val 3500"/>
            </a:avLst>
          </a:prstGeom>
          <a:solidFill>
            <a:srgbClr val="E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64808" y="1920240"/>
            <a:ext cx="50292" cy="1783080"/>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65976" y="2048256"/>
            <a:ext cx="914400" cy="274320"/>
          </a:xfrm>
          <a:prstGeom prst="rect">
            <a:avLst/>
          </a:prstGeom>
          <a:noFill/>
        </p:spPr>
        <p:txBody>
          <a:bodyPr wrap="square">
            <a:noAutofit/>
          </a:bodyPr>
          <a:lstStyle/>
          <a:p>
            <a:pPr algn="l"/>
            <a:r>
              <a:rPr sz="1100" b="1" i="0">
                <a:solidFill>
                  <a:srgbClr val="0B8F86"/>
                </a:solidFill>
                <a:latin typeface="Segoe UI"/>
              </a:rPr>
              <a:t>3</a:t>
            </a:r>
          </a:p>
        </p:txBody>
      </p:sp>
      <p:sp>
        <p:nvSpPr>
          <p:cNvPr id="24" name="TextBox 23"/>
          <p:cNvSpPr txBox="1"/>
          <p:nvPr/>
        </p:nvSpPr>
        <p:spPr>
          <a:xfrm>
            <a:off x="6665976" y="2340864"/>
            <a:ext cx="2039112" cy="822960"/>
          </a:xfrm>
          <a:prstGeom prst="rect">
            <a:avLst/>
          </a:prstGeom>
          <a:noFill/>
        </p:spPr>
        <p:txBody>
          <a:bodyPr wrap="square">
            <a:noAutofit/>
          </a:bodyPr>
          <a:lstStyle/>
          <a:p>
            <a:pPr algn="l"/>
            <a:r>
              <a:rPr sz="1400" b="1" i="0">
                <a:solidFill>
                  <a:srgbClr val="10233A"/>
                </a:solidFill>
                <a:latin typeface="Segoe UI"/>
              </a:rPr>
              <a:t>The arithmetic
explains it</a:t>
            </a:r>
          </a:p>
        </p:txBody>
      </p:sp>
      <p:sp>
        <p:nvSpPr>
          <p:cNvPr id="25" name="TextBox 24"/>
          <p:cNvSpPr txBox="1"/>
          <p:nvPr/>
        </p:nvSpPr>
        <p:spPr>
          <a:xfrm>
            <a:off x="6665976" y="3145536"/>
            <a:ext cx="2039112" cy="411480"/>
          </a:xfrm>
          <a:prstGeom prst="rect">
            <a:avLst/>
          </a:prstGeom>
          <a:noFill/>
        </p:spPr>
        <p:txBody>
          <a:bodyPr wrap="square">
            <a:noAutofit/>
          </a:bodyPr>
          <a:lstStyle/>
          <a:p>
            <a:pPr algn="l"/>
            <a:r>
              <a:rPr sz="1050" b="0" i="0">
                <a:solidFill>
                  <a:srgbClr val="56677B"/>
                </a:solidFill>
                <a:latin typeface="Segoe UI"/>
              </a:rPr>
              <a:t>which factors, and how much</a:t>
            </a:r>
          </a:p>
        </p:txBody>
      </p:sp>
      <p:sp>
        <p:nvSpPr>
          <p:cNvPr id="26" name="Chevron 25"/>
          <p:cNvSpPr/>
          <p:nvPr/>
        </p:nvSpPr>
        <p:spPr>
          <a:xfrm>
            <a:off x="8997696" y="2688336"/>
            <a:ext cx="274320" cy="256032"/>
          </a:xfrm>
          <a:prstGeom prst="chevron">
            <a:avLst/>
          </a:prstGeom>
          <a:solidFill>
            <a:srgbClr val="B9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54312" y="1920240"/>
            <a:ext cx="2450592" cy="1783080"/>
          </a:xfrm>
          <a:prstGeom prst="roundRect">
            <a:avLst>
              <a:gd name="adj" fmla="val 3500"/>
            </a:avLst>
          </a:prstGeom>
          <a:solidFill>
            <a:srgbClr val="FB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354312" y="1920240"/>
            <a:ext cx="50292" cy="1783080"/>
          </a:xfrm>
          <a:prstGeom prst="rect">
            <a:avLst/>
          </a:prstGeom>
          <a:solidFill>
            <a:srgbClr val="B57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2048256"/>
            <a:ext cx="914400" cy="274320"/>
          </a:xfrm>
          <a:prstGeom prst="rect">
            <a:avLst/>
          </a:prstGeom>
          <a:noFill/>
        </p:spPr>
        <p:txBody>
          <a:bodyPr wrap="square">
            <a:noAutofit/>
          </a:bodyPr>
          <a:lstStyle/>
          <a:p>
            <a:pPr algn="l"/>
            <a:r>
              <a:rPr sz="1100" b="1" i="0">
                <a:solidFill>
                  <a:srgbClr val="B57C0E"/>
                </a:solidFill>
                <a:latin typeface="Segoe UI"/>
              </a:rPr>
              <a:t>4</a:t>
            </a:r>
          </a:p>
        </p:txBody>
      </p:sp>
      <p:sp>
        <p:nvSpPr>
          <p:cNvPr id="30" name="TextBox 29"/>
          <p:cNvSpPr txBox="1"/>
          <p:nvPr/>
        </p:nvSpPr>
        <p:spPr>
          <a:xfrm>
            <a:off x="9555480" y="2340864"/>
            <a:ext cx="2039112" cy="822960"/>
          </a:xfrm>
          <a:prstGeom prst="rect">
            <a:avLst/>
          </a:prstGeom>
          <a:noFill/>
        </p:spPr>
        <p:txBody>
          <a:bodyPr wrap="square">
            <a:noAutofit/>
          </a:bodyPr>
          <a:lstStyle/>
          <a:p>
            <a:pPr algn="l"/>
            <a:r>
              <a:rPr sz="1400" b="1" i="0">
                <a:solidFill>
                  <a:srgbClr val="10233A"/>
                </a:solidFill>
                <a:latin typeface="Segoe UI"/>
              </a:rPr>
              <a:t>The AI
narrates it</a:t>
            </a:r>
          </a:p>
        </p:txBody>
      </p:sp>
      <p:sp>
        <p:nvSpPr>
          <p:cNvPr id="31" name="TextBox 30"/>
          <p:cNvSpPr txBox="1"/>
          <p:nvPr/>
        </p:nvSpPr>
        <p:spPr>
          <a:xfrm>
            <a:off x="9555480" y="3145536"/>
            <a:ext cx="2039112" cy="411480"/>
          </a:xfrm>
          <a:prstGeom prst="rect">
            <a:avLst/>
          </a:prstGeom>
          <a:noFill/>
        </p:spPr>
        <p:txBody>
          <a:bodyPr wrap="square">
            <a:noAutofit/>
          </a:bodyPr>
          <a:lstStyle/>
          <a:p>
            <a:pPr algn="l"/>
            <a:r>
              <a:rPr sz="1050" b="0" i="0">
                <a:solidFill>
                  <a:srgbClr val="56677B"/>
                </a:solidFill>
                <a:latin typeface="Segoe UI"/>
              </a:rPr>
              <a:t>one plain-English paragraph</a:t>
            </a:r>
          </a:p>
        </p:txBody>
      </p:sp>
      <p:sp>
        <p:nvSpPr>
          <p:cNvPr id="32" name="Rounded Rectangle 31"/>
          <p:cNvSpPr/>
          <p:nvPr/>
        </p:nvSpPr>
        <p:spPr>
          <a:xfrm>
            <a:off x="621792" y="4041648"/>
            <a:ext cx="10927080" cy="1325880"/>
          </a:xfrm>
          <a:prstGeom prst="roundRect">
            <a:avLst>
              <a:gd name="adj" fmla="val 3500"/>
            </a:avLst>
          </a:prstGeom>
          <a:solidFill>
            <a:srgbClr val="00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206240"/>
            <a:ext cx="10332720" cy="411480"/>
          </a:xfrm>
          <a:prstGeom prst="rect">
            <a:avLst/>
          </a:prstGeom>
          <a:noFill/>
        </p:spPr>
        <p:txBody>
          <a:bodyPr wrap="square">
            <a:noAutofit/>
          </a:bodyPr>
          <a:lstStyle/>
          <a:p>
            <a:pPr algn="l"/>
            <a:r>
              <a:rPr sz="1700" b="1" i="0">
                <a:solidFill>
                  <a:srgbClr val="FFFFFF"/>
                </a:solidFill>
                <a:latin typeface="Segoe UI"/>
              </a:rPr>
              <a:t>The AI never makes the decision, and it cannot change one.</a:t>
            </a:r>
          </a:p>
        </p:txBody>
      </p:sp>
      <p:sp>
        <p:nvSpPr>
          <p:cNvPr id="34" name="TextBox 33"/>
          <p:cNvSpPr txBox="1"/>
          <p:nvPr/>
        </p:nvSpPr>
        <p:spPr>
          <a:xfrm>
            <a:off x="914400" y="4617720"/>
            <a:ext cx="10332720" cy="640080"/>
          </a:xfrm>
          <a:prstGeom prst="rect">
            <a:avLst/>
          </a:prstGeom>
          <a:noFill/>
        </p:spPr>
        <p:txBody>
          <a:bodyPr wrap="square">
            <a:noAutofit/>
          </a:bodyPr>
          <a:lstStyle/>
          <a:p>
            <a:pPr algn="l"/>
            <a:r>
              <a:rPr sz="1250" b="0" i="0">
                <a:solidFill>
                  <a:srgbClr val="C5D8E8"/>
                </a:solidFill>
                <a:latin typeface="Segoe UI"/>
              </a:rPr>
              <a:t>It is handed a decision that has already been made, together with the numbers behind it, and asked to turn them into a paragraph. Unplug it and the decision, the money and the four reasons come out identical.</a:t>
            </a:r>
          </a:p>
        </p:txBody>
      </p:sp>
      <p:sp>
        <p:nvSpPr>
          <p:cNvPr id="35" name="Rounded Rectangle 34"/>
          <p:cNvSpPr/>
          <p:nvPr/>
        </p:nvSpPr>
        <p:spPr>
          <a:xfrm>
            <a:off x="621792" y="5559552"/>
            <a:ext cx="10927080" cy="658368"/>
          </a:xfrm>
          <a:prstGeom prst="roundRect">
            <a:avLst>
              <a:gd name="adj" fmla="val 3500"/>
            </a:avLst>
          </a:prstGeom>
          <a:solidFill>
            <a:srgbClr val="E4F7F5"/>
          </a:solidFill>
          <a:ln w="12700">
            <a:solidFill>
              <a:srgbClr val="0B8F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 y="5559552"/>
            <a:ext cx="50292" cy="658368"/>
          </a:xfrm>
          <a:prstGeom prst="rect">
            <a:avLst/>
          </a:prstGeom>
          <a:solidFill>
            <a:srgbClr val="0B8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9536" y="5669280"/>
            <a:ext cx="10469880" cy="256032"/>
          </a:xfrm>
          <a:prstGeom prst="rect">
            <a:avLst/>
          </a:prstGeom>
          <a:noFill/>
        </p:spPr>
        <p:txBody>
          <a:bodyPr wrap="square">
            <a:noAutofit/>
          </a:bodyPr>
          <a:lstStyle/>
          <a:p>
            <a:pPr algn="l"/>
            <a:r>
              <a:rPr sz="950" b="1" i="0">
                <a:solidFill>
                  <a:srgbClr val="0B8F86"/>
                </a:solidFill>
                <a:latin typeface="Segoe UI"/>
              </a:rPr>
              <a:t>WHY IT IS BUILT THIS WAY</a:t>
            </a:r>
          </a:p>
        </p:txBody>
      </p:sp>
      <p:sp>
        <p:nvSpPr>
          <p:cNvPr id="38" name="TextBox 37"/>
          <p:cNvSpPr txBox="1"/>
          <p:nvPr/>
        </p:nvSpPr>
        <p:spPr>
          <a:xfrm>
            <a:off x="859536" y="5943600"/>
            <a:ext cx="10469880" cy="201167"/>
          </a:xfrm>
          <a:prstGeom prst="rect">
            <a:avLst/>
          </a:prstGeom>
          <a:noFill/>
        </p:spPr>
        <p:txBody>
          <a:bodyPr wrap="square">
            <a:noAutofit/>
          </a:bodyPr>
          <a:lstStyle/>
          <a:p>
            <a:pPr algn="l"/>
            <a:r>
              <a:rPr sz="1200" b="0" i="0">
                <a:solidFill>
                  <a:srgbClr val="10233A"/>
                </a:solidFill>
                <a:latin typeface="Segoe UI"/>
              </a:rPr>
              <a:t>Everything auditable stays deterministic. The only non-deterministic component is the prose.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
            <a:ext cx="2194560" cy="508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0028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2194560" cy="63500"/>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7315200" cy="320040"/>
          </a:xfrm>
          <a:prstGeom prst="rect">
            <a:avLst/>
          </a:prstGeom>
          <a:noFill/>
        </p:spPr>
        <p:txBody>
          <a:bodyPr wrap="square">
            <a:noAutofit/>
          </a:bodyPr>
          <a:lstStyle/>
          <a:p>
            <a:pPr algn="l"/>
            <a:r>
              <a:rPr sz="1150" b="1" i="0">
                <a:solidFill>
                  <a:srgbClr val="12B2A6"/>
                </a:solidFill>
                <a:latin typeface="Segoe UI"/>
              </a:rPr>
              <a:t>THE BOTTOM LINE</a:t>
            </a:r>
          </a:p>
        </p:txBody>
      </p:sp>
      <p:sp>
        <p:nvSpPr>
          <p:cNvPr id="7" name="TextBox 6"/>
          <p:cNvSpPr txBox="1"/>
          <p:nvPr/>
        </p:nvSpPr>
        <p:spPr>
          <a:xfrm>
            <a:off x="822960" y="1874519"/>
            <a:ext cx="10515600" cy="1645920"/>
          </a:xfrm>
          <a:prstGeom prst="rect">
            <a:avLst/>
          </a:prstGeom>
          <a:noFill/>
        </p:spPr>
        <p:txBody>
          <a:bodyPr wrap="square">
            <a:noAutofit/>
          </a:bodyPr>
          <a:lstStyle/>
          <a:p>
            <a:pPr algn="l"/>
            <a:r>
              <a:rPr sz="4000" b="1" i="0">
                <a:solidFill>
                  <a:srgbClr val="FFFFFF"/>
                </a:solidFill>
                <a:latin typeface="Segoe UI Semibold"/>
              </a:rPr>
              <a:t>Deploy JARVIS, gender-free,
with four conditions.</a:t>
            </a:r>
          </a:p>
        </p:txBody>
      </p:sp>
      <p:sp>
        <p:nvSpPr>
          <p:cNvPr id="8" name="TextBox 7"/>
          <p:cNvSpPr txBox="1"/>
          <p:nvPr/>
        </p:nvSpPr>
        <p:spPr>
          <a:xfrm>
            <a:off x="822960" y="3977639"/>
            <a:ext cx="2743200" cy="502920"/>
          </a:xfrm>
          <a:prstGeom prst="rect">
            <a:avLst/>
          </a:prstGeom>
          <a:noFill/>
        </p:spPr>
        <p:txBody>
          <a:bodyPr wrap="square">
            <a:noAutofit/>
          </a:bodyPr>
          <a:lstStyle/>
          <a:p>
            <a:pPr algn="l"/>
            <a:r>
              <a:rPr sz="2500" b="1" i="0">
                <a:solidFill>
                  <a:srgbClr val="12B2A6"/>
                </a:solidFill>
                <a:latin typeface="Segoe UI Semibold"/>
              </a:rPr>
              <a:t>+$578.7M</a:t>
            </a:r>
          </a:p>
        </p:txBody>
      </p:sp>
      <p:sp>
        <p:nvSpPr>
          <p:cNvPr id="9" name="TextBox 8"/>
          <p:cNvSpPr txBox="1"/>
          <p:nvPr/>
        </p:nvSpPr>
        <p:spPr>
          <a:xfrm>
            <a:off x="822960" y="4498848"/>
            <a:ext cx="2743200" cy="457200"/>
          </a:xfrm>
          <a:prstGeom prst="rect">
            <a:avLst/>
          </a:prstGeom>
          <a:noFill/>
        </p:spPr>
        <p:txBody>
          <a:bodyPr wrap="square">
            <a:noAutofit/>
          </a:bodyPr>
          <a:lstStyle/>
          <a:p>
            <a:pPr algn="l"/>
            <a:r>
              <a:rPr sz="1100" b="0" i="0">
                <a:solidFill>
                  <a:srgbClr val="A6BCD2"/>
                </a:solidFill>
                <a:latin typeface="Segoe UI"/>
              </a:rPr>
              <a:t>net benefit on the sealed book</a:t>
            </a:r>
          </a:p>
        </p:txBody>
      </p:sp>
      <p:sp>
        <p:nvSpPr>
          <p:cNvPr id="10" name="TextBox 9"/>
          <p:cNvSpPr txBox="1"/>
          <p:nvPr/>
        </p:nvSpPr>
        <p:spPr>
          <a:xfrm>
            <a:off x="3611879" y="3977639"/>
            <a:ext cx="2743200" cy="502920"/>
          </a:xfrm>
          <a:prstGeom prst="rect">
            <a:avLst/>
          </a:prstGeom>
          <a:noFill/>
        </p:spPr>
        <p:txBody>
          <a:bodyPr wrap="square">
            <a:noAutofit/>
          </a:bodyPr>
          <a:lstStyle/>
          <a:p>
            <a:pPr algn="l"/>
            <a:r>
              <a:rPr sz="2500" b="1" i="0">
                <a:solidFill>
                  <a:srgbClr val="12B2A6"/>
                </a:solidFill>
                <a:latin typeface="Segoe UI Semibold"/>
              </a:rPr>
              <a:t>0.774</a:t>
            </a:r>
          </a:p>
        </p:txBody>
      </p:sp>
      <p:sp>
        <p:nvSpPr>
          <p:cNvPr id="11" name="TextBox 10"/>
          <p:cNvSpPr txBox="1"/>
          <p:nvPr/>
        </p:nvSpPr>
        <p:spPr>
          <a:xfrm>
            <a:off x="3611879" y="4498848"/>
            <a:ext cx="2743200" cy="457200"/>
          </a:xfrm>
          <a:prstGeom prst="rect">
            <a:avLst/>
          </a:prstGeom>
          <a:noFill/>
        </p:spPr>
        <p:txBody>
          <a:bodyPr wrap="square">
            <a:noAutofit/>
          </a:bodyPr>
          <a:lstStyle/>
          <a:p>
            <a:pPr algn="l"/>
            <a:r>
              <a:rPr sz="1100" b="0" i="0">
                <a:solidFill>
                  <a:srgbClr val="A6BCD2"/>
                </a:solidFill>
                <a:latin typeface="Segoe UI"/>
              </a:rPr>
              <a:t>against a 0.757 incumbent</a:t>
            </a:r>
          </a:p>
        </p:txBody>
      </p:sp>
      <p:sp>
        <p:nvSpPr>
          <p:cNvPr id="12" name="TextBox 11"/>
          <p:cNvSpPr txBox="1"/>
          <p:nvPr/>
        </p:nvSpPr>
        <p:spPr>
          <a:xfrm>
            <a:off x="6400800" y="3977639"/>
            <a:ext cx="2743200" cy="502920"/>
          </a:xfrm>
          <a:prstGeom prst="rect">
            <a:avLst/>
          </a:prstGeom>
          <a:noFill/>
        </p:spPr>
        <p:txBody>
          <a:bodyPr wrap="square">
            <a:noAutofit/>
          </a:bodyPr>
          <a:lstStyle/>
          <a:p>
            <a:pPr algn="l"/>
            <a:r>
              <a:rPr sz="2500" b="1" i="0">
                <a:solidFill>
                  <a:srgbClr val="12B2A6"/>
                </a:solidFill>
                <a:latin typeface="Segoe UI Semibold"/>
              </a:rPr>
              <a:t>7%</a:t>
            </a:r>
          </a:p>
        </p:txBody>
      </p:sp>
      <p:sp>
        <p:nvSpPr>
          <p:cNvPr id="13" name="TextBox 12"/>
          <p:cNvSpPr txBox="1"/>
          <p:nvPr/>
        </p:nvSpPr>
        <p:spPr>
          <a:xfrm>
            <a:off x="6400800" y="4498848"/>
            <a:ext cx="2743200" cy="457200"/>
          </a:xfrm>
          <a:prstGeom prst="rect">
            <a:avLst/>
          </a:prstGeom>
          <a:noFill/>
        </p:spPr>
        <p:txBody>
          <a:bodyPr wrap="square">
            <a:noAutofit/>
          </a:bodyPr>
          <a:lstStyle/>
          <a:p>
            <a:pPr algn="l"/>
            <a:r>
              <a:rPr sz="1100" b="0" i="0">
                <a:solidFill>
                  <a:srgbClr val="A6BCD2"/>
                </a:solidFill>
                <a:latin typeface="Segoe UI"/>
              </a:rPr>
              <a:t>the cut-off, where a loan breaks even</a:t>
            </a:r>
          </a:p>
        </p:txBody>
      </p:sp>
      <p:sp>
        <p:nvSpPr>
          <p:cNvPr id="14" name="TextBox 13"/>
          <p:cNvSpPr txBox="1"/>
          <p:nvPr/>
        </p:nvSpPr>
        <p:spPr>
          <a:xfrm>
            <a:off x="9189720" y="3977639"/>
            <a:ext cx="2743200" cy="502920"/>
          </a:xfrm>
          <a:prstGeom prst="rect">
            <a:avLst/>
          </a:prstGeom>
          <a:noFill/>
        </p:spPr>
        <p:txBody>
          <a:bodyPr wrap="square">
            <a:noAutofit/>
          </a:bodyPr>
          <a:lstStyle/>
          <a:p>
            <a:pPr algn="l"/>
            <a:r>
              <a:rPr sz="2500" b="1" i="0">
                <a:solidFill>
                  <a:srgbClr val="12B2A6"/>
                </a:solidFill>
                <a:latin typeface="Segoe UI Semibold"/>
              </a:rPr>
              <a:t>0.0005</a:t>
            </a:r>
          </a:p>
        </p:txBody>
      </p:sp>
      <p:sp>
        <p:nvSpPr>
          <p:cNvPr id="15" name="TextBox 14"/>
          <p:cNvSpPr txBox="1"/>
          <p:nvPr/>
        </p:nvSpPr>
        <p:spPr>
          <a:xfrm>
            <a:off x="9189720" y="4498848"/>
            <a:ext cx="2743200" cy="457200"/>
          </a:xfrm>
          <a:prstGeom prst="rect">
            <a:avLst/>
          </a:prstGeom>
          <a:noFill/>
        </p:spPr>
        <p:txBody>
          <a:bodyPr wrap="square">
            <a:noAutofit/>
          </a:bodyPr>
          <a:lstStyle/>
          <a:p>
            <a:pPr algn="l"/>
            <a:r>
              <a:rPr sz="1100" b="0" i="0">
                <a:solidFill>
                  <a:srgbClr val="A6BCD2"/>
                </a:solidFill>
                <a:latin typeface="Segoe UI"/>
              </a:rPr>
              <a:t>the price of the fairness fix</a:t>
            </a:r>
          </a:p>
        </p:txBody>
      </p:sp>
      <p:sp>
        <p:nvSpPr>
          <p:cNvPr id="16" name="Rectangle 15"/>
          <p:cNvSpPr/>
          <p:nvPr/>
        </p:nvSpPr>
        <p:spPr>
          <a:xfrm>
            <a:off x="822960" y="5257800"/>
            <a:ext cx="1463040" cy="27432"/>
          </a:xfrm>
          <a:prstGeom prst="rect">
            <a:avLst/>
          </a:prstGeom>
          <a:solidFill>
            <a:srgbClr val="12B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486400"/>
            <a:ext cx="10058400" cy="365760"/>
          </a:xfrm>
          <a:prstGeom prst="rect">
            <a:avLst/>
          </a:prstGeom>
          <a:noFill/>
        </p:spPr>
        <p:txBody>
          <a:bodyPr wrap="square">
            <a:noAutofit/>
          </a:bodyPr>
          <a:lstStyle/>
          <a:p>
            <a:pPr algn="l"/>
            <a:r>
              <a:rPr sz="1300" b="0" i="0">
                <a:solidFill>
                  <a:srgbClr val="C5D8E8"/>
                </a:solidFill>
                <a:latin typeface="Segoe UI"/>
              </a:rPr>
              <a:t>Kaustubh Patil  ·  Stark Financial, Consumer Lending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