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line: I built a model that decides who to lend to, I can prove what it is worth in dollars, and I found and fixed a compliance problem on the way. Recommendation is deploy, with conditions. Then move to the two applicants.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asymmetry, not the percentage. A wrongly declined good customer costs me a small margin. A wrongly approved bad one costs me most of the loan. Thirteen to one. That ratio is why the cut-off, not the model, is where the money is decided. If asked: 65% loss given default, 5% lifetime margin, both named constants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fast, 45 seconds. The one point a technical reviewer will test: leakage. Every fitted transform lives inside one pipeline, refitted per cross-validation fold, so the test set could not leak into training even by accident. Sentinel detail if asked: DAYS_EMPLOYED = 365243 on 18% of rows, almost all pensioners, fixed to missing plus a flag.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business people: 0.774 means if I line up a good customer and a bad one at random, the model puts the bad one higher three times out of four. For the technical people: sealed test AUROC 0.774, Gini 0.547, KS 0.416, and cross-validation, validation and test agree within half a point. Why not deep learning: on 153 tabular features boosted trees still win.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explain ROC mechanics unless asked. The business translation is the left number: three times out of four it puts the bad customer above the good one. If a technical reviewer asks for the working point: 74.5% of defaults caught while flagging about a third of the book, and that point is chosen by the profit curve, not by 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shortcut is class weighting. It boosts the rare class and inflates every predicted probability. It would have improved nothing that matters and destroyed the dollar maths and the decline reasons, both of which need the probability to be literally true. Recalibration trigger is in the monitoring plan: observed above 1.25x predicted in two or more deciles.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CIO funds, so slow down. The threshold is leadership's dial, not mine: move it right and you approve more and earn less, for example 10% approves about 75% of applicants and nets around $480M. The model does not choose the risk appetite, it prices whichever one you choose. If asked where 578.7 comes from: prevented losses of $972.0M minus $393.3M of margin given up on good customers I declined.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risk officer pushes: the additivity is the guarantee. The contributions sum exactly to the prediction, so I cannot show a reason that was not genuinely one of the drivers. This is the same applicant I score live in the demo. Global picture if asked: external scores dominate, then age and tenure, then bureau burden, all in the expected direction.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metric is PSI: below 0.10 stable, 0.10 to 0.25 monitor, above 0.25 investigate. The simulated severe recession reads 0.34 and the random-split control reads about zero, so both directions of the control are proven. Segment check: every major segment sits near the overall line, thin files are the weakest, which is exactly why they get a human.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this, do not apologise for it. Finding it yourself is the strongest thing on the slide. If challenged on age: frameworks permit age when it does not disadvantage the elderly, and here the elderly are favoured. The young-applicant effect is genuinely risk-based, they default about 2.5 times more often, and it is documented and monitored. Gender had no such defence, so it is gone, and it cost nothing.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app already running at 127.0.0.1:5000 before you reach this slide. Click Thin file, talk while it scores, then read the money row out loud: expected loss against expected margin, and the net. Then point at the reasons and say these are the same four that go on the letter. Sixty seconds, then move on. Do not troubleshoot live.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a risk officer will care about most in the demo section. The governance point: the language model sits strictly downstream of the decision. It is given the probability, the decision and the SHAP factors as facts, and instructed to use only those numbers. If the API key is absent or the network is down, the app falls back to a deterministic template and the committee sees the same decision and the same reasons.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talking and open the floor. If nothing comes immediately, offer to score another applicant in the web app, or to walk back through the profit curve and what moving the threshold would cost.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792" y="2286000"/>
            <a:ext cx="6922236"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CONSUMER LENDING  ·  MODEL REVIEW COMMITTEE</a:t>
            </a:r>
          </a:p>
        </p:txBody>
      </p:sp>
      <p:sp>
        <p:nvSpPr>
          <p:cNvPr id="5" name="TextBox 4"/>
          <p:cNvSpPr txBox="1"/>
          <p:nvPr/>
        </p:nvSpPr>
        <p:spPr>
          <a:xfrm>
            <a:off x="621792" y="2697480"/>
            <a:ext cx="10515600" cy="1188720"/>
          </a:xfrm>
          <a:prstGeom prst="rect">
            <a:avLst/>
          </a:prstGeom>
          <a:noFill/>
        </p:spPr>
        <p:txBody>
          <a:bodyPr wrap="square">
            <a:noAutofit/>
          </a:bodyPr>
          <a:lstStyle/>
          <a:p>
            <a:r>
              <a:rPr b="1" sz="5400">
                <a:solidFill>
                  <a:srgbClr val="142236"/>
                </a:solidFill>
                <a:latin typeface="Segoe UI Semibold"/>
              </a:rPr>
              <a:t>Pricing the Bet</a:t>
            </a:r>
          </a:p>
        </p:txBody>
      </p:sp>
      <p:sp>
        <p:nvSpPr>
          <p:cNvPr id="6" name="TextBox 5"/>
          <p:cNvSpPr txBox="1"/>
          <p:nvPr/>
        </p:nvSpPr>
        <p:spPr>
          <a:xfrm>
            <a:off x="640080" y="3977639"/>
            <a:ext cx="10058400" cy="548640"/>
          </a:xfrm>
          <a:prstGeom prst="rect">
            <a:avLst/>
          </a:prstGeom>
          <a:noFill/>
        </p:spPr>
        <p:txBody>
          <a:bodyPr wrap="square">
            <a:noAutofit/>
          </a:bodyPr>
          <a:lstStyle/>
          <a:p>
            <a:pPr algn="l"/>
            <a:r>
              <a:rPr sz="1700" i="0" b="0">
                <a:solidFill>
                  <a:srgbClr val="5B6B7E"/>
                </a:solidFill>
                <a:latin typeface="Segoe UI"/>
              </a:rPr>
              <a:t>A credit scoring model for the application desk, and what it is worth to the book</a:t>
            </a:r>
          </a:p>
        </p:txBody>
      </p:sp>
      <p:sp>
        <p:nvSpPr>
          <p:cNvPr id="7" name="Rectangle 6"/>
          <p:cNvSpPr/>
          <p:nvPr/>
        </p:nvSpPr>
        <p:spPr>
          <a:xfrm>
            <a:off x="640080" y="4663440"/>
            <a:ext cx="1280160" cy="381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846320"/>
            <a:ext cx="5486400" cy="365760"/>
          </a:xfrm>
          <a:prstGeom prst="rect">
            <a:avLst/>
          </a:prstGeom>
          <a:noFill/>
        </p:spPr>
        <p:txBody>
          <a:bodyPr wrap="square">
            <a:noAutofit/>
          </a:bodyPr>
          <a:lstStyle/>
          <a:p>
            <a:pPr algn="l"/>
            <a:r>
              <a:rPr sz="1400" i="0" b="1">
                <a:solidFill>
                  <a:srgbClr val="142236"/>
                </a:solidFill>
                <a:latin typeface="Segoe UI"/>
              </a:rPr>
              <a:t>Kaustubh Patil</a:t>
            </a:r>
          </a:p>
        </p:txBody>
      </p:sp>
      <p:sp>
        <p:nvSpPr>
          <p:cNvPr id="9" name="TextBox 8"/>
          <p:cNvSpPr txBox="1"/>
          <p:nvPr/>
        </p:nvSpPr>
        <p:spPr>
          <a:xfrm>
            <a:off x="640080" y="5193792"/>
            <a:ext cx="5486400" cy="365760"/>
          </a:xfrm>
          <a:prstGeom prst="rect">
            <a:avLst/>
          </a:prstGeom>
          <a:noFill/>
        </p:spPr>
        <p:txBody>
          <a:bodyPr wrap="square">
            <a:noAutofit/>
          </a:bodyPr>
          <a:lstStyle/>
          <a:p>
            <a:pPr algn="l"/>
            <a:r>
              <a:rPr sz="1300" i="0" b="0">
                <a:solidFill>
                  <a:srgbClr val="5B6B7E"/>
                </a:solidFill>
                <a:latin typeface="Segoe UI"/>
              </a:rPr>
              <a:t>20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02 / 13</a:t>
            </a:r>
          </a:p>
        </p:txBody>
      </p:sp>
      <p:sp>
        <p:nvSpPr>
          <p:cNvPr id="5" name="Rounded Rectangle 4"/>
          <p:cNvSpPr/>
          <p:nvPr/>
        </p:nvSpPr>
        <p:spPr>
          <a:xfrm>
            <a:off x="621792" y="384048"/>
            <a:ext cx="2042998"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THE PROBLEM</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Two applicants walk in. On paper, they look the same.</a:t>
            </a:r>
          </a:p>
        </p:txBody>
      </p:sp>
      <p:sp>
        <p:nvSpPr>
          <p:cNvPr id="7" name="Rounded Rectangle 6"/>
          <p:cNvSpPr/>
          <p:nvPr/>
        </p:nvSpPr>
        <p:spPr>
          <a:xfrm>
            <a:off x="640080" y="1691640"/>
            <a:ext cx="4709160" cy="2514600"/>
          </a:xfrm>
          <a:prstGeom prst="roundRect">
            <a:avLst>
              <a:gd name="adj" fmla="val 4000"/>
            </a:avLst>
          </a:prstGeom>
          <a:solidFill>
            <a:srgbClr val="E9F6EF"/>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251460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19"/>
            <a:ext cx="4206240" cy="274320"/>
          </a:xfrm>
          <a:prstGeom prst="rect">
            <a:avLst/>
          </a:prstGeom>
          <a:noFill/>
        </p:spPr>
        <p:txBody>
          <a:bodyPr wrap="square">
            <a:noAutofit/>
          </a:bodyPr>
          <a:lstStyle/>
          <a:p>
            <a:pPr algn="l"/>
            <a:r>
              <a:rPr sz="1100" i="0" b="1">
                <a:solidFill>
                  <a:srgbClr val="1E8E5A"/>
                </a:solidFill>
                <a:latin typeface="Segoe UI"/>
              </a:rPr>
              <a:t>APPLICANT A</a:t>
            </a:r>
          </a:p>
        </p:txBody>
      </p:sp>
      <p:sp>
        <p:nvSpPr>
          <p:cNvPr id="10" name="TextBox 9"/>
          <p:cNvSpPr txBox="1"/>
          <p:nvPr/>
        </p:nvSpPr>
        <p:spPr>
          <a:xfrm>
            <a:off x="914400" y="2194560"/>
            <a:ext cx="4206240" cy="502920"/>
          </a:xfrm>
          <a:prstGeom prst="rect">
            <a:avLst/>
          </a:prstGeom>
          <a:noFill/>
        </p:spPr>
        <p:txBody>
          <a:bodyPr wrap="square">
            <a:noAutofit/>
          </a:bodyPr>
          <a:lstStyle/>
          <a:p>
            <a:pPr algn="l"/>
            <a:r>
              <a:rPr sz="1500" i="0" b="0">
                <a:solidFill>
                  <a:srgbClr val="142236"/>
                </a:solidFill>
                <a:latin typeface="Segoe UI"/>
              </a:rPr>
              <a:t>Borrows $20,000 and pays every instalment.</a:t>
            </a:r>
          </a:p>
        </p:txBody>
      </p:sp>
      <p:sp>
        <p:nvSpPr>
          <p:cNvPr id="11" name="TextBox 10"/>
          <p:cNvSpPr txBox="1"/>
          <p:nvPr/>
        </p:nvSpPr>
        <p:spPr>
          <a:xfrm>
            <a:off x="914400" y="2743200"/>
            <a:ext cx="4206240" cy="1023424"/>
          </a:xfrm>
          <a:prstGeom prst="rect">
            <a:avLst/>
          </a:prstGeom>
          <a:noFill/>
        </p:spPr>
        <p:txBody>
          <a:bodyPr wrap="square">
            <a:noAutofit/>
          </a:bodyPr>
          <a:lstStyle/>
          <a:p>
            <a:pPr algn="l"/>
            <a:r>
              <a:rPr b="1" sz="4000">
                <a:solidFill>
                  <a:srgbClr val="1E8E5A"/>
                </a:solidFill>
                <a:latin typeface="Segoe UI Semibold"/>
              </a:rPr>
              <a:t>+$1,000</a:t>
            </a:r>
          </a:p>
        </p:txBody>
      </p:sp>
      <p:sp>
        <p:nvSpPr>
          <p:cNvPr id="12" name="TextBox 11"/>
          <p:cNvSpPr txBox="1"/>
          <p:nvPr/>
        </p:nvSpPr>
        <p:spPr>
          <a:xfrm>
            <a:off x="914400" y="3611880"/>
            <a:ext cx="4206240" cy="365760"/>
          </a:xfrm>
          <a:prstGeom prst="rect">
            <a:avLst/>
          </a:prstGeom>
          <a:noFill/>
        </p:spPr>
        <p:txBody>
          <a:bodyPr wrap="square">
            <a:noAutofit/>
          </a:bodyPr>
          <a:lstStyle/>
          <a:p>
            <a:pPr algn="l"/>
            <a:r>
              <a:rPr sz="1250" i="0" b="0">
                <a:solidFill>
                  <a:srgbClr val="5B6B7E"/>
                </a:solidFill>
                <a:latin typeface="Segoe UI"/>
              </a:rPr>
              <a:t>the bank earns its 5% lifetime margin</a:t>
            </a:r>
          </a:p>
        </p:txBody>
      </p:sp>
      <p:sp>
        <p:nvSpPr>
          <p:cNvPr id="13" name="Rounded Rectangle 12"/>
          <p:cNvSpPr/>
          <p:nvPr/>
        </p:nvSpPr>
        <p:spPr>
          <a:xfrm>
            <a:off x="6035040" y="1691640"/>
            <a:ext cx="4709160" cy="2514600"/>
          </a:xfrm>
          <a:prstGeom prst="roundRect">
            <a:avLst>
              <a:gd name="adj" fmla="val 4000"/>
            </a:avLst>
          </a:prstGeom>
          <a:solidFill>
            <a:srgbClr val="FBECEA"/>
          </a:solidFill>
          <a:ln w="12700">
            <a:solidFill>
              <a:srgbClr val="B8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1691640"/>
            <a:ext cx="54864" cy="251460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4206240" cy="274320"/>
          </a:xfrm>
          <a:prstGeom prst="rect">
            <a:avLst/>
          </a:prstGeom>
          <a:noFill/>
        </p:spPr>
        <p:txBody>
          <a:bodyPr wrap="square">
            <a:noAutofit/>
          </a:bodyPr>
          <a:lstStyle/>
          <a:p>
            <a:pPr algn="l"/>
            <a:r>
              <a:rPr sz="1100" i="0" b="1">
                <a:solidFill>
                  <a:srgbClr val="B83A2E"/>
                </a:solidFill>
                <a:latin typeface="Segoe UI"/>
              </a:rPr>
              <a:t>APPLICANT B</a:t>
            </a:r>
          </a:p>
        </p:txBody>
      </p:sp>
      <p:sp>
        <p:nvSpPr>
          <p:cNvPr id="16" name="TextBox 15"/>
          <p:cNvSpPr txBox="1"/>
          <p:nvPr/>
        </p:nvSpPr>
        <p:spPr>
          <a:xfrm>
            <a:off x="6309360" y="2194560"/>
            <a:ext cx="4206240" cy="502920"/>
          </a:xfrm>
          <a:prstGeom prst="rect">
            <a:avLst/>
          </a:prstGeom>
          <a:noFill/>
        </p:spPr>
        <p:txBody>
          <a:bodyPr wrap="square">
            <a:noAutofit/>
          </a:bodyPr>
          <a:lstStyle/>
          <a:p>
            <a:pPr algn="l"/>
            <a:r>
              <a:rPr sz="1500" i="0" b="0">
                <a:solidFill>
                  <a:srgbClr val="142236"/>
                </a:solidFill>
                <a:latin typeface="Segoe UI"/>
              </a:rPr>
              <a:t>Borrows $20,000 and stops paying after six months.</a:t>
            </a:r>
          </a:p>
        </p:txBody>
      </p:sp>
      <p:sp>
        <p:nvSpPr>
          <p:cNvPr id="17" name="TextBox 16"/>
          <p:cNvSpPr txBox="1"/>
          <p:nvPr/>
        </p:nvSpPr>
        <p:spPr>
          <a:xfrm>
            <a:off x="6309360" y="2743200"/>
            <a:ext cx="4206240" cy="1023424"/>
          </a:xfrm>
          <a:prstGeom prst="rect">
            <a:avLst/>
          </a:prstGeom>
          <a:noFill/>
        </p:spPr>
        <p:txBody>
          <a:bodyPr wrap="square">
            <a:noAutofit/>
          </a:bodyPr>
          <a:lstStyle/>
          <a:p>
            <a:pPr algn="l"/>
            <a:r>
              <a:rPr b="1" sz="4000">
                <a:solidFill>
                  <a:srgbClr val="B83A2E"/>
                </a:solidFill>
                <a:latin typeface="Segoe UI Semibold"/>
              </a:rPr>
              <a:t>−$13,000</a:t>
            </a:r>
          </a:p>
        </p:txBody>
      </p:sp>
      <p:sp>
        <p:nvSpPr>
          <p:cNvPr id="18" name="TextBox 17"/>
          <p:cNvSpPr txBox="1"/>
          <p:nvPr/>
        </p:nvSpPr>
        <p:spPr>
          <a:xfrm>
            <a:off x="6309360" y="3611880"/>
            <a:ext cx="4206240" cy="365760"/>
          </a:xfrm>
          <a:prstGeom prst="rect">
            <a:avLst/>
          </a:prstGeom>
          <a:noFill/>
        </p:spPr>
        <p:txBody>
          <a:bodyPr wrap="square">
            <a:noAutofit/>
          </a:bodyPr>
          <a:lstStyle/>
          <a:p>
            <a:pPr algn="l"/>
            <a:r>
              <a:rPr sz="1250" i="0" b="0">
                <a:solidFill>
                  <a:srgbClr val="5B6B7E"/>
                </a:solidFill>
                <a:latin typeface="Segoe UI"/>
              </a:rPr>
              <a:t>the bank loses 65% of what it lent</a:t>
            </a:r>
          </a:p>
        </p:txBody>
      </p:sp>
      <p:sp>
        <p:nvSpPr>
          <p:cNvPr id="19" name="Rounded Rectangle 18"/>
          <p:cNvSpPr/>
          <p:nvPr/>
        </p:nvSpPr>
        <p:spPr>
          <a:xfrm>
            <a:off x="640080" y="4389120"/>
            <a:ext cx="10881360" cy="868680"/>
          </a:xfrm>
          <a:prstGeom prst="roundRect">
            <a:avLst>
              <a:gd name="adj" fmla="val 4000"/>
            </a:avLst>
          </a:prstGeom>
          <a:solidFill>
            <a:srgbClr val="142236"/>
          </a:solidFill>
          <a:ln w="12700">
            <a:solidFill>
              <a:srgbClr val="1422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553712"/>
            <a:ext cx="10332720" cy="548640"/>
          </a:xfrm>
          <a:prstGeom prst="rect">
            <a:avLst/>
          </a:prstGeom>
          <a:noFill/>
        </p:spPr>
        <p:txBody>
          <a:bodyPr wrap="square">
            <a:noAutofit/>
          </a:bodyPr>
          <a:lstStyle/>
          <a:p>
            <a:pPr algn="l"/>
            <a:r>
              <a:rPr sz="2100" i="0" b="1">
                <a:solidFill>
                  <a:srgbClr val="FFFFFF"/>
                </a:solidFill>
                <a:latin typeface="Segoe UI"/>
              </a:rPr>
              <a:t>One Applicant B costs the bank thirteen Applicant A's.</a:t>
            </a:r>
          </a:p>
        </p:txBody>
      </p:sp>
      <p:sp>
        <p:nvSpPr>
          <p:cNvPr id="21" name="Rounded Rectangle 20"/>
          <p:cNvSpPr/>
          <p:nvPr/>
        </p:nvSpPr>
        <p:spPr>
          <a:xfrm>
            <a:off x="640080" y="5440680"/>
            <a:ext cx="10881360" cy="105156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5440680"/>
            <a:ext cx="54864" cy="105156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559552"/>
            <a:ext cx="10424160" cy="256032"/>
          </a:xfrm>
          <a:prstGeom prst="rect">
            <a:avLst/>
          </a:prstGeom>
          <a:noFill/>
        </p:spPr>
        <p:txBody>
          <a:bodyPr wrap="square">
            <a:noAutofit/>
          </a:bodyPr>
          <a:lstStyle/>
          <a:p>
            <a:pPr algn="l"/>
            <a:r>
              <a:rPr sz="1000" i="0" b="1">
                <a:solidFill>
                  <a:srgbClr val="E06E1D"/>
                </a:solidFill>
                <a:latin typeface="Segoe UI"/>
              </a:rPr>
              <a:t>WHY THIS IS HARD</a:t>
            </a:r>
          </a:p>
        </p:txBody>
      </p:sp>
      <p:sp>
        <p:nvSpPr>
          <p:cNvPr id="24" name="TextBox 23"/>
          <p:cNvSpPr txBox="1"/>
          <p:nvPr/>
        </p:nvSpPr>
        <p:spPr>
          <a:xfrm>
            <a:off x="877824" y="5824728"/>
            <a:ext cx="10424160" cy="594359"/>
          </a:xfrm>
          <a:prstGeom prst="rect">
            <a:avLst/>
          </a:prstGeom>
          <a:noFill/>
        </p:spPr>
        <p:txBody>
          <a:bodyPr wrap="square">
            <a:noAutofit/>
          </a:bodyPr>
          <a:lstStyle/>
          <a:p>
            <a:pPr algn="l"/>
            <a:r>
              <a:rPr sz="1300" i="0" b="0">
                <a:solidFill>
                  <a:srgbClr val="142236"/>
                </a:solidFill>
                <a:latin typeface="Segoe UI"/>
              </a:rPr>
              <a:t>About 8 of every 100 loans we approve turn out to be a B. I cannot tell them apart by looking, and the two mistakes do not cost the same, so the entire job is working out which one is sitting in front of us before any money moves.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03 / 13</a:t>
            </a:r>
          </a:p>
        </p:txBody>
      </p:sp>
      <p:sp>
        <p:nvSpPr>
          <p:cNvPr id="5" name="Rounded Rectangle 4"/>
          <p:cNvSpPr/>
          <p:nvPr/>
        </p:nvSpPr>
        <p:spPr>
          <a:xfrm>
            <a:off x="621792" y="384048"/>
            <a:ext cx="2042998"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MY APPROACH</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What I actually did, in four steps</a:t>
            </a:r>
          </a:p>
        </p:txBody>
      </p:sp>
      <p:sp>
        <p:nvSpPr>
          <p:cNvPr id="7" name="Rounded Rectangle 6"/>
          <p:cNvSpPr/>
          <p:nvPr/>
        </p:nvSpPr>
        <p:spPr>
          <a:xfrm>
            <a:off x="640080" y="1691640"/>
            <a:ext cx="2377440" cy="28803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288036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7" y="1874520"/>
            <a:ext cx="493776" cy="493776"/>
          </a:xfrm>
          <a:prstGeom prst="ellipse">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18288" bIns="18288"/>
          <a:lstStyle/>
          <a:p>
            <a:pPr algn="ctr"/>
            <a:r>
              <a:rPr sz="1400" b="1">
                <a:solidFill>
                  <a:srgbClr val="FFFFFF"/>
                </a:solidFill>
                <a:latin typeface="Segoe UI Semibold"/>
              </a:rPr>
              <a:t>01</a:t>
            </a:r>
          </a:p>
        </p:txBody>
      </p:sp>
      <p:sp>
        <p:nvSpPr>
          <p:cNvPr id="10" name="TextBox 9"/>
          <p:cNvSpPr txBox="1"/>
          <p:nvPr/>
        </p:nvSpPr>
        <p:spPr>
          <a:xfrm>
            <a:off x="841247" y="2496312"/>
            <a:ext cx="1993392" cy="457200"/>
          </a:xfrm>
          <a:prstGeom prst="rect">
            <a:avLst/>
          </a:prstGeom>
          <a:noFill/>
        </p:spPr>
        <p:txBody>
          <a:bodyPr wrap="square">
            <a:noAutofit/>
          </a:bodyPr>
          <a:lstStyle/>
          <a:p>
            <a:pPr algn="l"/>
            <a:r>
              <a:rPr sz="1300" i="0" b="1">
                <a:solidFill>
                  <a:srgbClr val="142236"/>
                </a:solidFill>
                <a:latin typeface="Segoe UI"/>
              </a:rPr>
              <a:t>Gathered the evidence</a:t>
            </a:r>
          </a:p>
        </p:txBody>
      </p:sp>
      <p:sp>
        <p:nvSpPr>
          <p:cNvPr id="11" name="TextBox 10"/>
          <p:cNvSpPr txBox="1"/>
          <p:nvPr/>
        </p:nvSpPr>
        <p:spPr>
          <a:xfrm>
            <a:off x="841247" y="2953512"/>
            <a:ext cx="1993392" cy="1463039"/>
          </a:xfrm>
          <a:prstGeom prst="rect">
            <a:avLst/>
          </a:prstGeom>
          <a:noFill/>
        </p:spPr>
        <p:txBody>
          <a:bodyPr wrap="square">
            <a:noAutofit/>
          </a:bodyPr>
          <a:lstStyle/>
          <a:p>
            <a:pPr algn="l"/>
            <a:r>
              <a:rPr sz="1150" i="0" b="0">
                <a:solidFill>
                  <a:srgbClr val="5B6B7E"/>
                </a:solidFill>
                <a:latin typeface="Segoe UI"/>
              </a:rPr>
              <a:t>307,511 past applications, joined to 1.7M records of how those same people repaid other lenders.</a:t>
            </a:r>
          </a:p>
        </p:txBody>
      </p:sp>
      <p:sp>
        <p:nvSpPr>
          <p:cNvPr id="12" name="Chevron 11"/>
          <p:cNvSpPr/>
          <p:nvPr/>
        </p:nvSpPr>
        <p:spPr>
          <a:xfrm>
            <a:off x="3090672" y="2991916"/>
            <a:ext cx="310896" cy="279806"/>
          </a:xfrm>
          <a:prstGeom prst="chevron">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74720" y="1691640"/>
            <a:ext cx="2377440" cy="28803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691640"/>
            <a:ext cx="54864" cy="288036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75887" y="1874520"/>
            <a:ext cx="493776" cy="493776"/>
          </a:xfrm>
          <a:prstGeom prst="ellipse">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18288" bIns="18288"/>
          <a:lstStyle/>
          <a:p>
            <a:pPr algn="ctr"/>
            <a:r>
              <a:rPr sz="1400" b="1">
                <a:solidFill>
                  <a:srgbClr val="FFFFFF"/>
                </a:solidFill>
                <a:latin typeface="Segoe UI Semibold"/>
              </a:rPr>
              <a:t>02</a:t>
            </a:r>
          </a:p>
        </p:txBody>
      </p:sp>
      <p:sp>
        <p:nvSpPr>
          <p:cNvPr id="16" name="TextBox 15"/>
          <p:cNvSpPr txBox="1"/>
          <p:nvPr/>
        </p:nvSpPr>
        <p:spPr>
          <a:xfrm>
            <a:off x="3675887" y="2496312"/>
            <a:ext cx="1993392" cy="457200"/>
          </a:xfrm>
          <a:prstGeom prst="rect">
            <a:avLst/>
          </a:prstGeom>
          <a:noFill/>
        </p:spPr>
        <p:txBody>
          <a:bodyPr wrap="square">
            <a:noAutofit/>
          </a:bodyPr>
          <a:lstStyle/>
          <a:p>
            <a:pPr algn="l"/>
            <a:r>
              <a:rPr sz="1300" i="0" b="1">
                <a:solidFill>
                  <a:srgbClr val="142236"/>
                </a:solidFill>
                <a:latin typeface="Segoe UI"/>
              </a:rPr>
              <a:t>Cleaned it honestly</a:t>
            </a:r>
          </a:p>
        </p:txBody>
      </p:sp>
      <p:sp>
        <p:nvSpPr>
          <p:cNvPr id="17" name="TextBox 16"/>
          <p:cNvSpPr txBox="1"/>
          <p:nvPr/>
        </p:nvSpPr>
        <p:spPr>
          <a:xfrm>
            <a:off x="3675887" y="2953512"/>
            <a:ext cx="1993392" cy="1463039"/>
          </a:xfrm>
          <a:prstGeom prst="rect">
            <a:avLst/>
          </a:prstGeom>
          <a:noFill/>
        </p:spPr>
        <p:txBody>
          <a:bodyPr wrap="square">
            <a:noAutofit/>
          </a:bodyPr>
          <a:lstStyle/>
          <a:p>
            <a:pPr algn="l"/>
            <a:r>
              <a:rPr sz="1150" i="0" b="0">
                <a:solidFill>
                  <a:srgbClr val="5B6B7E"/>
                </a:solidFill>
                <a:latin typeface="Segoe UI"/>
              </a:rPr>
              <a:t>Fixed the data's lies (one field claimed a thousand years of employment) and locked away a test set I would not touch until the end.</a:t>
            </a:r>
          </a:p>
        </p:txBody>
      </p:sp>
      <p:sp>
        <p:nvSpPr>
          <p:cNvPr id="18" name="Chevron 17"/>
          <p:cNvSpPr/>
          <p:nvPr/>
        </p:nvSpPr>
        <p:spPr>
          <a:xfrm>
            <a:off x="5925312" y="2991916"/>
            <a:ext cx="310896" cy="279806"/>
          </a:xfrm>
          <a:prstGeom prst="chevron">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0" y="1691640"/>
            <a:ext cx="2377440" cy="28803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691640"/>
            <a:ext cx="54864" cy="288036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10528" y="1874520"/>
            <a:ext cx="493776" cy="493776"/>
          </a:xfrm>
          <a:prstGeom prst="ellipse">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18288" bIns="18288"/>
          <a:lstStyle/>
          <a:p>
            <a:pPr algn="ctr"/>
            <a:r>
              <a:rPr sz="1400" b="1">
                <a:solidFill>
                  <a:srgbClr val="FFFFFF"/>
                </a:solidFill>
                <a:latin typeface="Segoe UI Semibold"/>
              </a:rPr>
              <a:t>03</a:t>
            </a:r>
          </a:p>
        </p:txBody>
      </p:sp>
      <p:sp>
        <p:nvSpPr>
          <p:cNvPr id="22" name="TextBox 21"/>
          <p:cNvSpPr txBox="1"/>
          <p:nvPr/>
        </p:nvSpPr>
        <p:spPr>
          <a:xfrm>
            <a:off x="6510528" y="2496312"/>
            <a:ext cx="1993392" cy="457200"/>
          </a:xfrm>
          <a:prstGeom prst="rect">
            <a:avLst/>
          </a:prstGeom>
          <a:noFill/>
        </p:spPr>
        <p:txBody>
          <a:bodyPr wrap="square">
            <a:noAutofit/>
          </a:bodyPr>
          <a:lstStyle/>
          <a:p>
            <a:pPr algn="l"/>
            <a:r>
              <a:rPr sz="1300" i="0" b="1">
                <a:solidFill>
                  <a:srgbClr val="142236"/>
                </a:solidFill>
                <a:latin typeface="Segoe UI"/>
              </a:rPr>
              <a:t>Built the signals</a:t>
            </a:r>
          </a:p>
        </p:txBody>
      </p:sp>
      <p:sp>
        <p:nvSpPr>
          <p:cNvPr id="23" name="TextBox 22"/>
          <p:cNvSpPr txBox="1"/>
          <p:nvPr/>
        </p:nvSpPr>
        <p:spPr>
          <a:xfrm>
            <a:off x="6510528" y="2953512"/>
            <a:ext cx="1993392" cy="1463039"/>
          </a:xfrm>
          <a:prstGeom prst="rect">
            <a:avLst/>
          </a:prstGeom>
          <a:noFill/>
        </p:spPr>
        <p:txBody>
          <a:bodyPr wrap="square">
            <a:noAutofit/>
          </a:bodyPr>
          <a:lstStyle/>
          <a:p>
            <a:pPr algn="l"/>
            <a:r>
              <a:rPr sz="1150" i="0" b="0">
                <a:solidFill>
                  <a:srgbClr val="5B6B7E"/>
                </a:solidFill>
                <a:latin typeface="Segoe UI"/>
              </a:rPr>
              <a:t>153 measures a lender actually cares about: what they earn, what they owe, whether they have paid people back before.</a:t>
            </a:r>
          </a:p>
        </p:txBody>
      </p:sp>
      <p:sp>
        <p:nvSpPr>
          <p:cNvPr id="24" name="Chevron 23"/>
          <p:cNvSpPr/>
          <p:nvPr/>
        </p:nvSpPr>
        <p:spPr>
          <a:xfrm>
            <a:off x="8759952" y="2991916"/>
            <a:ext cx="310896" cy="279806"/>
          </a:xfrm>
          <a:prstGeom prst="chevron">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0" y="1691640"/>
            <a:ext cx="2377440" cy="28803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0" y="1691640"/>
            <a:ext cx="54864" cy="288036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345168" y="1874520"/>
            <a:ext cx="493776" cy="493776"/>
          </a:xfrm>
          <a:prstGeom prst="ellipse">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18288" bIns="18288"/>
          <a:lstStyle/>
          <a:p>
            <a:pPr algn="ctr"/>
            <a:r>
              <a:rPr sz="1400" b="1">
                <a:solidFill>
                  <a:srgbClr val="FFFFFF"/>
                </a:solidFill>
                <a:latin typeface="Segoe UI Semibold"/>
              </a:rPr>
              <a:t>04</a:t>
            </a:r>
          </a:p>
        </p:txBody>
      </p:sp>
      <p:sp>
        <p:nvSpPr>
          <p:cNvPr id="28" name="TextBox 27"/>
          <p:cNvSpPr txBox="1"/>
          <p:nvPr/>
        </p:nvSpPr>
        <p:spPr>
          <a:xfrm>
            <a:off x="9345168" y="2496312"/>
            <a:ext cx="1993392" cy="457200"/>
          </a:xfrm>
          <a:prstGeom prst="rect">
            <a:avLst/>
          </a:prstGeom>
          <a:noFill/>
        </p:spPr>
        <p:txBody>
          <a:bodyPr wrap="square">
            <a:noAutofit/>
          </a:bodyPr>
          <a:lstStyle/>
          <a:p>
            <a:pPr algn="l"/>
            <a:r>
              <a:rPr sz="1300" i="0" b="1">
                <a:solidFill>
                  <a:srgbClr val="142236"/>
                </a:solidFill>
                <a:latin typeface="Segoe UI"/>
              </a:rPr>
              <a:t>Tried three models</a:t>
            </a:r>
          </a:p>
        </p:txBody>
      </p:sp>
      <p:sp>
        <p:nvSpPr>
          <p:cNvPr id="29" name="TextBox 28"/>
          <p:cNvSpPr txBox="1"/>
          <p:nvPr/>
        </p:nvSpPr>
        <p:spPr>
          <a:xfrm>
            <a:off x="9345168" y="2953512"/>
            <a:ext cx="1993392" cy="1463039"/>
          </a:xfrm>
          <a:prstGeom prst="rect">
            <a:avLst/>
          </a:prstGeom>
          <a:noFill/>
        </p:spPr>
        <p:txBody>
          <a:bodyPr wrap="square">
            <a:noAutofit/>
          </a:bodyPr>
          <a:lstStyle/>
          <a:p>
            <a:pPr algn="l"/>
            <a:r>
              <a:rPr sz="1150" i="0" b="0">
                <a:solidFill>
                  <a:srgbClr val="5B6B7E"/>
                </a:solidFill>
                <a:latin typeface="Segoe UI"/>
              </a:rPr>
              <a:t>From a simple points checklist to a modern one, judged on the same evidence, under the same rules.</a:t>
            </a:r>
          </a:p>
        </p:txBody>
      </p:sp>
      <p:sp>
        <p:nvSpPr>
          <p:cNvPr id="30" name="Rounded Rectangle 29"/>
          <p:cNvSpPr/>
          <p:nvPr/>
        </p:nvSpPr>
        <p:spPr>
          <a:xfrm>
            <a:off x="640080" y="4846320"/>
            <a:ext cx="10881360" cy="132588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4846320"/>
            <a:ext cx="54864" cy="132588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7824" y="4965192"/>
            <a:ext cx="10424160" cy="256032"/>
          </a:xfrm>
          <a:prstGeom prst="rect">
            <a:avLst/>
          </a:prstGeom>
          <a:noFill/>
        </p:spPr>
        <p:txBody>
          <a:bodyPr wrap="square">
            <a:noAutofit/>
          </a:bodyPr>
          <a:lstStyle/>
          <a:p>
            <a:pPr algn="l"/>
            <a:r>
              <a:rPr sz="1000" i="0" b="1">
                <a:solidFill>
                  <a:srgbClr val="E06E1D"/>
                </a:solidFill>
                <a:latin typeface="Segoe UI"/>
              </a:rPr>
              <a:t>WHY YOU CAN TRUST THE NUMBER THAT FOLLOWS</a:t>
            </a:r>
          </a:p>
        </p:txBody>
      </p:sp>
      <p:sp>
        <p:nvSpPr>
          <p:cNvPr id="33" name="TextBox 32"/>
          <p:cNvSpPr txBox="1"/>
          <p:nvPr/>
        </p:nvSpPr>
        <p:spPr>
          <a:xfrm>
            <a:off x="877824" y="5230368"/>
            <a:ext cx="10424160" cy="868680"/>
          </a:xfrm>
          <a:prstGeom prst="rect">
            <a:avLst/>
          </a:prstGeom>
          <a:noFill/>
        </p:spPr>
        <p:txBody>
          <a:bodyPr wrap="square">
            <a:noAutofit/>
          </a:bodyPr>
          <a:lstStyle/>
          <a:p>
            <a:pPr algn="l"/>
            <a:r>
              <a:rPr sz="1250" i="0" b="0">
                <a:solidFill>
                  <a:srgbClr val="142236"/>
                </a:solidFill>
                <a:latin typeface="Segoe UI"/>
              </a:rPr>
              <a:t>The test set was sealed until the very last step, and every cleaning rule was learned from the training data only. That matters because it is the difference between a number that holds up in production and a number that only ever looked good in a notebook.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04 / 13</a:t>
            </a:r>
          </a:p>
        </p:txBody>
      </p:sp>
      <p:sp>
        <p:nvSpPr>
          <p:cNvPr id="5" name="Rounded Rectangle 4"/>
          <p:cNvSpPr/>
          <p:nvPr/>
        </p:nvSpPr>
        <p:spPr>
          <a:xfrm>
            <a:off x="621792" y="384048"/>
            <a:ext cx="4330141"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RESULTS  ·  THE SCOREBOARD</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Three ways to make the call</a:t>
            </a:r>
          </a:p>
        </p:txBody>
      </p:sp>
      <p:sp>
        <p:nvSpPr>
          <p:cNvPr id="7" name="Rounded Rectangle 6"/>
          <p:cNvSpPr/>
          <p:nvPr/>
        </p:nvSpPr>
        <p:spPr>
          <a:xfrm>
            <a:off x="640080" y="1691640"/>
            <a:ext cx="3456432" cy="22402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22402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37944"/>
            <a:ext cx="2999232" cy="274320"/>
          </a:xfrm>
          <a:prstGeom prst="rect">
            <a:avLst/>
          </a:prstGeom>
          <a:noFill/>
        </p:spPr>
        <p:txBody>
          <a:bodyPr wrap="square">
            <a:noAutofit/>
          </a:bodyPr>
          <a:lstStyle/>
          <a:p>
            <a:pPr algn="l"/>
            <a:r>
              <a:rPr sz="1050" i="0" b="1">
                <a:solidFill>
                  <a:srgbClr val="0B5FA5"/>
                </a:solidFill>
                <a:latin typeface="Segoe UI"/>
              </a:rPr>
              <a:t>THE CHECKLIST</a:t>
            </a:r>
          </a:p>
        </p:txBody>
      </p:sp>
      <p:sp>
        <p:nvSpPr>
          <p:cNvPr id="10" name="TextBox 9"/>
          <p:cNvSpPr txBox="1"/>
          <p:nvPr/>
        </p:nvSpPr>
        <p:spPr>
          <a:xfrm>
            <a:off x="859536" y="2112264"/>
            <a:ext cx="2999232" cy="320040"/>
          </a:xfrm>
          <a:prstGeom prst="rect">
            <a:avLst/>
          </a:prstGeom>
          <a:noFill/>
        </p:spPr>
        <p:txBody>
          <a:bodyPr wrap="square">
            <a:noAutofit/>
          </a:bodyPr>
          <a:lstStyle/>
          <a:p>
            <a:pPr algn="l"/>
            <a:r>
              <a:rPr sz="1400" i="0" b="1">
                <a:solidFill>
                  <a:srgbClr val="142236"/>
                </a:solidFill>
                <a:latin typeface="Segoe UI"/>
              </a:rPr>
              <a:t>Logistic scorecard</a:t>
            </a:r>
          </a:p>
        </p:txBody>
      </p:sp>
      <p:sp>
        <p:nvSpPr>
          <p:cNvPr id="11" name="TextBox 10"/>
          <p:cNvSpPr txBox="1"/>
          <p:nvPr/>
        </p:nvSpPr>
        <p:spPr>
          <a:xfrm>
            <a:off x="859536" y="2496312"/>
            <a:ext cx="2999232" cy="914400"/>
          </a:xfrm>
          <a:prstGeom prst="rect">
            <a:avLst/>
          </a:prstGeom>
          <a:noFill/>
        </p:spPr>
        <p:txBody>
          <a:bodyPr wrap="square">
            <a:noAutofit/>
          </a:bodyPr>
          <a:lstStyle/>
          <a:p>
            <a:pPr algn="l"/>
            <a:r>
              <a:rPr sz="1150" i="0" b="0">
                <a:solidFill>
                  <a:srgbClr val="5B6B7E"/>
                </a:solidFill>
                <a:latin typeface="Segoe UI"/>
              </a:rPr>
              <a:t>Adds up points, like an underwriter with a rulebook. Easy to explain, but it can only draw straight lines.</a:t>
            </a:r>
          </a:p>
        </p:txBody>
      </p:sp>
      <p:sp>
        <p:nvSpPr>
          <p:cNvPr id="12" name="TextBox 11"/>
          <p:cNvSpPr txBox="1"/>
          <p:nvPr/>
        </p:nvSpPr>
        <p:spPr>
          <a:xfrm>
            <a:off x="859536" y="3383280"/>
            <a:ext cx="1828800" cy="759655"/>
          </a:xfrm>
          <a:prstGeom prst="rect">
            <a:avLst/>
          </a:prstGeom>
          <a:noFill/>
        </p:spPr>
        <p:txBody>
          <a:bodyPr wrap="square">
            <a:noAutofit/>
          </a:bodyPr>
          <a:lstStyle/>
          <a:p>
            <a:pPr algn="l"/>
            <a:r>
              <a:rPr b="1" sz="2500">
                <a:solidFill>
                  <a:srgbClr val="0B5FA5"/>
                </a:solidFill>
                <a:latin typeface="Segoe UI Semibold"/>
              </a:rPr>
              <a:t>0.757</a:t>
            </a:r>
          </a:p>
        </p:txBody>
      </p:sp>
      <p:sp>
        <p:nvSpPr>
          <p:cNvPr id="13" name="Rounded Rectangle 12"/>
          <p:cNvSpPr/>
          <p:nvPr/>
        </p:nvSpPr>
        <p:spPr>
          <a:xfrm>
            <a:off x="4352544" y="1691640"/>
            <a:ext cx="3456432" cy="22402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1691640"/>
            <a:ext cx="54864" cy="22402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37944"/>
            <a:ext cx="2999232" cy="274320"/>
          </a:xfrm>
          <a:prstGeom prst="rect">
            <a:avLst/>
          </a:prstGeom>
          <a:noFill/>
        </p:spPr>
        <p:txBody>
          <a:bodyPr wrap="square">
            <a:noAutofit/>
          </a:bodyPr>
          <a:lstStyle/>
          <a:p>
            <a:pPr algn="l"/>
            <a:r>
              <a:rPr sz="1050" i="0" b="1">
                <a:solidFill>
                  <a:srgbClr val="0B5FA5"/>
                </a:solidFill>
                <a:latin typeface="Segoe UI"/>
              </a:rPr>
              <a:t>THE COMMITTEE</a:t>
            </a:r>
          </a:p>
        </p:txBody>
      </p:sp>
      <p:sp>
        <p:nvSpPr>
          <p:cNvPr id="16" name="TextBox 15"/>
          <p:cNvSpPr txBox="1"/>
          <p:nvPr/>
        </p:nvSpPr>
        <p:spPr>
          <a:xfrm>
            <a:off x="4572000" y="2112264"/>
            <a:ext cx="2999232" cy="320040"/>
          </a:xfrm>
          <a:prstGeom prst="rect">
            <a:avLst/>
          </a:prstGeom>
          <a:noFill/>
        </p:spPr>
        <p:txBody>
          <a:bodyPr wrap="square">
            <a:noAutofit/>
          </a:bodyPr>
          <a:lstStyle/>
          <a:p>
            <a:pPr algn="l"/>
            <a:r>
              <a:rPr sz="1400" i="0" b="1">
                <a:solidFill>
                  <a:srgbClr val="142236"/>
                </a:solidFill>
                <a:latin typeface="Segoe UI"/>
              </a:rPr>
              <a:t>Random forest</a:t>
            </a:r>
          </a:p>
        </p:txBody>
      </p:sp>
      <p:sp>
        <p:nvSpPr>
          <p:cNvPr id="17" name="TextBox 16"/>
          <p:cNvSpPr txBox="1"/>
          <p:nvPr/>
        </p:nvSpPr>
        <p:spPr>
          <a:xfrm>
            <a:off x="4572000" y="2496312"/>
            <a:ext cx="2999232" cy="914400"/>
          </a:xfrm>
          <a:prstGeom prst="rect">
            <a:avLst/>
          </a:prstGeom>
          <a:noFill/>
        </p:spPr>
        <p:txBody>
          <a:bodyPr wrap="square">
            <a:noAutofit/>
          </a:bodyPr>
          <a:lstStyle/>
          <a:p>
            <a:pPr algn="l"/>
            <a:r>
              <a:rPr sz="1150" i="0" b="0">
                <a:solidFill>
                  <a:srgbClr val="5B6B7E"/>
                </a:solidFill>
                <a:latin typeface="Segoe UI"/>
              </a:rPr>
              <a:t>Hundreds of small opinions, each looking at part of the file, then a majority vote.</a:t>
            </a:r>
          </a:p>
        </p:txBody>
      </p:sp>
      <p:sp>
        <p:nvSpPr>
          <p:cNvPr id="18" name="TextBox 17"/>
          <p:cNvSpPr txBox="1"/>
          <p:nvPr/>
        </p:nvSpPr>
        <p:spPr>
          <a:xfrm>
            <a:off x="4572000" y="3383280"/>
            <a:ext cx="1828800" cy="759655"/>
          </a:xfrm>
          <a:prstGeom prst="rect">
            <a:avLst/>
          </a:prstGeom>
          <a:noFill/>
        </p:spPr>
        <p:txBody>
          <a:bodyPr wrap="square">
            <a:noAutofit/>
          </a:bodyPr>
          <a:lstStyle/>
          <a:p>
            <a:pPr algn="l"/>
            <a:r>
              <a:rPr b="1" sz="2500">
                <a:solidFill>
                  <a:srgbClr val="0B5FA5"/>
                </a:solidFill>
                <a:latin typeface="Segoe UI Semibold"/>
              </a:rPr>
              <a:t>0.758</a:t>
            </a:r>
          </a:p>
        </p:txBody>
      </p:sp>
      <p:sp>
        <p:nvSpPr>
          <p:cNvPr id="19" name="Rounded Rectangle 18"/>
          <p:cNvSpPr/>
          <p:nvPr/>
        </p:nvSpPr>
        <p:spPr>
          <a:xfrm>
            <a:off x="8065008" y="1691640"/>
            <a:ext cx="3456432" cy="2240280"/>
          </a:xfrm>
          <a:prstGeom prst="roundRect">
            <a:avLst>
              <a:gd name="adj" fmla="val 4000"/>
            </a:avLst>
          </a:prstGeom>
          <a:solidFill>
            <a:srgbClr val="E9F6EF"/>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1691640"/>
            <a:ext cx="54864" cy="224028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4464" y="1837944"/>
            <a:ext cx="2999232" cy="274320"/>
          </a:xfrm>
          <a:prstGeom prst="rect">
            <a:avLst/>
          </a:prstGeom>
          <a:noFill/>
        </p:spPr>
        <p:txBody>
          <a:bodyPr wrap="square">
            <a:noAutofit/>
          </a:bodyPr>
          <a:lstStyle/>
          <a:p>
            <a:pPr algn="l"/>
            <a:r>
              <a:rPr sz="1050" i="0" b="1">
                <a:solidFill>
                  <a:srgbClr val="1E8E5A"/>
                </a:solidFill>
                <a:latin typeface="Segoe UI"/>
              </a:rPr>
              <a:t>THE APPRENTICE</a:t>
            </a:r>
          </a:p>
        </p:txBody>
      </p:sp>
      <p:sp>
        <p:nvSpPr>
          <p:cNvPr id="22" name="TextBox 21"/>
          <p:cNvSpPr txBox="1"/>
          <p:nvPr/>
        </p:nvSpPr>
        <p:spPr>
          <a:xfrm>
            <a:off x="8284464" y="2112264"/>
            <a:ext cx="2999232" cy="320040"/>
          </a:xfrm>
          <a:prstGeom prst="rect">
            <a:avLst/>
          </a:prstGeom>
          <a:noFill/>
        </p:spPr>
        <p:txBody>
          <a:bodyPr wrap="square">
            <a:noAutofit/>
          </a:bodyPr>
          <a:lstStyle/>
          <a:p>
            <a:pPr algn="l"/>
            <a:r>
              <a:rPr sz="1400" i="0" b="1">
                <a:solidFill>
                  <a:srgbClr val="142236"/>
                </a:solidFill>
                <a:latin typeface="Segoe UI"/>
              </a:rPr>
              <a:t>Gradient boosting</a:t>
            </a:r>
          </a:p>
        </p:txBody>
      </p:sp>
      <p:sp>
        <p:nvSpPr>
          <p:cNvPr id="23" name="TextBox 22"/>
          <p:cNvSpPr txBox="1"/>
          <p:nvPr/>
        </p:nvSpPr>
        <p:spPr>
          <a:xfrm>
            <a:off x="8284464" y="2496312"/>
            <a:ext cx="2999232" cy="914400"/>
          </a:xfrm>
          <a:prstGeom prst="rect">
            <a:avLst/>
          </a:prstGeom>
          <a:noFill/>
        </p:spPr>
        <p:txBody>
          <a:bodyPr wrap="square">
            <a:noAutofit/>
          </a:bodyPr>
          <a:lstStyle/>
          <a:p>
            <a:pPr algn="l"/>
            <a:r>
              <a:rPr sz="1150" i="0" b="0">
                <a:solidFill>
                  <a:srgbClr val="5B6B7E"/>
                </a:solidFill>
                <a:latin typeface="Segoe UI"/>
              </a:rPr>
              <a:t>Each round studies the last round's mistakes and corrects them. Slowest to train, sharpest answer.</a:t>
            </a:r>
          </a:p>
        </p:txBody>
      </p:sp>
      <p:sp>
        <p:nvSpPr>
          <p:cNvPr id="24" name="TextBox 23"/>
          <p:cNvSpPr txBox="1"/>
          <p:nvPr/>
        </p:nvSpPr>
        <p:spPr>
          <a:xfrm>
            <a:off x="8284464" y="3383280"/>
            <a:ext cx="1828800" cy="759655"/>
          </a:xfrm>
          <a:prstGeom prst="rect">
            <a:avLst/>
          </a:prstGeom>
          <a:noFill/>
        </p:spPr>
        <p:txBody>
          <a:bodyPr wrap="square">
            <a:noAutofit/>
          </a:bodyPr>
          <a:lstStyle/>
          <a:p>
            <a:pPr algn="l"/>
            <a:r>
              <a:rPr b="1" sz="2500">
                <a:solidFill>
                  <a:srgbClr val="1E8E5A"/>
                </a:solidFill>
                <a:latin typeface="Segoe UI Semibold"/>
              </a:rPr>
              <a:t>0.774</a:t>
            </a:r>
          </a:p>
        </p:txBody>
      </p:sp>
      <p:sp>
        <p:nvSpPr>
          <p:cNvPr id="25" name="Rounded Rectangle 24"/>
          <p:cNvSpPr/>
          <p:nvPr/>
        </p:nvSpPr>
        <p:spPr>
          <a:xfrm>
            <a:off x="10287000" y="3502152"/>
            <a:ext cx="1320393" cy="329184"/>
          </a:xfrm>
          <a:prstGeom prst="roundRect">
            <a:avLst>
              <a:gd name="adj" fmla="val 50000"/>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900" spc="80">
                <a:solidFill>
                  <a:srgbClr val="FFFFFF"/>
                </a:solidFill>
                <a:latin typeface="Segoe UI"/>
              </a:rPr>
              <a:t>SELECTED</a:t>
            </a:r>
          </a:p>
        </p:txBody>
      </p:sp>
      <p:sp>
        <p:nvSpPr>
          <p:cNvPr id="26" name="TextBox 25"/>
          <p:cNvSpPr txBox="1"/>
          <p:nvPr/>
        </p:nvSpPr>
        <p:spPr>
          <a:xfrm>
            <a:off x="640080" y="4069080"/>
            <a:ext cx="10881360" cy="320040"/>
          </a:xfrm>
          <a:prstGeom prst="rect">
            <a:avLst/>
          </a:prstGeom>
          <a:noFill/>
        </p:spPr>
        <p:txBody>
          <a:bodyPr wrap="square">
            <a:noAutofit/>
          </a:bodyPr>
          <a:lstStyle/>
          <a:p>
            <a:pPr algn="l"/>
            <a:r>
              <a:rPr sz="1250" i="0" b="0">
                <a:solidFill>
                  <a:srgbClr val="142236"/>
                </a:solidFill>
                <a:latin typeface="Segoe UI"/>
              </a:rPr>
              <a:t>That score is AUROC: given any good customer and any bad one, how often does the model correctly rank the bad one as riskier?</a:t>
            </a:r>
          </a:p>
        </p:txBody>
      </p:sp>
      <p:sp>
        <p:nvSpPr>
          <p:cNvPr id="27" name="Rectangle 26"/>
          <p:cNvSpPr/>
          <p:nvPr/>
        </p:nvSpPr>
        <p:spPr>
          <a:xfrm>
            <a:off x="640080" y="5029200"/>
            <a:ext cx="3046780" cy="384048"/>
          </a:xfrm>
          <a:prstGeom prst="rect">
            <a:avLst/>
          </a:prstGeom>
          <a:solidFill>
            <a:srgbClr val="F2D5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468112"/>
            <a:ext cx="3046780" cy="457200"/>
          </a:xfrm>
          <a:prstGeom prst="rect">
            <a:avLst/>
          </a:prstGeom>
          <a:noFill/>
        </p:spPr>
        <p:txBody>
          <a:bodyPr wrap="square">
            <a:noAutofit/>
          </a:bodyPr>
          <a:lstStyle/>
          <a:p>
            <a:pPr algn="ctr"/>
            <a:r>
              <a:rPr sz="1000" i="0" b="0">
                <a:solidFill>
                  <a:srgbClr val="5B6B7E"/>
                </a:solidFill>
                <a:latin typeface="Segoe UI"/>
              </a:rPr>
              <a:t>0.50 to 0.65
coin flip to weak</a:t>
            </a:r>
          </a:p>
        </p:txBody>
      </p:sp>
      <p:sp>
        <p:nvSpPr>
          <p:cNvPr id="29" name="Rectangle 28"/>
          <p:cNvSpPr/>
          <p:nvPr/>
        </p:nvSpPr>
        <p:spPr>
          <a:xfrm>
            <a:off x="3686860" y="5029200"/>
            <a:ext cx="2393899" cy="384048"/>
          </a:xfrm>
          <a:prstGeom prst="rect">
            <a:avLst/>
          </a:prstGeom>
          <a:solidFill>
            <a:srgbClr val="FAEC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86860" y="5468112"/>
            <a:ext cx="2393899" cy="457200"/>
          </a:xfrm>
          <a:prstGeom prst="rect">
            <a:avLst/>
          </a:prstGeom>
          <a:noFill/>
        </p:spPr>
        <p:txBody>
          <a:bodyPr wrap="square">
            <a:noAutofit/>
          </a:bodyPr>
          <a:lstStyle/>
          <a:p>
            <a:pPr algn="ctr"/>
            <a:r>
              <a:rPr sz="1000" i="0" b="0">
                <a:solidFill>
                  <a:srgbClr val="5B6B7E"/>
                </a:solidFill>
                <a:latin typeface="Segoe UI"/>
              </a:rPr>
              <a:t>0.65 to 0.70
usable, not good</a:t>
            </a:r>
          </a:p>
        </p:txBody>
      </p:sp>
      <p:sp>
        <p:nvSpPr>
          <p:cNvPr id="31" name="Rectangle 30"/>
          <p:cNvSpPr/>
          <p:nvPr/>
        </p:nvSpPr>
        <p:spPr>
          <a:xfrm>
            <a:off x="6080760" y="5029200"/>
            <a:ext cx="3046780" cy="384048"/>
          </a:xfrm>
          <a:prstGeom prst="rect">
            <a:avLst/>
          </a:prstGeom>
          <a:solidFill>
            <a:srgbClr val="D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5468112"/>
            <a:ext cx="3046780" cy="457200"/>
          </a:xfrm>
          <a:prstGeom prst="rect">
            <a:avLst/>
          </a:prstGeom>
          <a:noFill/>
        </p:spPr>
        <p:txBody>
          <a:bodyPr wrap="square">
            <a:noAutofit/>
          </a:bodyPr>
          <a:lstStyle/>
          <a:p>
            <a:pPr algn="ctr"/>
            <a:r>
              <a:rPr sz="1000" i="0" b="0">
                <a:solidFill>
                  <a:srgbClr val="5B6B7E"/>
                </a:solidFill>
                <a:latin typeface="Segoe UI"/>
              </a:rPr>
              <a:t>0.70 to 0.78
industry normal on this kind of data</a:t>
            </a:r>
          </a:p>
        </p:txBody>
      </p:sp>
      <p:sp>
        <p:nvSpPr>
          <p:cNvPr id="33" name="Rectangle 32"/>
          <p:cNvSpPr/>
          <p:nvPr/>
        </p:nvSpPr>
        <p:spPr>
          <a:xfrm>
            <a:off x="9127540" y="5029200"/>
            <a:ext cx="2393899" cy="384048"/>
          </a:xfrm>
          <a:prstGeom prst="rect">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27540" y="5468112"/>
            <a:ext cx="2393899" cy="457200"/>
          </a:xfrm>
          <a:prstGeom prst="rect">
            <a:avLst/>
          </a:prstGeom>
          <a:noFill/>
        </p:spPr>
        <p:txBody>
          <a:bodyPr wrap="square">
            <a:noAutofit/>
          </a:bodyPr>
          <a:lstStyle/>
          <a:p>
            <a:pPr algn="ctr"/>
            <a:r>
              <a:rPr sz="1000" i="0" b="0">
                <a:solidFill>
                  <a:srgbClr val="5B6B7E"/>
                </a:solidFill>
                <a:latin typeface="Segoe UI"/>
              </a:rPr>
              <a:t>0.80 and up
needs behavioural data I do not have</a:t>
            </a:r>
          </a:p>
        </p:txBody>
      </p:sp>
      <p:sp>
        <p:nvSpPr>
          <p:cNvPr id="35" name="Rectangle 34"/>
          <p:cNvSpPr/>
          <p:nvPr/>
        </p:nvSpPr>
        <p:spPr>
          <a:xfrm>
            <a:off x="7205014" y="4901184"/>
            <a:ext cx="36576" cy="640080"/>
          </a:xfrm>
          <a:prstGeom prst="rect">
            <a:avLst/>
          </a:prstGeom>
          <a:solidFill>
            <a:srgbClr val="142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34582" y="4617720"/>
            <a:ext cx="2377440" cy="365760"/>
          </a:xfrm>
          <a:prstGeom prst="rect">
            <a:avLst/>
          </a:prstGeom>
          <a:noFill/>
        </p:spPr>
        <p:txBody>
          <a:bodyPr wrap="square">
            <a:noAutofit/>
          </a:bodyPr>
          <a:lstStyle/>
          <a:p>
            <a:pPr algn="ctr"/>
            <a:r>
              <a:rPr sz="1250" i="0" b="1">
                <a:solidFill>
                  <a:srgbClr val="142236"/>
                </a:solidFill>
                <a:latin typeface="Segoe UI"/>
              </a:rPr>
              <a:t>mine: 0.774</a:t>
            </a:r>
          </a:p>
        </p:txBody>
      </p:sp>
      <p:sp>
        <p:nvSpPr>
          <p:cNvPr id="37" name="Rounded Rectangle 36"/>
          <p:cNvSpPr/>
          <p:nvPr/>
        </p:nvSpPr>
        <p:spPr>
          <a:xfrm>
            <a:off x="640080" y="6080760"/>
            <a:ext cx="10881360" cy="64008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6080760"/>
            <a:ext cx="54864" cy="64008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6199632"/>
            <a:ext cx="10424160" cy="256032"/>
          </a:xfrm>
          <a:prstGeom prst="rect">
            <a:avLst/>
          </a:prstGeom>
          <a:noFill/>
        </p:spPr>
        <p:txBody>
          <a:bodyPr wrap="square">
            <a:noAutofit/>
          </a:bodyPr>
          <a:lstStyle/>
          <a:p>
            <a:pPr algn="l"/>
            <a:r>
              <a:rPr sz="1000" i="0" b="1">
                <a:solidFill>
                  <a:srgbClr val="E06E1D"/>
                </a:solidFill>
                <a:latin typeface="Segoe UI"/>
              </a:rPr>
              <a:t>READING THE SCALE HONESTLY</a:t>
            </a:r>
          </a:p>
        </p:txBody>
      </p:sp>
      <p:sp>
        <p:nvSpPr>
          <p:cNvPr id="40" name="TextBox 39"/>
          <p:cNvSpPr txBox="1"/>
          <p:nvPr/>
        </p:nvSpPr>
        <p:spPr>
          <a:xfrm>
            <a:off x="877824" y="6464808"/>
            <a:ext cx="10424160" cy="182879"/>
          </a:xfrm>
          <a:prstGeom prst="rect">
            <a:avLst/>
          </a:prstGeom>
          <a:noFill/>
        </p:spPr>
        <p:txBody>
          <a:bodyPr wrap="square">
            <a:noAutofit/>
          </a:bodyPr>
          <a:lstStyle/>
          <a:p>
            <a:pPr algn="l"/>
            <a:r>
              <a:rPr sz="1250" i="0" b="0">
                <a:solidFill>
                  <a:srgbClr val="142236"/>
                </a:solidFill>
                <a:latin typeface="Segoe UI"/>
              </a:rPr>
              <a:t>0.80 is not the target. On application-and-bureau data alone, without any behavioural history, this sits where a good model should sit.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05 / 13</a:t>
            </a:r>
          </a:p>
        </p:txBody>
      </p:sp>
      <p:sp>
        <p:nvSpPr>
          <p:cNvPr id="5" name="Rounded Rectangle 4"/>
          <p:cNvSpPr/>
          <p:nvPr/>
        </p:nvSpPr>
        <p:spPr>
          <a:xfrm>
            <a:off x="621792" y="384048"/>
            <a:ext cx="3720236"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RESULTS  ·  SEPARATION</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How cleanly does it separate good from bad?</a:t>
            </a:r>
          </a:p>
        </p:txBody>
      </p:sp>
      <p:sp>
        <p:nvSpPr>
          <p:cNvPr id="7" name="Rounded Rectangle 6"/>
          <p:cNvSpPr/>
          <p:nvPr/>
        </p:nvSpPr>
        <p:spPr>
          <a:xfrm>
            <a:off x="640080" y="1691640"/>
            <a:ext cx="6309360" cy="3977639"/>
          </a:xfrm>
          <a:prstGeom prst="roundRect">
            <a:avLst>
              <a:gd name="adj" fmla="val 4000"/>
            </a:avLst>
          </a:prstGeom>
          <a:solidFill>
            <a:srgbClr val="FFFFFF"/>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d_roc_curves.png"/>
          <p:cNvPicPr>
            <a:picLocks noChangeAspect="1"/>
          </p:cNvPicPr>
          <p:nvPr/>
        </p:nvPicPr>
        <p:blipFill>
          <a:blip r:embed="rId2"/>
          <a:stretch>
            <a:fillRect/>
          </a:stretch>
        </p:blipFill>
        <p:spPr>
          <a:xfrm>
            <a:off x="1739018" y="1874519"/>
            <a:ext cx="4111482" cy="3611879"/>
          </a:xfrm>
          <a:prstGeom prst="rect">
            <a:avLst/>
          </a:prstGeom>
        </p:spPr>
      </p:pic>
      <p:sp>
        <p:nvSpPr>
          <p:cNvPr id="9" name="Rounded Rectangle 8"/>
          <p:cNvSpPr/>
          <p:nvPr/>
        </p:nvSpPr>
        <p:spPr>
          <a:xfrm>
            <a:off x="7223760" y="1691640"/>
            <a:ext cx="4297680" cy="123444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91640"/>
            <a:ext cx="54864" cy="123444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1837944"/>
            <a:ext cx="3840480" cy="847578"/>
          </a:xfrm>
          <a:prstGeom prst="rect">
            <a:avLst/>
          </a:prstGeom>
          <a:noFill/>
        </p:spPr>
        <p:txBody>
          <a:bodyPr wrap="square">
            <a:noAutofit/>
          </a:bodyPr>
          <a:lstStyle/>
          <a:p>
            <a:pPr algn="l"/>
            <a:r>
              <a:rPr b="1" sz="3000">
                <a:solidFill>
                  <a:srgbClr val="0B5FA5"/>
                </a:solidFill>
                <a:latin typeface="Segoe UI Semibold"/>
              </a:rPr>
              <a:t>3 in 4</a:t>
            </a:r>
          </a:p>
        </p:txBody>
      </p:sp>
      <p:sp>
        <p:nvSpPr>
          <p:cNvPr id="12" name="TextBox 11"/>
          <p:cNvSpPr txBox="1"/>
          <p:nvPr/>
        </p:nvSpPr>
        <p:spPr>
          <a:xfrm>
            <a:off x="7452360" y="2441448"/>
            <a:ext cx="3840480" cy="457200"/>
          </a:xfrm>
          <a:prstGeom prst="rect">
            <a:avLst/>
          </a:prstGeom>
          <a:noFill/>
        </p:spPr>
        <p:txBody>
          <a:bodyPr wrap="square">
            <a:noAutofit/>
          </a:bodyPr>
          <a:lstStyle/>
          <a:p>
            <a:pPr algn="l"/>
            <a:r>
              <a:rPr sz="1200" i="0" b="0">
                <a:solidFill>
                  <a:srgbClr val="5B6B7E"/>
                </a:solidFill>
                <a:latin typeface="Segoe UI"/>
              </a:rPr>
              <a:t>times, it ranks the bad customer above the good one</a:t>
            </a:r>
          </a:p>
        </p:txBody>
      </p:sp>
      <p:sp>
        <p:nvSpPr>
          <p:cNvPr id="13" name="Rounded Rectangle 12"/>
          <p:cNvSpPr/>
          <p:nvPr/>
        </p:nvSpPr>
        <p:spPr>
          <a:xfrm>
            <a:off x="7223760" y="3063240"/>
            <a:ext cx="4297680" cy="123444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23760" y="3063240"/>
            <a:ext cx="54864" cy="123444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3209544"/>
            <a:ext cx="3840480" cy="847578"/>
          </a:xfrm>
          <a:prstGeom prst="rect">
            <a:avLst/>
          </a:prstGeom>
          <a:noFill/>
        </p:spPr>
        <p:txBody>
          <a:bodyPr wrap="square">
            <a:noAutofit/>
          </a:bodyPr>
          <a:lstStyle/>
          <a:p>
            <a:pPr algn="l"/>
            <a:r>
              <a:rPr b="1" sz="3000">
                <a:solidFill>
                  <a:srgbClr val="1E8E5A"/>
                </a:solidFill>
                <a:latin typeface="Segoe UI Semibold"/>
              </a:rPr>
              <a:t>1 in 3</a:t>
            </a:r>
          </a:p>
        </p:txBody>
      </p:sp>
      <p:sp>
        <p:nvSpPr>
          <p:cNvPr id="16" name="TextBox 15"/>
          <p:cNvSpPr txBox="1"/>
          <p:nvPr/>
        </p:nvSpPr>
        <p:spPr>
          <a:xfrm>
            <a:off x="7452360" y="3813048"/>
            <a:ext cx="3840480" cy="457200"/>
          </a:xfrm>
          <a:prstGeom prst="rect">
            <a:avLst/>
          </a:prstGeom>
          <a:noFill/>
        </p:spPr>
        <p:txBody>
          <a:bodyPr wrap="square">
            <a:noAutofit/>
          </a:bodyPr>
          <a:lstStyle/>
          <a:p>
            <a:pPr algn="l"/>
            <a:r>
              <a:rPr sz="1200" i="0" b="0">
                <a:solidFill>
                  <a:srgbClr val="5B6B7E"/>
                </a:solidFill>
                <a:latin typeface="Segoe UI"/>
              </a:rPr>
              <a:t>of every default sits in the riskiest tenth of the book</a:t>
            </a:r>
          </a:p>
        </p:txBody>
      </p:sp>
      <p:sp>
        <p:nvSpPr>
          <p:cNvPr id="17" name="Rounded Rectangle 16"/>
          <p:cNvSpPr/>
          <p:nvPr/>
        </p:nvSpPr>
        <p:spPr>
          <a:xfrm>
            <a:off x="7223760" y="4480560"/>
            <a:ext cx="4297680" cy="118872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23760" y="4480560"/>
            <a:ext cx="54864" cy="118872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4599432"/>
            <a:ext cx="3840480" cy="256032"/>
          </a:xfrm>
          <a:prstGeom prst="rect">
            <a:avLst/>
          </a:prstGeom>
          <a:noFill/>
        </p:spPr>
        <p:txBody>
          <a:bodyPr wrap="square">
            <a:noAutofit/>
          </a:bodyPr>
          <a:lstStyle/>
          <a:p>
            <a:pPr algn="l"/>
            <a:r>
              <a:rPr sz="1000" i="0" b="1">
                <a:solidFill>
                  <a:srgbClr val="E06E1D"/>
                </a:solidFill>
                <a:latin typeface="Segoe UI"/>
              </a:rPr>
              <a:t>WHY THIS MATTERS</a:t>
            </a:r>
          </a:p>
        </p:txBody>
      </p:sp>
      <p:sp>
        <p:nvSpPr>
          <p:cNvPr id="20" name="TextBox 19"/>
          <p:cNvSpPr txBox="1"/>
          <p:nvPr/>
        </p:nvSpPr>
        <p:spPr>
          <a:xfrm>
            <a:off x="7461504" y="4864608"/>
            <a:ext cx="3840480" cy="731520"/>
          </a:xfrm>
          <a:prstGeom prst="rect">
            <a:avLst/>
          </a:prstGeom>
          <a:noFill/>
        </p:spPr>
        <p:txBody>
          <a:bodyPr wrap="square">
            <a:noAutofit/>
          </a:bodyPr>
          <a:lstStyle/>
          <a:p>
            <a:pPr algn="l"/>
            <a:r>
              <a:rPr sz="1250" i="0" b="0">
                <a:solidFill>
                  <a:srgbClr val="142236"/>
                </a:solidFill>
                <a:latin typeface="Segoe UI"/>
              </a:rPr>
              <a:t>Risk is concentrated, not smeared evenly across the book. That concentration is what makes a single cut-off worth drawing at all.</a:t>
            </a:r>
          </a:p>
        </p:txBody>
      </p:sp>
      <p:sp>
        <p:nvSpPr>
          <p:cNvPr id="21" name="TextBox 20"/>
          <p:cNvSpPr txBox="1"/>
          <p:nvPr/>
        </p:nvSpPr>
        <p:spPr>
          <a:xfrm>
            <a:off x="640080" y="5806440"/>
            <a:ext cx="6309360" cy="457200"/>
          </a:xfrm>
          <a:prstGeom prst="rect">
            <a:avLst/>
          </a:prstGeom>
          <a:noFill/>
        </p:spPr>
        <p:txBody>
          <a:bodyPr wrap="square">
            <a:noAutofit/>
          </a:bodyPr>
          <a:lstStyle/>
          <a:p>
            <a:pPr algn="l"/>
            <a:r>
              <a:rPr sz="1150" i="0" b="0">
                <a:solidFill>
                  <a:srgbClr val="5B6B7E"/>
                </a:solidFill>
                <a:latin typeface="Segoe UI"/>
              </a:rPr>
              <a:t>The blue curve is the model I chose. The higher it sits above the dotted line, the better it is telling the two apart.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06 / 13</a:t>
            </a:r>
          </a:p>
        </p:txBody>
      </p:sp>
      <p:sp>
        <p:nvSpPr>
          <p:cNvPr id="5" name="Rounded Rectangle 4"/>
          <p:cNvSpPr/>
          <p:nvPr/>
        </p:nvSpPr>
        <p:spPr>
          <a:xfrm>
            <a:off x="621792" y="384048"/>
            <a:ext cx="3262807"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RESULTS  ·  HONESTY</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When it says 20%, does 20% actually happen?</a:t>
            </a:r>
          </a:p>
        </p:txBody>
      </p:sp>
      <p:sp>
        <p:nvSpPr>
          <p:cNvPr id="7" name="Rounded Rectangle 6"/>
          <p:cNvSpPr/>
          <p:nvPr/>
        </p:nvSpPr>
        <p:spPr>
          <a:xfrm>
            <a:off x="640080" y="1691640"/>
            <a:ext cx="5943600" cy="3977639"/>
          </a:xfrm>
          <a:prstGeom prst="roundRect">
            <a:avLst>
              <a:gd name="adj" fmla="val 4000"/>
            </a:avLst>
          </a:prstGeom>
          <a:solidFill>
            <a:srgbClr val="FFFFFF"/>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d_calibration.png"/>
          <p:cNvPicPr>
            <a:picLocks noChangeAspect="1"/>
          </p:cNvPicPr>
          <p:nvPr/>
        </p:nvPicPr>
        <p:blipFill>
          <a:blip r:embed="rId2"/>
          <a:stretch>
            <a:fillRect/>
          </a:stretch>
        </p:blipFill>
        <p:spPr>
          <a:xfrm>
            <a:off x="822960" y="2038671"/>
            <a:ext cx="5577840" cy="3283576"/>
          </a:xfrm>
          <a:prstGeom prst="rect">
            <a:avLst/>
          </a:prstGeom>
        </p:spPr>
      </p:pic>
      <p:sp>
        <p:nvSpPr>
          <p:cNvPr id="9" name="TextBox 8"/>
          <p:cNvSpPr txBox="1"/>
          <p:nvPr/>
        </p:nvSpPr>
        <p:spPr>
          <a:xfrm>
            <a:off x="6903720" y="1783080"/>
            <a:ext cx="4617720" cy="640080"/>
          </a:xfrm>
          <a:prstGeom prst="rect">
            <a:avLst/>
          </a:prstGeom>
          <a:noFill/>
        </p:spPr>
        <p:txBody>
          <a:bodyPr wrap="square">
            <a:noAutofit/>
          </a:bodyPr>
          <a:lstStyle/>
          <a:p>
            <a:pPr algn="l"/>
            <a:r>
              <a:rPr sz="1600" i="0" b="1">
                <a:solidFill>
                  <a:srgbClr val="142236"/>
                </a:solidFill>
                <a:latin typeface="Segoe UI"/>
              </a:rPr>
              <a:t>Yes. Decile by decile, predicted risk lines up with what actually happened.</a:t>
            </a:r>
          </a:p>
        </p:txBody>
      </p:sp>
      <p:sp>
        <p:nvSpPr>
          <p:cNvPr id="10" name="Rounded Rectangle 9"/>
          <p:cNvSpPr/>
          <p:nvPr/>
        </p:nvSpPr>
        <p:spPr>
          <a:xfrm>
            <a:off x="6903720" y="2606040"/>
            <a:ext cx="4617720" cy="1051560"/>
          </a:xfrm>
          <a:prstGeom prst="roundRect">
            <a:avLst>
              <a:gd name="adj" fmla="val 4000"/>
            </a:avLst>
          </a:prstGeom>
          <a:solidFill>
            <a:srgbClr val="E9F6EF"/>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03720" y="2606040"/>
            <a:ext cx="54864" cy="105156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2743200"/>
            <a:ext cx="4206240" cy="274320"/>
          </a:xfrm>
          <a:prstGeom prst="rect">
            <a:avLst/>
          </a:prstGeom>
          <a:noFill/>
        </p:spPr>
        <p:txBody>
          <a:bodyPr wrap="square">
            <a:noAutofit/>
          </a:bodyPr>
          <a:lstStyle/>
          <a:p>
            <a:pPr algn="l"/>
            <a:r>
              <a:rPr sz="1000" i="0" b="1">
                <a:solidFill>
                  <a:srgbClr val="1E8E5A"/>
                </a:solidFill>
                <a:latin typeface="Segoe UI"/>
              </a:rPr>
              <a:t>RISKIEST TENTH OF APPLICANTS</a:t>
            </a:r>
          </a:p>
        </p:txBody>
      </p:sp>
      <p:sp>
        <p:nvSpPr>
          <p:cNvPr id="13" name="TextBox 12"/>
          <p:cNvSpPr txBox="1"/>
          <p:nvPr/>
        </p:nvSpPr>
        <p:spPr>
          <a:xfrm>
            <a:off x="7132320" y="3017520"/>
            <a:ext cx="4297680" cy="618978"/>
          </a:xfrm>
          <a:prstGeom prst="rect">
            <a:avLst/>
          </a:prstGeom>
          <a:noFill/>
        </p:spPr>
        <p:txBody>
          <a:bodyPr wrap="square">
            <a:noAutofit/>
          </a:bodyPr>
          <a:lstStyle/>
          <a:p>
            <a:pPr algn="l"/>
            <a:r>
              <a:rPr b="1" sz="1700">
                <a:solidFill>
                  <a:srgbClr val="142236"/>
                </a:solidFill>
                <a:latin typeface="Segoe UI Semibold"/>
              </a:rPr>
              <a:t>28% predicted  →  29% actual</a:t>
            </a:r>
          </a:p>
        </p:txBody>
      </p:sp>
      <p:sp>
        <p:nvSpPr>
          <p:cNvPr id="14" name="TextBox 13"/>
          <p:cNvSpPr txBox="1"/>
          <p:nvPr/>
        </p:nvSpPr>
        <p:spPr>
          <a:xfrm>
            <a:off x="6903720" y="3840480"/>
            <a:ext cx="4617720" cy="1371600"/>
          </a:xfrm>
          <a:prstGeom prst="rect">
            <a:avLst/>
          </a:prstGeom>
          <a:noFill/>
        </p:spPr>
        <p:txBody>
          <a:bodyPr wrap="square">
            <a:noAutofit/>
          </a:bodyPr>
          <a:lstStyle/>
          <a:p>
            <a:pPr algn="l"/>
            <a:r>
              <a:rPr sz="1250" i="0" b="0">
                <a:solidFill>
                  <a:srgbClr val="5B6B7E"/>
                </a:solidFill>
                <a:latin typeface="Segoe UI"/>
              </a:rPr>
              <a:t>This is the difference between a model that ranks and a model you can price with. A ranking tells me who is riskier. An honest probability tells me how much to expect to lose, which is the number the next slide turns into money.</a:t>
            </a:r>
          </a:p>
        </p:txBody>
      </p:sp>
      <p:sp>
        <p:nvSpPr>
          <p:cNvPr id="15" name="Rounded Rectangle 14"/>
          <p:cNvSpPr/>
          <p:nvPr/>
        </p:nvSpPr>
        <p:spPr>
          <a:xfrm>
            <a:off x="6903720" y="5029200"/>
            <a:ext cx="4617720" cy="109728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03720" y="5029200"/>
            <a:ext cx="54864" cy="109728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41464" y="5148072"/>
            <a:ext cx="4160520" cy="256032"/>
          </a:xfrm>
          <a:prstGeom prst="rect">
            <a:avLst/>
          </a:prstGeom>
          <a:noFill/>
        </p:spPr>
        <p:txBody>
          <a:bodyPr wrap="square">
            <a:noAutofit/>
          </a:bodyPr>
          <a:lstStyle/>
          <a:p>
            <a:pPr algn="l"/>
            <a:r>
              <a:rPr sz="1000" i="0" b="1">
                <a:solidFill>
                  <a:srgbClr val="E06E1D"/>
                </a:solidFill>
                <a:latin typeface="Segoe UI"/>
              </a:rPr>
              <a:t>A CHOICE I MADE</a:t>
            </a:r>
          </a:p>
        </p:txBody>
      </p:sp>
      <p:sp>
        <p:nvSpPr>
          <p:cNvPr id="18" name="TextBox 17"/>
          <p:cNvSpPr txBox="1"/>
          <p:nvPr/>
        </p:nvSpPr>
        <p:spPr>
          <a:xfrm>
            <a:off x="7141464" y="5413248"/>
            <a:ext cx="4160520" cy="640080"/>
          </a:xfrm>
          <a:prstGeom prst="rect">
            <a:avLst/>
          </a:prstGeom>
          <a:noFill/>
        </p:spPr>
        <p:txBody>
          <a:bodyPr wrap="square">
            <a:noAutofit/>
          </a:bodyPr>
          <a:lstStyle/>
          <a:p>
            <a:pPr algn="l"/>
            <a:r>
              <a:rPr sz="1250" i="0" b="0">
                <a:solidFill>
                  <a:srgbClr val="142236"/>
                </a:solidFill>
                <a:latin typeface="Segoe UI"/>
              </a:rPr>
              <a:t>I deliberately refused a common shortcut that would have made the model look better on paper and broken this chart.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07 / 13</a:t>
            </a:r>
          </a:p>
        </p:txBody>
      </p:sp>
      <p:sp>
        <p:nvSpPr>
          <p:cNvPr id="5" name="Rounded Rectangle 4"/>
          <p:cNvSpPr/>
          <p:nvPr/>
        </p:nvSpPr>
        <p:spPr>
          <a:xfrm>
            <a:off x="621792" y="384048"/>
            <a:ext cx="2195474" cy="329184"/>
          </a:xfrm>
          <a:prstGeom prst="roundRect">
            <a:avLst>
              <a:gd name="adj" fmla="val 50000"/>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THE DECISION</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Where I drew the line, and why it is not arbitrary</a:t>
            </a:r>
          </a:p>
        </p:txBody>
      </p:sp>
      <p:sp>
        <p:nvSpPr>
          <p:cNvPr id="7" name="Rounded Rectangle 6"/>
          <p:cNvSpPr/>
          <p:nvPr/>
        </p:nvSpPr>
        <p:spPr>
          <a:xfrm>
            <a:off x="640080" y="1691640"/>
            <a:ext cx="5394960" cy="2286000"/>
          </a:xfrm>
          <a:prstGeom prst="roundRect">
            <a:avLst>
              <a:gd name="adj" fmla="val 4000"/>
            </a:avLst>
          </a:prstGeom>
          <a:solidFill>
            <a:srgbClr val="E9F6EF"/>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228600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19"/>
            <a:ext cx="4846320" cy="274320"/>
          </a:xfrm>
          <a:prstGeom prst="rect">
            <a:avLst/>
          </a:prstGeom>
          <a:noFill/>
        </p:spPr>
        <p:txBody>
          <a:bodyPr wrap="square">
            <a:noAutofit/>
          </a:bodyPr>
          <a:lstStyle/>
          <a:p>
            <a:pPr algn="l"/>
            <a:r>
              <a:rPr sz="1100" i="0" b="1">
                <a:solidFill>
                  <a:srgbClr val="1E8E5A"/>
                </a:solidFill>
                <a:latin typeface="Segoe UI"/>
              </a:rPr>
              <a:t>NET BENEFIT ON THE SEALED TEST BOOK</a:t>
            </a:r>
          </a:p>
        </p:txBody>
      </p:sp>
      <p:sp>
        <p:nvSpPr>
          <p:cNvPr id="10" name="TextBox 9"/>
          <p:cNvSpPr txBox="1"/>
          <p:nvPr/>
        </p:nvSpPr>
        <p:spPr>
          <a:xfrm>
            <a:off x="896112" y="2194560"/>
            <a:ext cx="5029200" cy="1234440"/>
          </a:xfrm>
          <a:prstGeom prst="rect">
            <a:avLst/>
          </a:prstGeom>
          <a:noFill/>
        </p:spPr>
        <p:txBody>
          <a:bodyPr wrap="square">
            <a:noAutofit/>
          </a:bodyPr>
          <a:lstStyle/>
          <a:p>
            <a:pPr algn="l"/>
            <a:r>
              <a:rPr b="1" sz="5200">
                <a:solidFill>
                  <a:srgbClr val="1E8E5A"/>
                </a:solidFill>
                <a:latin typeface="Segoe UI Semibold"/>
              </a:rPr>
              <a:t>+$578.7M</a:t>
            </a:r>
          </a:p>
        </p:txBody>
      </p:sp>
      <p:sp>
        <p:nvSpPr>
          <p:cNvPr id="11" name="TextBox 10"/>
          <p:cNvSpPr txBox="1"/>
          <p:nvPr/>
        </p:nvSpPr>
        <p:spPr>
          <a:xfrm>
            <a:off x="914400" y="3337560"/>
            <a:ext cx="4846320" cy="457200"/>
          </a:xfrm>
          <a:prstGeom prst="rect">
            <a:avLst/>
          </a:prstGeom>
          <a:noFill/>
        </p:spPr>
        <p:txBody>
          <a:bodyPr wrap="square">
            <a:noAutofit/>
          </a:bodyPr>
          <a:lstStyle/>
          <a:p>
            <a:pPr algn="l"/>
            <a:r>
              <a:rPr sz="1300" i="0" b="0">
                <a:solidFill>
                  <a:srgbClr val="142236"/>
                </a:solidFill>
                <a:latin typeface="Segoe UI"/>
              </a:rPr>
              <a:t>versus approving everyone, across 46,127 applications</a:t>
            </a:r>
          </a:p>
        </p:txBody>
      </p:sp>
      <p:sp>
        <p:nvSpPr>
          <p:cNvPr id="12" name="Rounded Rectangle 11"/>
          <p:cNvSpPr/>
          <p:nvPr/>
        </p:nvSpPr>
        <p:spPr>
          <a:xfrm>
            <a:off x="640080" y="4114800"/>
            <a:ext cx="5394960" cy="205740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14800"/>
            <a:ext cx="54864" cy="20574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61104"/>
            <a:ext cx="4846320" cy="274320"/>
          </a:xfrm>
          <a:prstGeom prst="rect">
            <a:avLst/>
          </a:prstGeom>
          <a:noFill/>
        </p:spPr>
        <p:txBody>
          <a:bodyPr wrap="square">
            <a:noAutofit/>
          </a:bodyPr>
          <a:lstStyle/>
          <a:p>
            <a:pPr algn="l"/>
            <a:r>
              <a:rPr sz="1050" i="0" b="1">
                <a:solidFill>
                  <a:srgbClr val="E06E1D"/>
                </a:solidFill>
                <a:latin typeface="Segoe UI"/>
              </a:rPr>
              <a:t>WHY 7%, AND NOT SOME OTHER NUMBER</a:t>
            </a:r>
          </a:p>
        </p:txBody>
      </p:sp>
      <p:sp>
        <p:nvSpPr>
          <p:cNvPr id="15" name="TextBox 14"/>
          <p:cNvSpPr txBox="1"/>
          <p:nvPr/>
        </p:nvSpPr>
        <p:spPr>
          <a:xfrm>
            <a:off x="914400" y="4553712"/>
            <a:ext cx="4846320" cy="320040"/>
          </a:xfrm>
          <a:prstGeom prst="rect">
            <a:avLst/>
          </a:prstGeom>
          <a:noFill/>
        </p:spPr>
        <p:txBody>
          <a:bodyPr wrap="square">
            <a:noAutofit/>
          </a:bodyPr>
          <a:lstStyle/>
          <a:p>
            <a:pPr algn="l"/>
            <a:r>
              <a:rPr sz="1300" i="0" b="0">
                <a:solidFill>
                  <a:srgbClr val="142236"/>
                </a:solidFill>
                <a:latin typeface="Segoe UI"/>
              </a:rPr>
              <a:t>A good loan earns 5%. A bad one loses 65%.</a:t>
            </a:r>
          </a:p>
        </p:txBody>
      </p:sp>
      <p:sp>
        <p:nvSpPr>
          <p:cNvPr id="16" name="TextBox 15"/>
          <p:cNvSpPr txBox="1"/>
          <p:nvPr/>
        </p:nvSpPr>
        <p:spPr>
          <a:xfrm>
            <a:off x="914400" y="4864608"/>
            <a:ext cx="4937760" cy="654147"/>
          </a:xfrm>
          <a:prstGeom prst="rect">
            <a:avLst/>
          </a:prstGeom>
          <a:noFill/>
        </p:spPr>
        <p:txBody>
          <a:bodyPr wrap="square">
            <a:noAutofit/>
          </a:bodyPr>
          <a:lstStyle/>
          <a:p>
            <a:pPr algn="l"/>
            <a:r>
              <a:rPr b="1" sz="1900">
                <a:solidFill>
                  <a:srgbClr val="142236"/>
                </a:solidFill>
                <a:latin typeface="Segoe UI Semibold"/>
              </a:rPr>
              <a:t>5%  ÷  (5% + 65%)  =  7.1%</a:t>
            </a:r>
          </a:p>
        </p:txBody>
      </p:sp>
      <p:sp>
        <p:nvSpPr>
          <p:cNvPr id="17" name="TextBox 16"/>
          <p:cNvSpPr txBox="1"/>
          <p:nvPr/>
        </p:nvSpPr>
        <p:spPr>
          <a:xfrm>
            <a:off x="914400" y="5349240"/>
            <a:ext cx="4846320" cy="731520"/>
          </a:xfrm>
          <a:prstGeom prst="rect">
            <a:avLst/>
          </a:prstGeom>
          <a:noFill/>
        </p:spPr>
        <p:txBody>
          <a:bodyPr wrap="square">
            <a:noAutofit/>
          </a:bodyPr>
          <a:lstStyle/>
          <a:p>
            <a:pPr algn="l"/>
            <a:r>
              <a:rPr sz="1150" i="0" b="0">
                <a:solidFill>
                  <a:srgbClr val="5B6B7E"/>
                </a:solidFill>
                <a:latin typeface="Segoe UI"/>
              </a:rPr>
              <a:t>That is the break-even: past it, a loan stops making money. I swept the real profit curve over 46,127 loans and it landed on 7%. Two independent routes, the same answer.</a:t>
            </a:r>
          </a:p>
        </p:txBody>
      </p:sp>
      <p:sp>
        <p:nvSpPr>
          <p:cNvPr id="18" name="Rounded Rectangle 17"/>
          <p:cNvSpPr/>
          <p:nvPr/>
        </p:nvSpPr>
        <p:spPr>
          <a:xfrm>
            <a:off x="6263640" y="1691640"/>
            <a:ext cx="5257800" cy="3200400"/>
          </a:xfrm>
          <a:prstGeom prst="roundRect">
            <a:avLst>
              <a:gd name="adj" fmla="val 4000"/>
            </a:avLst>
          </a:prstGeom>
          <a:solidFill>
            <a:srgbClr val="FFFFFF"/>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d_profit_curve.png"/>
          <p:cNvPicPr>
            <a:picLocks noChangeAspect="1"/>
          </p:cNvPicPr>
          <p:nvPr/>
        </p:nvPicPr>
        <p:blipFill>
          <a:blip r:embed="rId2"/>
          <a:stretch>
            <a:fillRect/>
          </a:stretch>
        </p:blipFill>
        <p:spPr>
          <a:xfrm>
            <a:off x="6446520" y="2174133"/>
            <a:ext cx="4892040" cy="2235413"/>
          </a:xfrm>
          <a:prstGeom prst="rect">
            <a:avLst/>
          </a:prstGeom>
        </p:spPr>
      </p:pic>
      <p:sp>
        <p:nvSpPr>
          <p:cNvPr id="20" name="Rounded Rectangle 19"/>
          <p:cNvSpPr/>
          <p:nvPr/>
        </p:nvSpPr>
        <p:spPr>
          <a:xfrm>
            <a:off x="6263640" y="5074920"/>
            <a:ext cx="2514600" cy="10972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5074920"/>
            <a:ext cx="54864" cy="10972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5175504"/>
            <a:ext cx="2194560" cy="742070"/>
          </a:xfrm>
          <a:prstGeom prst="rect">
            <a:avLst/>
          </a:prstGeom>
          <a:noFill/>
        </p:spPr>
        <p:txBody>
          <a:bodyPr wrap="square">
            <a:noAutofit/>
          </a:bodyPr>
          <a:lstStyle/>
          <a:p>
            <a:pPr algn="l"/>
            <a:r>
              <a:rPr b="1" sz="2400">
                <a:solidFill>
                  <a:srgbClr val="0B5FA5"/>
                </a:solidFill>
                <a:latin typeface="Segoe UI Semibold"/>
              </a:rPr>
              <a:t>63.2%</a:t>
            </a:r>
          </a:p>
        </p:txBody>
      </p:sp>
      <p:sp>
        <p:nvSpPr>
          <p:cNvPr id="23" name="TextBox 22"/>
          <p:cNvSpPr txBox="1"/>
          <p:nvPr/>
        </p:nvSpPr>
        <p:spPr>
          <a:xfrm>
            <a:off x="6446520" y="5650992"/>
            <a:ext cx="2194560" cy="457200"/>
          </a:xfrm>
          <a:prstGeom prst="rect">
            <a:avLst/>
          </a:prstGeom>
          <a:noFill/>
        </p:spPr>
        <p:txBody>
          <a:bodyPr wrap="square">
            <a:noAutofit/>
          </a:bodyPr>
          <a:lstStyle/>
          <a:p>
            <a:pPr algn="l"/>
            <a:r>
              <a:rPr sz="1100" i="0" b="0">
                <a:solidFill>
                  <a:srgbClr val="5B6B7E"/>
                </a:solidFill>
                <a:latin typeface="Segoe UI"/>
              </a:rPr>
              <a:t>of applicants approved at that line</a:t>
            </a:r>
          </a:p>
        </p:txBody>
      </p:sp>
      <p:sp>
        <p:nvSpPr>
          <p:cNvPr id="24" name="Rounded Rectangle 23"/>
          <p:cNvSpPr/>
          <p:nvPr/>
        </p:nvSpPr>
        <p:spPr>
          <a:xfrm>
            <a:off x="9006840" y="5074920"/>
            <a:ext cx="2514600" cy="10972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5074920"/>
            <a:ext cx="54864" cy="10972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19" y="5175504"/>
            <a:ext cx="2194560" cy="742070"/>
          </a:xfrm>
          <a:prstGeom prst="rect">
            <a:avLst/>
          </a:prstGeom>
          <a:noFill/>
        </p:spPr>
        <p:txBody>
          <a:bodyPr wrap="square">
            <a:noAutofit/>
          </a:bodyPr>
          <a:lstStyle/>
          <a:p>
            <a:pPr algn="l"/>
            <a:r>
              <a:rPr b="1" sz="2400">
                <a:solidFill>
                  <a:srgbClr val="0B5FA5"/>
                </a:solidFill>
                <a:latin typeface="Segoe UI Semibold"/>
              </a:rPr>
              <a:t>74.5%</a:t>
            </a:r>
          </a:p>
        </p:txBody>
      </p:sp>
      <p:sp>
        <p:nvSpPr>
          <p:cNvPr id="27" name="TextBox 26"/>
          <p:cNvSpPr txBox="1"/>
          <p:nvPr/>
        </p:nvSpPr>
        <p:spPr>
          <a:xfrm>
            <a:off x="9189719" y="5650992"/>
            <a:ext cx="2194560" cy="457200"/>
          </a:xfrm>
          <a:prstGeom prst="rect">
            <a:avLst/>
          </a:prstGeom>
          <a:noFill/>
        </p:spPr>
        <p:txBody>
          <a:bodyPr wrap="square">
            <a:noAutofit/>
          </a:bodyPr>
          <a:lstStyle/>
          <a:p>
            <a:pPr algn="l"/>
            <a:r>
              <a:rPr sz="1100" i="0" b="0">
                <a:solidFill>
                  <a:srgbClr val="5B6B7E"/>
                </a:solidFill>
                <a:latin typeface="Segoe UI"/>
              </a:rPr>
              <a:t>of future defaults stopped before funding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08 / 13</a:t>
            </a:r>
          </a:p>
        </p:txBody>
      </p:sp>
      <p:sp>
        <p:nvSpPr>
          <p:cNvPr id="5" name="Rounded Rectangle 4"/>
          <p:cNvSpPr/>
          <p:nvPr/>
        </p:nvSpPr>
        <p:spPr>
          <a:xfrm>
            <a:off x="621792" y="384048"/>
            <a:ext cx="2500426"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EXPLAINABILITY</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Every “no” comes with a receipt</a:t>
            </a:r>
          </a:p>
        </p:txBody>
      </p:sp>
      <p:sp>
        <p:nvSpPr>
          <p:cNvPr id="7" name="Rounded Rectangle 6"/>
          <p:cNvSpPr/>
          <p:nvPr/>
        </p:nvSpPr>
        <p:spPr>
          <a:xfrm>
            <a:off x="640080" y="1691640"/>
            <a:ext cx="5669280" cy="3794760"/>
          </a:xfrm>
          <a:prstGeom prst="roundRect">
            <a:avLst>
              <a:gd name="adj" fmla="val 4000"/>
            </a:avLst>
          </a:prstGeom>
          <a:solidFill>
            <a:srgbClr val="FBECEA"/>
          </a:solidFill>
          <a:ln w="12700">
            <a:solidFill>
              <a:srgbClr val="B8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379476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56231"/>
            <a:ext cx="5120640" cy="274320"/>
          </a:xfrm>
          <a:prstGeom prst="rect">
            <a:avLst/>
          </a:prstGeom>
          <a:noFill/>
        </p:spPr>
        <p:txBody>
          <a:bodyPr wrap="square">
            <a:noAutofit/>
          </a:bodyPr>
          <a:lstStyle/>
          <a:p>
            <a:pPr algn="l"/>
            <a:r>
              <a:rPr sz="1050" i="0" b="1">
                <a:solidFill>
                  <a:srgbClr val="B83A2E"/>
                </a:solidFill>
                <a:latin typeface="Segoe UI"/>
              </a:rPr>
              <a:t>WHAT THE CUSTOMER RECEIVES</a:t>
            </a:r>
          </a:p>
        </p:txBody>
      </p:sp>
      <p:sp>
        <p:nvSpPr>
          <p:cNvPr id="10" name="TextBox 9"/>
          <p:cNvSpPr txBox="1"/>
          <p:nvPr/>
        </p:nvSpPr>
        <p:spPr>
          <a:xfrm>
            <a:off x="914400" y="2176272"/>
            <a:ext cx="5120640" cy="457200"/>
          </a:xfrm>
          <a:prstGeom prst="rect">
            <a:avLst/>
          </a:prstGeom>
          <a:noFill/>
        </p:spPr>
        <p:txBody>
          <a:bodyPr wrap="square">
            <a:noAutofit/>
          </a:bodyPr>
          <a:lstStyle/>
          <a:p>
            <a:pPr algn="l"/>
            <a:r>
              <a:rPr sz="1400" i="0" b="1">
                <a:solidFill>
                  <a:srgbClr val="142236"/>
                </a:solidFill>
                <a:latin typeface="Segoe UI"/>
              </a:rPr>
              <a:t>“Your application was declined. The main reasons were:”</a:t>
            </a:r>
          </a:p>
        </p:txBody>
      </p:sp>
      <p:sp>
        <p:nvSpPr>
          <p:cNvPr id="11" name="TextBox 10"/>
          <p:cNvSpPr txBox="1"/>
          <p:nvPr/>
        </p:nvSpPr>
        <p:spPr>
          <a:xfrm>
            <a:off x="1005840" y="2697480"/>
            <a:ext cx="5029200" cy="411480"/>
          </a:xfrm>
          <a:prstGeom prst="rect">
            <a:avLst/>
          </a:prstGeom>
          <a:noFill/>
        </p:spPr>
        <p:txBody>
          <a:bodyPr wrap="square">
            <a:noAutofit/>
          </a:bodyPr>
          <a:lstStyle/>
          <a:p>
            <a:pPr algn="l"/>
            <a:r>
              <a:rPr sz="1250" i="0" b="0">
                <a:solidFill>
                  <a:srgbClr val="142236"/>
                </a:solidFill>
                <a:latin typeface="Segoe UI"/>
              </a:rPr>
              <a:t>1.   You are using a high share of the credit you already have</a:t>
            </a:r>
          </a:p>
        </p:txBody>
      </p:sp>
      <p:sp>
        <p:nvSpPr>
          <p:cNvPr id="12" name="TextBox 11"/>
          <p:cNvSpPr txBox="1"/>
          <p:nvPr/>
        </p:nvSpPr>
        <p:spPr>
          <a:xfrm>
            <a:off x="1005840" y="3108960"/>
            <a:ext cx="5029200" cy="411480"/>
          </a:xfrm>
          <a:prstGeom prst="rect">
            <a:avLst/>
          </a:prstGeom>
          <a:noFill/>
        </p:spPr>
        <p:txBody>
          <a:bodyPr wrap="square">
            <a:noAutofit/>
          </a:bodyPr>
          <a:lstStyle/>
          <a:p>
            <a:pPr algn="l"/>
            <a:r>
              <a:rPr sz="1250" i="0" b="0">
                <a:solidFill>
                  <a:srgbClr val="142236"/>
                </a:solidFill>
                <a:latin typeface="Segoe UI"/>
              </a:rPr>
              <a:t>2.   Your external credit score is low</a:t>
            </a:r>
          </a:p>
        </p:txBody>
      </p:sp>
      <p:sp>
        <p:nvSpPr>
          <p:cNvPr id="13" name="TextBox 12"/>
          <p:cNvSpPr txBox="1"/>
          <p:nvPr/>
        </p:nvSpPr>
        <p:spPr>
          <a:xfrm>
            <a:off x="1005840" y="3520440"/>
            <a:ext cx="5029200" cy="411480"/>
          </a:xfrm>
          <a:prstGeom prst="rect">
            <a:avLst/>
          </a:prstGeom>
          <a:noFill/>
        </p:spPr>
        <p:txBody>
          <a:bodyPr wrap="square">
            <a:noAutofit/>
          </a:bodyPr>
          <a:lstStyle/>
          <a:p>
            <a:pPr algn="l"/>
            <a:r>
              <a:rPr sz="1250" i="0" b="0">
                <a:solidFill>
                  <a:srgbClr val="142236"/>
                </a:solidFill>
                <a:latin typeface="Segoe UI"/>
              </a:rPr>
              <a:t>3.   You have several active loans with other lenders</a:t>
            </a:r>
          </a:p>
        </p:txBody>
      </p:sp>
      <p:sp>
        <p:nvSpPr>
          <p:cNvPr id="14" name="TextBox 13"/>
          <p:cNvSpPr txBox="1"/>
          <p:nvPr/>
        </p:nvSpPr>
        <p:spPr>
          <a:xfrm>
            <a:off x="1005840" y="3931920"/>
            <a:ext cx="5029200" cy="411480"/>
          </a:xfrm>
          <a:prstGeom prst="rect">
            <a:avLst/>
          </a:prstGeom>
          <a:noFill/>
        </p:spPr>
        <p:txBody>
          <a:bodyPr wrap="square">
            <a:noAutofit/>
          </a:bodyPr>
          <a:lstStyle/>
          <a:p>
            <a:pPr algn="l"/>
            <a:r>
              <a:rPr sz="1250" i="0" b="0">
                <a:solidFill>
                  <a:srgbClr val="142236"/>
                </a:solidFill>
                <a:latin typeface="Segoe UI"/>
              </a:rPr>
              <a:t>4.   Some payments elsewhere are past due</a:t>
            </a:r>
          </a:p>
        </p:txBody>
      </p:sp>
      <p:sp>
        <p:nvSpPr>
          <p:cNvPr id="15" name="TextBox 14"/>
          <p:cNvSpPr txBox="1"/>
          <p:nvPr/>
        </p:nvSpPr>
        <p:spPr>
          <a:xfrm>
            <a:off x="914400" y="4572000"/>
            <a:ext cx="5120640" cy="640080"/>
          </a:xfrm>
          <a:prstGeom prst="rect">
            <a:avLst/>
          </a:prstGeom>
          <a:noFill/>
        </p:spPr>
        <p:txBody>
          <a:bodyPr wrap="square">
            <a:noAutofit/>
          </a:bodyPr>
          <a:lstStyle/>
          <a:p>
            <a:pPr algn="l"/>
            <a:r>
              <a:rPr sz="1150" i="0" b="0">
                <a:solidFill>
                  <a:srgbClr val="5B6B7E"/>
                </a:solidFill>
                <a:latin typeface="Segoe UI"/>
              </a:rPr>
              <a:t>Plain language, no jargon, no column names. Required by FCAC and ECOA, generated automatically for every single decline.</a:t>
            </a:r>
          </a:p>
        </p:txBody>
      </p:sp>
      <p:sp>
        <p:nvSpPr>
          <p:cNvPr id="16" name="Rounded Rectangle 15"/>
          <p:cNvSpPr/>
          <p:nvPr/>
        </p:nvSpPr>
        <p:spPr>
          <a:xfrm>
            <a:off x="6629400" y="1691640"/>
            <a:ext cx="4892040" cy="37947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29400" y="1691640"/>
            <a:ext cx="54864" cy="379476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1856231"/>
            <a:ext cx="4389120" cy="320040"/>
          </a:xfrm>
          <a:prstGeom prst="rect">
            <a:avLst/>
          </a:prstGeom>
          <a:noFill/>
        </p:spPr>
        <p:txBody>
          <a:bodyPr wrap="square">
            <a:noAutofit/>
          </a:bodyPr>
          <a:lstStyle/>
          <a:p>
            <a:pPr algn="l"/>
            <a:r>
              <a:rPr sz="1050" i="0" b="1">
                <a:solidFill>
                  <a:srgbClr val="0B5FA5"/>
                </a:solidFill>
                <a:latin typeface="Segoe UI"/>
              </a:rPr>
              <a:t>HOW I KNOW THOSE ARE THE REAL REASONS</a:t>
            </a:r>
          </a:p>
        </p:txBody>
      </p:sp>
      <p:sp>
        <p:nvSpPr>
          <p:cNvPr id="19" name="TextBox 18"/>
          <p:cNvSpPr txBox="1"/>
          <p:nvPr/>
        </p:nvSpPr>
        <p:spPr>
          <a:xfrm>
            <a:off x="6903720" y="2240280"/>
            <a:ext cx="4389120" cy="1005840"/>
          </a:xfrm>
          <a:prstGeom prst="rect">
            <a:avLst/>
          </a:prstGeom>
          <a:noFill/>
        </p:spPr>
        <p:txBody>
          <a:bodyPr wrap="square">
            <a:noAutofit/>
          </a:bodyPr>
          <a:lstStyle/>
          <a:p>
            <a:pPr algn="l"/>
            <a:r>
              <a:rPr sz="1300" i="0" b="0">
                <a:solidFill>
                  <a:srgbClr val="142236"/>
                </a:solidFill>
                <a:latin typeface="Segoe UI"/>
              </a:rPr>
              <a:t>The model does not hand me a score and stay silent. It hands me the score broken into every factor that built it, and those pieces add up to the score exactly.</a:t>
            </a:r>
          </a:p>
        </p:txBody>
      </p:sp>
      <p:sp>
        <p:nvSpPr>
          <p:cNvPr id="20" name="TextBox 19"/>
          <p:cNvSpPr txBox="1"/>
          <p:nvPr/>
        </p:nvSpPr>
        <p:spPr>
          <a:xfrm>
            <a:off x="6903720" y="3246120"/>
            <a:ext cx="4389120" cy="1097280"/>
          </a:xfrm>
          <a:prstGeom prst="rect">
            <a:avLst/>
          </a:prstGeom>
          <a:noFill/>
        </p:spPr>
        <p:txBody>
          <a:bodyPr wrap="square">
            <a:noAutofit/>
          </a:bodyPr>
          <a:lstStyle/>
          <a:p>
            <a:pPr algn="l"/>
            <a:r>
              <a:rPr sz="1300" i="0" b="0">
                <a:solidFill>
                  <a:srgbClr val="142236"/>
                </a:solidFill>
                <a:latin typeface="Segoe UI"/>
              </a:rPr>
              <a:t>So the four reasons on the letter are not a guess at what mattered, and they are not written by hand afterwards. They are the four largest pieces of that person's own number.</a:t>
            </a:r>
          </a:p>
        </p:txBody>
      </p:sp>
      <p:sp>
        <p:nvSpPr>
          <p:cNvPr id="21" name="TextBox 20"/>
          <p:cNvSpPr txBox="1"/>
          <p:nvPr/>
        </p:nvSpPr>
        <p:spPr>
          <a:xfrm>
            <a:off x="6903720" y="4434840"/>
            <a:ext cx="4389120" cy="731520"/>
          </a:xfrm>
          <a:prstGeom prst="rect">
            <a:avLst/>
          </a:prstGeom>
          <a:noFill/>
        </p:spPr>
        <p:txBody>
          <a:bodyPr wrap="square">
            <a:noAutofit/>
          </a:bodyPr>
          <a:lstStyle/>
          <a:p>
            <a:pPr algn="l"/>
            <a:r>
              <a:rPr sz="1100" i="0" b="0">
                <a:solidFill>
                  <a:srgbClr val="5B6B7E"/>
                </a:solidFill>
                <a:latin typeface="Segoe UI"/>
              </a:rPr>
              <a:t>Technically: SHAP values, which are additive by construction, mapped to consumer language across all 279 model columns.</a:t>
            </a:r>
          </a:p>
        </p:txBody>
      </p:sp>
      <p:sp>
        <p:nvSpPr>
          <p:cNvPr id="22" name="Rounded Rectangle 21"/>
          <p:cNvSpPr/>
          <p:nvPr/>
        </p:nvSpPr>
        <p:spPr>
          <a:xfrm>
            <a:off x="640080" y="5623560"/>
            <a:ext cx="10881360" cy="86868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5623560"/>
            <a:ext cx="54864" cy="86868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742432"/>
            <a:ext cx="10424160" cy="256032"/>
          </a:xfrm>
          <a:prstGeom prst="rect">
            <a:avLst/>
          </a:prstGeom>
          <a:noFill/>
        </p:spPr>
        <p:txBody>
          <a:bodyPr wrap="square">
            <a:noAutofit/>
          </a:bodyPr>
          <a:lstStyle/>
          <a:p>
            <a:pPr algn="l"/>
            <a:r>
              <a:rPr sz="1000" i="0" b="1">
                <a:solidFill>
                  <a:srgbClr val="E06E1D"/>
                </a:solidFill>
                <a:latin typeface="Segoe UI"/>
              </a:rPr>
              <a:t>KEY TAKEAWAY</a:t>
            </a:r>
          </a:p>
        </p:txBody>
      </p:sp>
      <p:sp>
        <p:nvSpPr>
          <p:cNvPr id="25" name="TextBox 24"/>
          <p:cNvSpPr txBox="1"/>
          <p:nvPr/>
        </p:nvSpPr>
        <p:spPr>
          <a:xfrm>
            <a:off x="877824" y="6007608"/>
            <a:ext cx="10424160" cy="411479"/>
          </a:xfrm>
          <a:prstGeom prst="rect">
            <a:avLst/>
          </a:prstGeom>
          <a:noFill/>
        </p:spPr>
        <p:txBody>
          <a:bodyPr wrap="square">
            <a:noAutofit/>
          </a:bodyPr>
          <a:lstStyle/>
          <a:p>
            <a:pPr algn="l"/>
            <a:r>
              <a:rPr sz="1250" i="0" b="0">
                <a:solidFill>
                  <a:srgbClr val="142236"/>
                </a:solidFill>
                <a:latin typeface="Segoe UI"/>
              </a:rPr>
              <a:t>Compliance here is not a report written after the fact. It falls out of the same maths that made the decision, which means the reasons can never drift away from the real cause.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09 / 13</a:t>
            </a:r>
          </a:p>
        </p:txBody>
      </p:sp>
      <p:sp>
        <p:nvSpPr>
          <p:cNvPr id="5" name="Rounded Rectangle 4"/>
          <p:cNvSpPr/>
          <p:nvPr/>
        </p:nvSpPr>
        <p:spPr>
          <a:xfrm>
            <a:off x="621792" y="384048"/>
            <a:ext cx="2500426" cy="329184"/>
          </a:xfrm>
          <a:prstGeom prst="roundRect">
            <a:avLst>
              <a:gd name="adj" fmla="val 50000"/>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RISKS &amp; LIMITS</a:t>
            </a:r>
          </a:p>
        </p:txBody>
      </p:sp>
      <p:sp>
        <p:nvSpPr>
          <p:cNvPr id="6" name="TextBox 5"/>
          <p:cNvSpPr txBox="1"/>
          <p:nvPr/>
        </p:nvSpPr>
        <p:spPr>
          <a:xfrm>
            <a:off x="621792" y="868680"/>
            <a:ext cx="10881360" cy="1188720"/>
          </a:xfrm>
          <a:prstGeom prst="rect">
            <a:avLst/>
          </a:prstGeom>
          <a:noFill/>
        </p:spPr>
        <p:txBody>
          <a:bodyPr wrap="square">
            <a:noAutofit/>
          </a:bodyPr>
          <a:lstStyle/>
          <a:p>
            <a:r>
              <a:rPr b="1" sz="2600">
                <a:solidFill>
                  <a:srgbClr val="142236"/>
                </a:solidFill>
                <a:latin typeface="Segoe UI Semibold"/>
              </a:rPr>
              <a:t>Three things that could go wrong, and what I did about each</a:t>
            </a:r>
          </a:p>
        </p:txBody>
      </p:sp>
      <p:sp>
        <p:nvSpPr>
          <p:cNvPr id="7" name="Rounded Rectangle 6"/>
          <p:cNvSpPr/>
          <p:nvPr/>
        </p:nvSpPr>
        <p:spPr>
          <a:xfrm>
            <a:off x="640080" y="1691640"/>
            <a:ext cx="10881360" cy="12801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1280160"/>
          </a:xfrm>
          <a:prstGeom prst="rect">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20"/>
            <a:ext cx="3840480" cy="822960"/>
          </a:xfrm>
          <a:prstGeom prst="rect">
            <a:avLst/>
          </a:prstGeom>
          <a:noFill/>
        </p:spPr>
        <p:txBody>
          <a:bodyPr wrap="square">
            <a:noAutofit/>
          </a:bodyPr>
          <a:lstStyle/>
          <a:p>
            <a:pPr algn="l"/>
            <a:r>
              <a:rPr sz="1350" i="0" b="1">
                <a:solidFill>
                  <a:srgbClr val="142236"/>
                </a:solidFill>
                <a:latin typeface="Segoe UI"/>
              </a:rPr>
              <a:t>The economy turns and everyone gets riskier at once</a:t>
            </a:r>
          </a:p>
        </p:txBody>
      </p:sp>
      <p:sp>
        <p:nvSpPr>
          <p:cNvPr id="10" name="TextBox 9"/>
          <p:cNvSpPr txBox="1"/>
          <p:nvPr/>
        </p:nvSpPr>
        <p:spPr>
          <a:xfrm>
            <a:off x="4937760" y="1874520"/>
            <a:ext cx="3794760" cy="960120"/>
          </a:xfrm>
          <a:prstGeom prst="rect">
            <a:avLst/>
          </a:prstGeom>
          <a:noFill/>
        </p:spPr>
        <p:txBody>
          <a:bodyPr wrap="square">
            <a:noAutofit/>
          </a:bodyPr>
          <a:lstStyle/>
          <a:p>
            <a:pPr algn="l"/>
            <a:r>
              <a:rPr sz="1200" i="0" b="0">
                <a:solidFill>
                  <a:srgbClr val="5B6B7E"/>
                </a:solidFill>
                <a:latin typeface="Segoe UI"/>
              </a:rPr>
              <a:t>I built a tripwire that watches for the population drifting, and I test-fired it: a simulated severe recession trips it. It runs monthly in production.</a:t>
            </a:r>
          </a:p>
        </p:txBody>
      </p:sp>
      <p:sp>
        <p:nvSpPr>
          <p:cNvPr id="11" name="Rounded Rectangle 10"/>
          <p:cNvSpPr/>
          <p:nvPr/>
        </p:nvSpPr>
        <p:spPr>
          <a:xfrm>
            <a:off x="8540496" y="2167128"/>
            <a:ext cx="2752344" cy="329184"/>
          </a:xfrm>
          <a:prstGeom prst="roundRect">
            <a:avLst>
              <a:gd name="adj" fmla="val 50000"/>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900" spc="80">
                <a:solidFill>
                  <a:srgbClr val="FFFFFF"/>
                </a:solidFill>
                <a:latin typeface="Segoe UI"/>
              </a:rPr>
              <a:t>TESTED, NOT PROMISED</a:t>
            </a:r>
          </a:p>
        </p:txBody>
      </p:sp>
      <p:sp>
        <p:nvSpPr>
          <p:cNvPr id="12" name="Rounded Rectangle 11"/>
          <p:cNvSpPr/>
          <p:nvPr/>
        </p:nvSpPr>
        <p:spPr>
          <a:xfrm>
            <a:off x="640080" y="3081528"/>
            <a:ext cx="10881360" cy="12801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081528"/>
            <a:ext cx="54864" cy="1280160"/>
          </a:xfrm>
          <a:prstGeom prst="rect">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64408"/>
            <a:ext cx="3840480" cy="822960"/>
          </a:xfrm>
          <a:prstGeom prst="rect">
            <a:avLst/>
          </a:prstGeom>
          <a:noFill/>
        </p:spPr>
        <p:txBody>
          <a:bodyPr wrap="square">
            <a:noAutofit/>
          </a:bodyPr>
          <a:lstStyle/>
          <a:p>
            <a:pPr algn="l"/>
            <a:r>
              <a:rPr sz="1350" i="0" b="1">
                <a:solidFill>
                  <a:srgbClr val="142236"/>
                </a:solidFill>
                <a:latin typeface="Segoe UI"/>
              </a:rPr>
              <a:t>I cannot check the model against a different point in time</a:t>
            </a:r>
          </a:p>
        </p:txBody>
      </p:sp>
      <p:sp>
        <p:nvSpPr>
          <p:cNvPr id="15" name="TextBox 14"/>
          <p:cNvSpPr txBox="1"/>
          <p:nvPr/>
        </p:nvSpPr>
        <p:spPr>
          <a:xfrm>
            <a:off x="4937760" y="3264408"/>
            <a:ext cx="3794760" cy="960120"/>
          </a:xfrm>
          <a:prstGeom prst="rect">
            <a:avLst/>
          </a:prstGeom>
          <a:noFill/>
        </p:spPr>
        <p:txBody>
          <a:bodyPr wrap="square">
            <a:noAutofit/>
          </a:bodyPr>
          <a:lstStyle/>
          <a:p>
            <a:pPr algn="l"/>
            <a:r>
              <a:rPr sz="1200" i="0" b="0">
                <a:solidFill>
                  <a:srgbClr val="5B6B7E"/>
                </a:solidFill>
                <a:latin typeface="Segoe UI"/>
              </a:rPr>
              <a:t>This data carries no dates, so an out-of-time test is impossible today. I retrain monthly and monitor drift instead of pretending the problem is not there.</a:t>
            </a:r>
          </a:p>
        </p:txBody>
      </p:sp>
      <p:sp>
        <p:nvSpPr>
          <p:cNvPr id="16" name="Rounded Rectangle 15"/>
          <p:cNvSpPr/>
          <p:nvPr/>
        </p:nvSpPr>
        <p:spPr>
          <a:xfrm>
            <a:off x="8540496" y="3557016"/>
            <a:ext cx="2752344" cy="329184"/>
          </a:xfrm>
          <a:prstGeom prst="roundRect">
            <a:avLst>
              <a:gd name="adj" fmla="val 50000"/>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900" spc="80">
                <a:solidFill>
                  <a:srgbClr val="FFFFFF"/>
                </a:solidFill>
                <a:latin typeface="Segoe UI"/>
              </a:rPr>
              <a:t>COMPENSATING CONTROL</a:t>
            </a:r>
          </a:p>
        </p:txBody>
      </p:sp>
      <p:sp>
        <p:nvSpPr>
          <p:cNvPr id="17" name="Rounded Rectangle 16"/>
          <p:cNvSpPr/>
          <p:nvPr/>
        </p:nvSpPr>
        <p:spPr>
          <a:xfrm>
            <a:off x="640080" y="4471416"/>
            <a:ext cx="10881360" cy="12801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471416"/>
            <a:ext cx="54864" cy="1280160"/>
          </a:xfrm>
          <a:prstGeom prst="rect">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54296"/>
            <a:ext cx="3840480" cy="822960"/>
          </a:xfrm>
          <a:prstGeom prst="rect">
            <a:avLst/>
          </a:prstGeom>
          <a:noFill/>
        </p:spPr>
        <p:txBody>
          <a:bodyPr wrap="square">
            <a:noAutofit/>
          </a:bodyPr>
          <a:lstStyle/>
          <a:p>
            <a:pPr algn="l"/>
            <a:r>
              <a:rPr sz="1350" i="0" b="1">
                <a:solidFill>
                  <a:srgbClr val="142236"/>
                </a:solidFill>
                <a:latin typeface="Segoe UI"/>
              </a:rPr>
              <a:t>The model has only ever seen people we already said yes to</a:t>
            </a:r>
          </a:p>
        </p:txBody>
      </p:sp>
      <p:sp>
        <p:nvSpPr>
          <p:cNvPr id="20" name="TextBox 19"/>
          <p:cNvSpPr txBox="1"/>
          <p:nvPr/>
        </p:nvSpPr>
        <p:spPr>
          <a:xfrm>
            <a:off x="4937760" y="4654296"/>
            <a:ext cx="3794760" cy="960120"/>
          </a:xfrm>
          <a:prstGeom prst="rect">
            <a:avLst/>
          </a:prstGeom>
          <a:noFill/>
        </p:spPr>
        <p:txBody>
          <a:bodyPr wrap="square">
            <a:noAutofit/>
          </a:bodyPr>
          <a:lstStyle/>
          <a:p>
            <a:pPr algn="l"/>
            <a:r>
              <a:rPr sz="1200" i="0" b="0">
                <a:solidFill>
                  <a:srgbClr val="5B6B7E"/>
                </a:solidFill>
                <a:latin typeface="Segoe UI"/>
              </a:rPr>
              <a:t>It cannot learn from applicants the old process turned away. Thin files go to a human reviewer, and correcting this is the first item on my roadmap.</a:t>
            </a:r>
          </a:p>
        </p:txBody>
      </p:sp>
      <p:sp>
        <p:nvSpPr>
          <p:cNvPr id="21" name="Rounded Rectangle 20"/>
          <p:cNvSpPr/>
          <p:nvPr/>
        </p:nvSpPr>
        <p:spPr>
          <a:xfrm>
            <a:off x="8898483" y="4946904"/>
            <a:ext cx="2394356" cy="329184"/>
          </a:xfrm>
          <a:prstGeom prst="roundRect">
            <a:avLst>
              <a:gd name="adj" fmla="val 50000"/>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900" spc="80">
                <a:solidFill>
                  <a:srgbClr val="FFFFFF"/>
                </a:solidFill>
                <a:latin typeface="Segoe UI"/>
              </a:rPr>
              <a:t>HUMAN IN THE LOOP</a:t>
            </a:r>
          </a:p>
        </p:txBody>
      </p:sp>
      <p:sp>
        <p:nvSpPr>
          <p:cNvPr id="22" name="Rounded Rectangle 21"/>
          <p:cNvSpPr/>
          <p:nvPr/>
        </p:nvSpPr>
        <p:spPr>
          <a:xfrm>
            <a:off x="640080" y="5943600"/>
            <a:ext cx="10881360" cy="73152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5943600"/>
            <a:ext cx="54864" cy="73152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6062472"/>
            <a:ext cx="10424160" cy="256032"/>
          </a:xfrm>
          <a:prstGeom prst="rect">
            <a:avLst/>
          </a:prstGeom>
          <a:noFill/>
        </p:spPr>
        <p:txBody>
          <a:bodyPr wrap="square">
            <a:noAutofit/>
          </a:bodyPr>
          <a:lstStyle/>
          <a:p>
            <a:pPr algn="l"/>
            <a:r>
              <a:rPr sz="1000" i="0" b="1">
                <a:solidFill>
                  <a:srgbClr val="E06E1D"/>
                </a:solidFill>
                <a:latin typeface="Segoe UI"/>
              </a:rPr>
              <a:t>KEY TAKEAWAY</a:t>
            </a:r>
          </a:p>
        </p:txBody>
      </p:sp>
      <p:sp>
        <p:nvSpPr>
          <p:cNvPr id="25" name="TextBox 24"/>
          <p:cNvSpPr txBox="1"/>
          <p:nvPr/>
        </p:nvSpPr>
        <p:spPr>
          <a:xfrm>
            <a:off x="877824" y="6327648"/>
            <a:ext cx="10424160" cy="274320"/>
          </a:xfrm>
          <a:prstGeom prst="rect">
            <a:avLst/>
          </a:prstGeom>
          <a:noFill/>
        </p:spPr>
        <p:txBody>
          <a:bodyPr wrap="square">
            <a:noAutofit/>
          </a:bodyPr>
          <a:lstStyle/>
          <a:p>
            <a:pPr algn="l"/>
            <a:r>
              <a:rPr sz="1250" i="0" b="0">
                <a:solidFill>
                  <a:srgbClr val="142236"/>
                </a:solidFill>
                <a:latin typeface="Segoe UI"/>
              </a:rPr>
              <a:t>I would rather bring you a model whose blind spots are named and instrumented than one that looks flawless.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10 / 13</a:t>
            </a:r>
          </a:p>
        </p:txBody>
      </p:sp>
      <p:sp>
        <p:nvSpPr>
          <p:cNvPr id="5" name="Rounded Rectangle 4"/>
          <p:cNvSpPr/>
          <p:nvPr/>
        </p:nvSpPr>
        <p:spPr>
          <a:xfrm>
            <a:off x="621792" y="384048"/>
            <a:ext cx="4177665"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FAIRNESS &amp; RECOMMENDATION</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I found a compliance defect, fixed it, and priced the fix</a:t>
            </a:r>
          </a:p>
        </p:txBody>
      </p:sp>
      <p:sp>
        <p:nvSpPr>
          <p:cNvPr id="7" name="Rounded Rectangle 6"/>
          <p:cNvSpPr/>
          <p:nvPr/>
        </p:nvSpPr>
        <p:spPr>
          <a:xfrm>
            <a:off x="640080" y="1691640"/>
            <a:ext cx="5257800" cy="2194560"/>
          </a:xfrm>
          <a:prstGeom prst="roundRect">
            <a:avLst>
              <a:gd name="adj" fmla="val 4000"/>
            </a:avLst>
          </a:prstGeom>
          <a:solidFill>
            <a:srgbClr val="FBECEA"/>
          </a:solidFill>
          <a:ln w="12700">
            <a:solidFill>
              <a:srgbClr val="B8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219456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56231"/>
            <a:ext cx="4754880" cy="274320"/>
          </a:xfrm>
          <a:prstGeom prst="rect">
            <a:avLst/>
          </a:prstGeom>
          <a:noFill/>
        </p:spPr>
        <p:txBody>
          <a:bodyPr wrap="square">
            <a:noAutofit/>
          </a:bodyPr>
          <a:lstStyle/>
          <a:p>
            <a:pPr algn="l"/>
            <a:r>
              <a:rPr sz="1100" i="0" b="1">
                <a:solidFill>
                  <a:srgbClr val="B83A2E"/>
                </a:solidFill>
                <a:latin typeface="Segoe UI"/>
              </a:rPr>
              <a:t>THE DEFECT I FOUND</a:t>
            </a:r>
          </a:p>
        </p:txBody>
      </p:sp>
      <p:sp>
        <p:nvSpPr>
          <p:cNvPr id="10" name="TextBox 9"/>
          <p:cNvSpPr txBox="1"/>
          <p:nvPr/>
        </p:nvSpPr>
        <p:spPr>
          <a:xfrm>
            <a:off x="914400" y="2194560"/>
            <a:ext cx="4754880" cy="822960"/>
          </a:xfrm>
          <a:prstGeom prst="rect">
            <a:avLst/>
          </a:prstGeom>
          <a:noFill/>
        </p:spPr>
        <p:txBody>
          <a:bodyPr wrap="square">
            <a:noAutofit/>
          </a:bodyPr>
          <a:lstStyle/>
          <a:p>
            <a:pPr algn="l"/>
            <a:r>
              <a:rPr sz="1350" i="0" b="0">
                <a:solidFill>
                  <a:srgbClr val="142236"/>
                </a:solidFill>
                <a:latin typeface="Segoe UI"/>
              </a:rPr>
              <a:t>The model was using gender as an input. That is prohibited in credit decisions, no matter how much accuracy it buys.</a:t>
            </a:r>
          </a:p>
        </p:txBody>
      </p:sp>
      <p:sp>
        <p:nvSpPr>
          <p:cNvPr id="11" name="TextBox 10"/>
          <p:cNvSpPr txBox="1"/>
          <p:nvPr/>
        </p:nvSpPr>
        <p:spPr>
          <a:xfrm>
            <a:off x="914400" y="2971800"/>
            <a:ext cx="4754880" cy="822960"/>
          </a:xfrm>
          <a:prstGeom prst="rect">
            <a:avLst/>
          </a:prstGeom>
          <a:noFill/>
        </p:spPr>
        <p:txBody>
          <a:bodyPr wrap="square">
            <a:noAutofit/>
          </a:bodyPr>
          <a:lstStyle/>
          <a:p>
            <a:pPr algn="l"/>
            <a:r>
              <a:rPr sz="1250" i="0" b="0">
                <a:solidFill>
                  <a:srgbClr val="5B6B7E"/>
                </a:solidFill>
                <a:latin typeface="Segoe UI"/>
              </a:rPr>
              <a:t>At my cut-off, men were approved at 0.75 of the rate women were, against a 0.80 regulatory screen. Young applicants sat at 0.62.</a:t>
            </a:r>
          </a:p>
        </p:txBody>
      </p:sp>
      <p:sp>
        <p:nvSpPr>
          <p:cNvPr id="12" name="Rounded Rectangle 11"/>
          <p:cNvSpPr/>
          <p:nvPr/>
        </p:nvSpPr>
        <p:spPr>
          <a:xfrm>
            <a:off x="6263640" y="1691640"/>
            <a:ext cx="5257800" cy="2194560"/>
          </a:xfrm>
          <a:prstGeom prst="roundRect">
            <a:avLst>
              <a:gd name="adj" fmla="val 4000"/>
            </a:avLst>
          </a:prstGeom>
          <a:solidFill>
            <a:srgbClr val="E9F6EF"/>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691640"/>
            <a:ext cx="54864" cy="219456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856231"/>
            <a:ext cx="4754880" cy="274320"/>
          </a:xfrm>
          <a:prstGeom prst="rect">
            <a:avLst/>
          </a:prstGeom>
          <a:noFill/>
        </p:spPr>
        <p:txBody>
          <a:bodyPr wrap="square">
            <a:noAutofit/>
          </a:bodyPr>
          <a:lstStyle/>
          <a:p>
            <a:pPr algn="l"/>
            <a:r>
              <a:rPr sz="1100" i="0" b="1">
                <a:solidFill>
                  <a:srgbClr val="1E8E5A"/>
                </a:solidFill>
                <a:latin typeface="Segoe UI"/>
              </a:rPr>
              <a:t>WHAT THE FIX COST</a:t>
            </a:r>
          </a:p>
        </p:txBody>
      </p:sp>
      <p:sp>
        <p:nvSpPr>
          <p:cNvPr id="15" name="TextBox 14"/>
          <p:cNvSpPr txBox="1"/>
          <p:nvPr/>
        </p:nvSpPr>
        <p:spPr>
          <a:xfrm>
            <a:off x="6519672" y="2148840"/>
            <a:ext cx="4754880" cy="988255"/>
          </a:xfrm>
          <a:prstGeom prst="rect">
            <a:avLst/>
          </a:prstGeom>
          <a:noFill/>
        </p:spPr>
        <p:txBody>
          <a:bodyPr wrap="square">
            <a:noAutofit/>
          </a:bodyPr>
          <a:lstStyle/>
          <a:p>
            <a:pPr algn="l"/>
            <a:r>
              <a:rPr b="1" sz="3800">
                <a:solidFill>
                  <a:srgbClr val="1E8E5A"/>
                </a:solidFill>
                <a:latin typeface="Segoe UI Semibold"/>
              </a:rPr>
              <a:t>0.0005</a:t>
            </a:r>
          </a:p>
        </p:txBody>
      </p:sp>
      <p:sp>
        <p:nvSpPr>
          <p:cNvPr id="16" name="TextBox 15"/>
          <p:cNvSpPr txBox="1"/>
          <p:nvPr/>
        </p:nvSpPr>
        <p:spPr>
          <a:xfrm>
            <a:off x="6537960" y="2788920"/>
            <a:ext cx="4754880" cy="822960"/>
          </a:xfrm>
          <a:prstGeom prst="rect">
            <a:avLst/>
          </a:prstGeom>
          <a:noFill/>
        </p:spPr>
        <p:txBody>
          <a:bodyPr wrap="square">
            <a:noAutofit/>
          </a:bodyPr>
          <a:lstStyle/>
          <a:p>
            <a:pPr algn="l"/>
            <a:r>
              <a:rPr sz="1300" i="0" b="0">
                <a:solidFill>
                  <a:srgbClr val="142236"/>
                </a:solidFill>
                <a:latin typeface="Segoe UI"/>
              </a:rPr>
              <a:t>of accuracy. I retrained the identical model without gender and lost half a thousandth of a point. Essentially nothing.</a:t>
            </a:r>
          </a:p>
        </p:txBody>
      </p:sp>
      <p:sp>
        <p:nvSpPr>
          <p:cNvPr id="17" name="TextBox 16"/>
          <p:cNvSpPr txBox="1"/>
          <p:nvPr/>
        </p:nvSpPr>
        <p:spPr>
          <a:xfrm>
            <a:off x="6537960" y="3401568"/>
            <a:ext cx="4754880" cy="457200"/>
          </a:xfrm>
          <a:prstGeom prst="rect">
            <a:avLst/>
          </a:prstGeom>
          <a:noFill/>
        </p:spPr>
        <p:txBody>
          <a:bodyPr wrap="square">
            <a:noAutofit/>
          </a:bodyPr>
          <a:lstStyle/>
          <a:p>
            <a:pPr algn="l"/>
            <a:r>
              <a:rPr sz="1200" i="0" b="0">
                <a:solidFill>
                  <a:srgbClr val="5B6B7E"/>
                </a:solidFill>
                <a:latin typeface="Segoe UI"/>
              </a:rPr>
              <a:t>Age effects remain, and they are defensible: older applicants are favoured, not penalised.</a:t>
            </a:r>
          </a:p>
        </p:txBody>
      </p:sp>
      <p:sp>
        <p:nvSpPr>
          <p:cNvPr id="18" name="Rounded Rectangle 17"/>
          <p:cNvSpPr/>
          <p:nvPr/>
        </p:nvSpPr>
        <p:spPr>
          <a:xfrm>
            <a:off x="640080" y="4069080"/>
            <a:ext cx="10881360" cy="1417320"/>
          </a:xfrm>
          <a:prstGeom prst="roundRect">
            <a:avLst>
              <a:gd name="adj" fmla="val 4000"/>
            </a:avLst>
          </a:prstGeom>
          <a:solidFill>
            <a:srgbClr val="0A3D66"/>
          </a:solidFill>
          <a:ln w="12700">
            <a:solidFill>
              <a:srgbClr val="0A3D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33672"/>
            <a:ext cx="10332720" cy="365760"/>
          </a:xfrm>
          <a:prstGeom prst="rect">
            <a:avLst/>
          </a:prstGeom>
          <a:noFill/>
        </p:spPr>
        <p:txBody>
          <a:bodyPr wrap="square">
            <a:noAutofit/>
          </a:bodyPr>
          <a:lstStyle/>
          <a:p>
            <a:pPr algn="l"/>
            <a:r>
              <a:rPr sz="1700" i="0" b="1">
                <a:solidFill>
                  <a:srgbClr val="FFFFFF"/>
                </a:solidFill>
                <a:latin typeface="Segoe UI"/>
              </a:rPr>
              <a:t>RECOMMENDATION:  DEPLOY, WITH CONDITIONS</a:t>
            </a:r>
          </a:p>
        </p:txBody>
      </p:sp>
      <p:sp>
        <p:nvSpPr>
          <p:cNvPr id="20" name="TextBox 19"/>
          <p:cNvSpPr txBox="1"/>
          <p:nvPr/>
        </p:nvSpPr>
        <p:spPr>
          <a:xfrm>
            <a:off x="914400" y="4663440"/>
            <a:ext cx="10332720" cy="685800"/>
          </a:xfrm>
          <a:prstGeom prst="rect">
            <a:avLst/>
          </a:prstGeom>
          <a:noFill/>
        </p:spPr>
        <p:txBody>
          <a:bodyPr wrap="square">
            <a:noAutofit/>
          </a:bodyPr>
          <a:lstStyle/>
          <a:p>
            <a:pPr algn="l"/>
            <a:r>
              <a:rPr sz="1300" i="0" b="0">
                <a:solidFill>
                  <a:srgbClr val="DCE7F2"/>
                </a:solidFill>
                <a:latin typeface="Segoe UI"/>
              </a:rPr>
              <a:t>Ship the gender-free model.   Reasons on every decline.   Monthly drift monitoring.   Quarterly fairness re-audit.   A human reviewer for thin files.</a:t>
            </a:r>
          </a:p>
        </p:txBody>
      </p:sp>
      <p:sp>
        <p:nvSpPr>
          <p:cNvPr id="21" name="TextBox 20"/>
          <p:cNvSpPr txBox="1"/>
          <p:nvPr/>
        </p:nvSpPr>
        <p:spPr>
          <a:xfrm>
            <a:off x="640080" y="5669280"/>
            <a:ext cx="10881360" cy="457200"/>
          </a:xfrm>
          <a:prstGeom prst="rect">
            <a:avLst/>
          </a:prstGeom>
          <a:noFill/>
        </p:spPr>
        <p:txBody>
          <a:bodyPr wrap="square">
            <a:noAutofit/>
          </a:bodyPr>
          <a:lstStyle/>
          <a:p>
            <a:pPr algn="l"/>
            <a:r>
              <a:rPr sz="1300" i="1" b="0">
                <a:solidFill>
                  <a:srgbClr val="5B6B7E"/>
                </a:solidFill>
                <a:latin typeface="Segoe UI"/>
              </a:rPr>
              <a:t>A model that beats the baseline, prices its own decisions, explains itself, and survived a fairness audit. That is what deployable means.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11 / 13</a:t>
            </a:r>
          </a:p>
        </p:txBody>
      </p:sp>
      <p:sp>
        <p:nvSpPr>
          <p:cNvPr id="5" name="Rounded Rectangle 4"/>
          <p:cNvSpPr/>
          <p:nvPr/>
        </p:nvSpPr>
        <p:spPr>
          <a:xfrm>
            <a:off x="621792" y="384048"/>
            <a:ext cx="1738045"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LIVE DEMO</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The underwriting desk, running on this laptop</a:t>
            </a:r>
          </a:p>
        </p:txBody>
      </p:sp>
      <p:sp>
        <p:nvSpPr>
          <p:cNvPr id="7" name="Rounded Rectangle 6"/>
          <p:cNvSpPr/>
          <p:nvPr/>
        </p:nvSpPr>
        <p:spPr>
          <a:xfrm>
            <a:off x="640080" y="1691640"/>
            <a:ext cx="10881360" cy="214884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4864" cy="214884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0240"/>
            <a:ext cx="10241280" cy="548640"/>
          </a:xfrm>
          <a:prstGeom prst="rect">
            <a:avLst/>
          </a:prstGeom>
          <a:noFill/>
        </p:spPr>
        <p:txBody>
          <a:bodyPr wrap="square">
            <a:noAutofit/>
          </a:bodyPr>
          <a:lstStyle/>
          <a:p>
            <a:pPr algn="l"/>
            <a:r>
              <a:rPr sz="1700" i="0" b="1">
                <a:solidFill>
                  <a:srgbClr val="142236"/>
                </a:solidFill>
                <a:latin typeface="Segoe UI"/>
              </a:rPr>
              <a:t>I am about to open a small web app, type in an applicant, and let the real model decide in front of you.</a:t>
            </a:r>
          </a:p>
        </p:txBody>
      </p:sp>
      <p:sp>
        <p:nvSpPr>
          <p:cNvPr id="10" name="TextBox 9"/>
          <p:cNvSpPr txBox="1"/>
          <p:nvPr/>
        </p:nvSpPr>
        <p:spPr>
          <a:xfrm>
            <a:off x="960120" y="2606040"/>
            <a:ext cx="3200400" cy="320040"/>
          </a:xfrm>
          <a:prstGeom prst="rect">
            <a:avLst/>
          </a:prstGeom>
          <a:noFill/>
        </p:spPr>
        <p:txBody>
          <a:bodyPr wrap="square">
            <a:noAutofit/>
          </a:bodyPr>
          <a:lstStyle/>
          <a:p>
            <a:pPr algn="l"/>
            <a:r>
              <a:rPr sz="1350" i="0" b="1">
                <a:solidFill>
                  <a:srgbClr val="0B5FA5"/>
                </a:solidFill>
                <a:latin typeface="Segoe UI"/>
              </a:rPr>
              <a:t>You will see the decision</a:t>
            </a:r>
          </a:p>
        </p:txBody>
      </p:sp>
      <p:sp>
        <p:nvSpPr>
          <p:cNvPr id="11" name="TextBox 10"/>
          <p:cNvSpPr txBox="1"/>
          <p:nvPr/>
        </p:nvSpPr>
        <p:spPr>
          <a:xfrm>
            <a:off x="960120" y="2926080"/>
            <a:ext cx="3200400" cy="685800"/>
          </a:xfrm>
          <a:prstGeom prst="rect">
            <a:avLst/>
          </a:prstGeom>
          <a:noFill/>
        </p:spPr>
        <p:txBody>
          <a:bodyPr wrap="square">
            <a:noAutofit/>
          </a:bodyPr>
          <a:lstStyle/>
          <a:p>
            <a:pPr algn="l"/>
            <a:r>
              <a:rPr sz="1200" i="0" b="0">
                <a:solidFill>
                  <a:srgbClr val="5B6B7E"/>
                </a:solidFill>
                <a:latin typeface="Segoe UI"/>
              </a:rPr>
              <a:t>the probability, and approve or decline at the 7% line</a:t>
            </a:r>
          </a:p>
        </p:txBody>
      </p:sp>
      <p:sp>
        <p:nvSpPr>
          <p:cNvPr id="12" name="TextBox 11"/>
          <p:cNvSpPr txBox="1"/>
          <p:nvPr/>
        </p:nvSpPr>
        <p:spPr>
          <a:xfrm>
            <a:off x="4389120" y="2606040"/>
            <a:ext cx="3200400" cy="320040"/>
          </a:xfrm>
          <a:prstGeom prst="rect">
            <a:avLst/>
          </a:prstGeom>
          <a:noFill/>
        </p:spPr>
        <p:txBody>
          <a:bodyPr wrap="square">
            <a:noAutofit/>
          </a:bodyPr>
          <a:lstStyle/>
          <a:p>
            <a:pPr algn="l"/>
            <a:r>
              <a:rPr sz="1350" i="0" b="1">
                <a:solidFill>
                  <a:srgbClr val="0B5FA5"/>
                </a:solidFill>
                <a:latin typeface="Segoe UI"/>
              </a:rPr>
              <a:t>You will see the money</a:t>
            </a:r>
          </a:p>
        </p:txBody>
      </p:sp>
      <p:sp>
        <p:nvSpPr>
          <p:cNvPr id="13" name="TextBox 12"/>
          <p:cNvSpPr txBox="1"/>
          <p:nvPr/>
        </p:nvSpPr>
        <p:spPr>
          <a:xfrm>
            <a:off x="4389120" y="2926080"/>
            <a:ext cx="3200400" cy="685800"/>
          </a:xfrm>
          <a:prstGeom prst="rect">
            <a:avLst/>
          </a:prstGeom>
          <a:noFill/>
        </p:spPr>
        <p:txBody>
          <a:bodyPr wrap="square">
            <a:noAutofit/>
          </a:bodyPr>
          <a:lstStyle/>
          <a:p>
            <a:pPr algn="l"/>
            <a:r>
              <a:rPr sz="1200" i="0" b="0">
                <a:solidFill>
                  <a:srgbClr val="5B6B7E"/>
                </a:solidFill>
                <a:latin typeface="Segoe UI"/>
              </a:rPr>
              <a:t>expected loss against expected margin, for that exact loan</a:t>
            </a:r>
          </a:p>
        </p:txBody>
      </p:sp>
      <p:sp>
        <p:nvSpPr>
          <p:cNvPr id="14" name="TextBox 13"/>
          <p:cNvSpPr txBox="1"/>
          <p:nvPr/>
        </p:nvSpPr>
        <p:spPr>
          <a:xfrm>
            <a:off x="7818120" y="2606040"/>
            <a:ext cx="3200400" cy="320040"/>
          </a:xfrm>
          <a:prstGeom prst="rect">
            <a:avLst/>
          </a:prstGeom>
          <a:noFill/>
        </p:spPr>
        <p:txBody>
          <a:bodyPr wrap="square">
            <a:noAutofit/>
          </a:bodyPr>
          <a:lstStyle/>
          <a:p>
            <a:pPr algn="l"/>
            <a:r>
              <a:rPr sz="1350" i="0" b="1">
                <a:solidFill>
                  <a:srgbClr val="0B5FA5"/>
                </a:solidFill>
                <a:latin typeface="Segoe UI"/>
              </a:rPr>
              <a:t>You will see the reasons</a:t>
            </a:r>
          </a:p>
        </p:txBody>
      </p:sp>
      <p:sp>
        <p:nvSpPr>
          <p:cNvPr id="15" name="TextBox 14"/>
          <p:cNvSpPr txBox="1"/>
          <p:nvPr/>
        </p:nvSpPr>
        <p:spPr>
          <a:xfrm>
            <a:off x="7818120" y="2926080"/>
            <a:ext cx="3200400" cy="685800"/>
          </a:xfrm>
          <a:prstGeom prst="rect">
            <a:avLst/>
          </a:prstGeom>
          <a:noFill/>
        </p:spPr>
        <p:txBody>
          <a:bodyPr wrap="square">
            <a:noAutofit/>
          </a:bodyPr>
          <a:lstStyle/>
          <a:p>
            <a:pPr algn="l"/>
            <a:r>
              <a:rPr sz="1200" i="0" b="0">
                <a:solidFill>
                  <a:srgbClr val="5B6B7E"/>
                </a:solidFill>
                <a:latin typeface="Segoe UI"/>
              </a:rPr>
              <a:t>the same four that would go on the customer's letter</a:t>
            </a:r>
          </a:p>
        </p:txBody>
      </p:sp>
      <p:sp>
        <p:nvSpPr>
          <p:cNvPr id="16" name="Rounded Rectangle 15"/>
          <p:cNvSpPr/>
          <p:nvPr/>
        </p:nvSpPr>
        <p:spPr>
          <a:xfrm>
            <a:off x="640080" y="4114800"/>
            <a:ext cx="10881360" cy="96012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114800"/>
            <a:ext cx="54864" cy="96012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233672"/>
            <a:ext cx="10424160" cy="256032"/>
          </a:xfrm>
          <a:prstGeom prst="rect">
            <a:avLst/>
          </a:prstGeom>
          <a:noFill/>
        </p:spPr>
        <p:txBody>
          <a:bodyPr wrap="square">
            <a:noAutofit/>
          </a:bodyPr>
          <a:lstStyle/>
          <a:p>
            <a:pPr algn="l"/>
            <a:r>
              <a:rPr sz="1000" i="0" b="1">
                <a:solidFill>
                  <a:srgbClr val="E06E1D"/>
                </a:solidFill>
                <a:latin typeface="Segoe UI"/>
              </a:rPr>
              <a:t>WHY I AM DOING THIS LIVE</a:t>
            </a:r>
          </a:p>
        </p:txBody>
      </p:sp>
      <p:sp>
        <p:nvSpPr>
          <p:cNvPr id="19" name="TextBox 18"/>
          <p:cNvSpPr txBox="1"/>
          <p:nvPr/>
        </p:nvSpPr>
        <p:spPr>
          <a:xfrm>
            <a:off x="877824" y="4498848"/>
            <a:ext cx="10424160" cy="502920"/>
          </a:xfrm>
          <a:prstGeom prst="rect">
            <a:avLst/>
          </a:prstGeom>
          <a:noFill/>
        </p:spPr>
        <p:txBody>
          <a:bodyPr wrap="square">
            <a:noAutofit/>
          </a:bodyPr>
          <a:lstStyle/>
          <a:p>
            <a:pPr algn="l"/>
            <a:r>
              <a:rPr sz="1300" i="0" b="0">
                <a:solidFill>
                  <a:srgbClr val="142236"/>
                </a:solidFill>
                <a:latin typeface="Segoe UI"/>
              </a:rPr>
              <a:t>Nothing here is pre-recorded. It is the same model file I validated, scoring an applicant you choose, at the moment you choose it.</a:t>
            </a:r>
          </a:p>
        </p:txBody>
      </p:sp>
      <p:sp>
        <p:nvSpPr>
          <p:cNvPr id="20" name="TextBox 19"/>
          <p:cNvSpPr txBox="1"/>
          <p:nvPr/>
        </p:nvSpPr>
        <p:spPr>
          <a:xfrm>
            <a:off x="640080" y="5257800"/>
            <a:ext cx="10881360" cy="457200"/>
          </a:xfrm>
          <a:prstGeom prst="rect">
            <a:avLst/>
          </a:prstGeom>
          <a:noFill/>
        </p:spPr>
        <p:txBody>
          <a:bodyPr wrap="square">
            <a:noAutofit/>
          </a:bodyPr>
          <a:lstStyle/>
          <a:p>
            <a:pPr algn="l"/>
            <a:r>
              <a:rPr sz="1150" i="1" b="0">
                <a:solidFill>
                  <a:srgbClr val="93A1B2"/>
                </a:solidFill>
                <a:latin typeface="Segoe UI"/>
              </a:rPr>
              <a:t>If the demo misbehaves, the decline letter on slide 8 is the same output from the same model, and I will simply talk you through that instead.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12 / 13</a:t>
            </a:r>
          </a:p>
        </p:txBody>
      </p:sp>
      <p:sp>
        <p:nvSpPr>
          <p:cNvPr id="5" name="Rounded Rectangle 4"/>
          <p:cNvSpPr/>
          <p:nvPr/>
        </p:nvSpPr>
        <p:spPr>
          <a:xfrm>
            <a:off x="621792" y="384048"/>
            <a:ext cx="3110331" cy="329184"/>
          </a:xfrm>
          <a:prstGeom prst="roundRect">
            <a:avLst>
              <a:gd name="adj" fmla="val 50000"/>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0" bIns="0" wrap="none"/>
          <a:lstStyle/>
          <a:p>
            <a:pPr algn="ctr"/>
            <a:r>
              <a:rPr b="1" sz="1150" spc="80">
                <a:solidFill>
                  <a:srgbClr val="FFFFFF"/>
                </a:solidFill>
                <a:latin typeface="Segoe UI"/>
              </a:rPr>
              <a:t>HOW THE DEMO WORKS</a:t>
            </a:r>
          </a:p>
        </p:txBody>
      </p:sp>
      <p:sp>
        <p:nvSpPr>
          <p:cNvPr id="6" name="TextBox 5"/>
          <p:cNvSpPr txBox="1"/>
          <p:nvPr/>
        </p:nvSpPr>
        <p:spPr>
          <a:xfrm>
            <a:off x="621792" y="868680"/>
            <a:ext cx="10881360" cy="1188720"/>
          </a:xfrm>
          <a:prstGeom prst="rect">
            <a:avLst/>
          </a:prstGeom>
          <a:noFill/>
        </p:spPr>
        <p:txBody>
          <a:bodyPr wrap="square">
            <a:noAutofit/>
          </a:bodyPr>
          <a:lstStyle/>
          <a:p>
            <a:r>
              <a:rPr b="1" sz="2700">
                <a:solidFill>
                  <a:srgbClr val="142236"/>
                </a:solidFill>
                <a:latin typeface="Segoe UI Semibold"/>
              </a:rPr>
              <a:t>The model decides. The AI only writes it up.</a:t>
            </a:r>
          </a:p>
        </p:txBody>
      </p:sp>
      <p:sp>
        <p:nvSpPr>
          <p:cNvPr id="7" name="Rounded Rectangle 6"/>
          <p:cNvSpPr/>
          <p:nvPr/>
        </p:nvSpPr>
        <p:spPr>
          <a:xfrm>
            <a:off x="685800" y="1920240"/>
            <a:ext cx="2395728" cy="17830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54864" cy="17830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048256"/>
            <a:ext cx="914400" cy="320040"/>
          </a:xfrm>
          <a:prstGeom prst="rect">
            <a:avLst/>
          </a:prstGeom>
          <a:noFill/>
        </p:spPr>
        <p:txBody>
          <a:bodyPr wrap="square">
            <a:noAutofit/>
          </a:bodyPr>
          <a:lstStyle/>
          <a:p>
            <a:pPr algn="l"/>
            <a:r>
              <a:rPr sz="1100" i="0" b="1">
                <a:solidFill>
                  <a:srgbClr val="0B5FA5"/>
                </a:solidFill>
                <a:latin typeface="Segoe UI"/>
              </a:rPr>
              <a:t>1</a:t>
            </a:r>
          </a:p>
        </p:txBody>
      </p:sp>
      <p:sp>
        <p:nvSpPr>
          <p:cNvPr id="10" name="TextBox 9"/>
          <p:cNvSpPr txBox="1"/>
          <p:nvPr/>
        </p:nvSpPr>
        <p:spPr>
          <a:xfrm>
            <a:off x="886968" y="2359152"/>
            <a:ext cx="1984248" cy="822960"/>
          </a:xfrm>
          <a:prstGeom prst="rect">
            <a:avLst/>
          </a:prstGeom>
          <a:noFill/>
        </p:spPr>
        <p:txBody>
          <a:bodyPr wrap="square">
            <a:noAutofit/>
          </a:bodyPr>
          <a:lstStyle/>
          <a:p>
            <a:pPr algn="l"/>
            <a:r>
              <a:rPr sz="1450" i="0" b="1">
                <a:solidFill>
                  <a:srgbClr val="142236"/>
                </a:solidFill>
                <a:latin typeface="Segoe UI"/>
              </a:rPr>
              <a:t>You type
the applicant</a:t>
            </a:r>
          </a:p>
        </p:txBody>
      </p:sp>
      <p:sp>
        <p:nvSpPr>
          <p:cNvPr id="11" name="TextBox 10"/>
          <p:cNvSpPr txBox="1"/>
          <p:nvPr/>
        </p:nvSpPr>
        <p:spPr>
          <a:xfrm>
            <a:off x="886968" y="3154680"/>
            <a:ext cx="1984248" cy="411480"/>
          </a:xfrm>
          <a:prstGeom prst="rect">
            <a:avLst/>
          </a:prstGeom>
          <a:noFill/>
        </p:spPr>
        <p:txBody>
          <a:bodyPr wrap="square">
            <a:noAutofit/>
          </a:bodyPr>
          <a:lstStyle/>
          <a:p>
            <a:pPr algn="l"/>
            <a:r>
              <a:rPr sz="1150" i="0" b="0">
                <a:solidFill>
                  <a:srgbClr val="5B6B7E"/>
                </a:solidFill>
                <a:latin typeface="Segoe UI"/>
              </a:rPr>
              <a:t>in the browser</a:t>
            </a:r>
          </a:p>
        </p:txBody>
      </p:sp>
      <p:sp>
        <p:nvSpPr>
          <p:cNvPr id="12" name="Chevron 11"/>
          <p:cNvSpPr/>
          <p:nvPr/>
        </p:nvSpPr>
        <p:spPr>
          <a:xfrm>
            <a:off x="3182112" y="2683764"/>
            <a:ext cx="274320" cy="246888"/>
          </a:xfrm>
          <a:prstGeom prst="chevron">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7016" y="1920240"/>
            <a:ext cx="2395728" cy="17830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7016" y="1920240"/>
            <a:ext cx="54864" cy="17830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58184" y="2048256"/>
            <a:ext cx="914400" cy="320040"/>
          </a:xfrm>
          <a:prstGeom prst="rect">
            <a:avLst/>
          </a:prstGeom>
          <a:noFill/>
        </p:spPr>
        <p:txBody>
          <a:bodyPr wrap="square">
            <a:noAutofit/>
          </a:bodyPr>
          <a:lstStyle/>
          <a:p>
            <a:pPr algn="l"/>
            <a:r>
              <a:rPr sz="1100" i="0" b="1">
                <a:solidFill>
                  <a:srgbClr val="0B5FA5"/>
                </a:solidFill>
                <a:latin typeface="Segoe UI"/>
              </a:rPr>
              <a:t>2</a:t>
            </a:r>
          </a:p>
        </p:txBody>
      </p:sp>
      <p:sp>
        <p:nvSpPr>
          <p:cNvPr id="16" name="TextBox 15"/>
          <p:cNvSpPr txBox="1"/>
          <p:nvPr/>
        </p:nvSpPr>
        <p:spPr>
          <a:xfrm>
            <a:off x="3758184" y="2359152"/>
            <a:ext cx="1984248" cy="822960"/>
          </a:xfrm>
          <a:prstGeom prst="rect">
            <a:avLst/>
          </a:prstGeom>
          <a:noFill/>
        </p:spPr>
        <p:txBody>
          <a:bodyPr wrap="square">
            <a:noAutofit/>
          </a:bodyPr>
          <a:lstStyle/>
          <a:p>
            <a:pPr algn="l"/>
            <a:r>
              <a:rPr sz="1450" i="0" b="1">
                <a:solidFill>
                  <a:srgbClr val="142236"/>
                </a:solidFill>
                <a:latin typeface="Segoe UI"/>
              </a:rPr>
              <a:t>The trained
model scores it</a:t>
            </a:r>
          </a:p>
        </p:txBody>
      </p:sp>
      <p:sp>
        <p:nvSpPr>
          <p:cNvPr id="17" name="TextBox 16"/>
          <p:cNvSpPr txBox="1"/>
          <p:nvPr/>
        </p:nvSpPr>
        <p:spPr>
          <a:xfrm>
            <a:off x="3758184" y="3154680"/>
            <a:ext cx="1984248" cy="411480"/>
          </a:xfrm>
          <a:prstGeom prst="rect">
            <a:avLst/>
          </a:prstGeom>
          <a:noFill/>
        </p:spPr>
        <p:txBody>
          <a:bodyPr wrap="square">
            <a:noAutofit/>
          </a:bodyPr>
          <a:lstStyle/>
          <a:p>
            <a:pPr algn="l"/>
            <a:r>
              <a:rPr sz="1150" i="0" b="0">
                <a:solidFill>
                  <a:srgbClr val="5B6B7E"/>
                </a:solidFill>
                <a:latin typeface="Segoe UI"/>
              </a:rPr>
              <a:t>probability of default</a:t>
            </a:r>
          </a:p>
        </p:txBody>
      </p:sp>
      <p:sp>
        <p:nvSpPr>
          <p:cNvPr id="18" name="Chevron 17"/>
          <p:cNvSpPr/>
          <p:nvPr/>
        </p:nvSpPr>
        <p:spPr>
          <a:xfrm>
            <a:off x="6053328" y="2683764"/>
            <a:ext cx="274320" cy="246888"/>
          </a:xfrm>
          <a:prstGeom prst="chevron">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28232" y="1920240"/>
            <a:ext cx="2395728" cy="178308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28232" y="1920240"/>
            <a:ext cx="54864" cy="178308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048256"/>
            <a:ext cx="914400" cy="320040"/>
          </a:xfrm>
          <a:prstGeom prst="rect">
            <a:avLst/>
          </a:prstGeom>
          <a:noFill/>
        </p:spPr>
        <p:txBody>
          <a:bodyPr wrap="square">
            <a:noAutofit/>
          </a:bodyPr>
          <a:lstStyle/>
          <a:p>
            <a:pPr algn="l"/>
            <a:r>
              <a:rPr sz="1100" i="0" b="1">
                <a:solidFill>
                  <a:srgbClr val="0B5FA5"/>
                </a:solidFill>
                <a:latin typeface="Segoe UI"/>
              </a:rPr>
              <a:t>3</a:t>
            </a:r>
          </a:p>
        </p:txBody>
      </p:sp>
      <p:sp>
        <p:nvSpPr>
          <p:cNvPr id="22" name="TextBox 21"/>
          <p:cNvSpPr txBox="1"/>
          <p:nvPr/>
        </p:nvSpPr>
        <p:spPr>
          <a:xfrm>
            <a:off x="6629400" y="2359152"/>
            <a:ext cx="1984248" cy="822960"/>
          </a:xfrm>
          <a:prstGeom prst="rect">
            <a:avLst/>
          </a:prstGeom>
          <a:noFill/>
        </p:spPr>
        <p:txBody>
          <a:bodyPr wrap="square">
            <a:noAutofit/>
          </a:bodyPr>
          <a:lstStyle/>
          <a:p>
            <a:pPr algn="l"/>
            <a:r>
              <a:rPr sz="1450" i="0" b="1">
                <a:solidFill>
                  <a:srgbClr val="142236"/>
                </a:solidFill>
                <a:latin typeface="Segoe UI"/>
              </a:rPr>
              <a:t>The maths
explains it</a:t>
            </a:r>
          </a:p>
        </p:txBody>
      </p:sp>
      <p:sp>
        <p:nvSpPr>
          <p:cNvPr id="23" name="TextBox 22"/>
          <p:cNvSpPr txBox="1"/>
          <p:nvPr/>
        </p:nvSpPr>
        <p:spPr>
          <a:xfrm>
            <a:off x="6629400" y="3154680"/>
            <a:ext cx="1984248" cy="411480"/>
          </a:xfrm>
          <a:prstGeom prst="rect">
            <a:avLst/>
          </a:prstGeom>
          <a:noFill/>
        </p:spPr>
        <p:txBody>
          <a:bodyPr wrap="square">
            <a:noAutofit/>
          </a:bodyPr>
          <a:lstStyle/>
          <a:p>
            <a:pPr algn="l"/>
            <a:r>
              <a:rPr sz="1150" i="0" b="0">
                <a:solidFill>
                  <a:srgbClr val="5B6B7E"/>
                </a:solidFill>
                <a:latin typeface="Segoe UI"/>
              </a:rPr>
              <a:t>which factors, how much</a:t>
            </a:r>
          </a:p>
        </p:txBody>
      </p:sp>
      <p:sp>
        <p:nvSpPr>
          <p:cNvPr id="24" name="Chevron 23"/>
          <p:cNvSpPr/>
          <p:nvPr/>
        </p:nvSpPr>
        <p:spPr>
          <a:xfrm>
            <a:off x="8924544" y="2683764"/>
            <a:ext cx="274320" cy="246888"/>
          </a:xfrm>
          <a:prstGeom prst="chevron">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99448" y="1920240"/>
            <a:ext cx="2395728" cy="178308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99448" y="1920240"/>
            <a:ext cx="54864" cy="178308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0616" y="2048256"/>
            <a:ext cx="914400" cy="320040"/>
          </a:xfrm>
          <a:prstGeom prst="rect">
            <a:avLst/>
          </a:prstGeom>
          <a:noFill/>
        </p:spPr>
        <p:txBody>
          <a:bodyPr wrap="square">
            <a:noAutofit/>
          </a:bodyPr>
          <a:lstStyle/>
          <a:p>
            <a:pPr algn="l"/>
            <a:r>
              <a:rPr sz="1100" i="0" b="1">
                <a:solidFill>
                  <a:srgbClr val="E06E1D"/>
                </a:solidFill>
                <a:latin typeface="Segoe UI"/>
              </a:rPr>
              <a:t>4</a:t>
            </a:r>
          </a:p>
        </p:txBody>
      </p:sp>
      <p:sp>
        <p:nvSpPr>
          <p:cNvPr id="28" name="TextBox 27"/>
          <p:cNvSpPr txBox="1"/>
          <p:nvPr/>
        </p:nvSpPr>
        <p:spPr>
          <a:xfrm>
            <a:off x="9500616" y="2359152"/>
            <a:ext cx="1984248" cy="822960"/>
          </a:xfrm>
          <a:prstGeom prst="rect">
            <a:avLst/>
          </a:prstGeom>
          <a:noFill/>
        </p:spPr>
        <p:txBody>
          <a:bodyPr wrap="square">
            <a:noAutofit/>
          </a:bodyPr>
          <a:lstStyle/>
          <a:p>
            <a:pPr algn="l"/>
            <a:r>
              <a:rPr sz="1450" i="0" b="1">
                <a:solidFill>
                  <a:srgbClr val="142236"/>
                </a:solidFill>
                <a:latin typeface="Segoe UI"/>
              </a:rPr>
              <a:t>The AI
narrates it</a:t>
            </a:r>
          </a:p>
        </p:txBody>
      </p:sp>
      <p:sp>
        <p:nvSpPr>
          <p:cNvPr id="29" name="TextBox 28"/>
          <p:cNvSpPr txBox="1"/>
          <p:nvPr/>
        </p:nvSpPr>
        <p:spPr>
          <a:xfrm>
            <a:off x="9500616" y="3154680"/>
            <a:ext cx="1984248" cy="411480"/>
          </a:xfrm>
          <a:prstGeom prst="rect">
            <a:avLst/>
          </a:prstGeom>
          <a:noFill/>
        </p:spPr>
        <p:txBody>
          <a:bodyPr wrap="square">
            <a:noAutofit/>
          </a:bodyPr>
          <a:lstStyle/>
          <a:p>
            <a:pPr algn="l"/>
            <a:r>
              <a:rPr sz="1150" i="0" b="0">
                <a:solidFill>
                  <a:srgbClr val="5B6B7E"/>
                </a:solidFill>
                <a:latin typeface="Segoe UI"/>
              </a:rPr>
              <a:t>plain English paragraph</a:t>
            </a:r>
          </a:p>
        </p:txBody>
      </p:sp>
      <p:sp>
        <p:nvSpPr>
          <p:cNvPr id="30" name="Rounded Rectangle 29"/>
          <p:cNvSpPr/>
          <p:nvPr/>
        </p:nvSpPr>
        <p:spPr>
          <a:xfrm>
            <a:off x="640080" y="4114800"/>
            <a:ext cx="10881360" cy="1371600"/>
          </a:xfrm>
          <a:prstGeom prst="roundRect">
            <a:avLst>
              <a:gd name="adj" fmla="val 4000"/>
            </a:avLst>
          </a:prstGeom>
          <a:solidFill>
            <a:srgbClr val="142236"/>
          </a:solidFill>
          <a:ln w="12700">
            <a:solidFill>
              <a:srgbClr val="1422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279392"/>
            <a:ext cx="10332720" cy="411480"/>
          </a:xfrm>
          <a:prstGeom prst="rect">
            <a:avLst/>
          </a:prstGeom>
          <a:noFill/>
        </p:spPr>
        <p:txBody>
          <a:bodyPr wrap="square">
            <a:noAutofit/>
          </a:bodyPr>
          <a:lstStyle/>
          <a:p>
            <a:pPr algn="l"/>
            <a:r>
              <a:rPr sz="1800" i="0" b="1">
                <a:solidFill>
                  <a:srgbClr val="FFFFFF"/>
                </a:solidFill>
                <a:latin typeface="Segoe UI"/>
              </a:rPr>
              <a:t>The AI never makes the decision, and it cannot change one.</a:t>
            </a:r>
          </a:p>
        </p:txBody>
      </p:sp>
      <p:sp>
        <p:nvSpPr>
          <p:cNvPr id="32" name="TextBox 31"/>
          <p:cNvSpPr txBox="1"/>
          <p:nvPr/>
        </p:nvSpPr>
        <p:spPr>
          <a:xfrm>
            <a:off x="914400" y="4709160"/>
            <a:ext cx="10332720" cy="685800"/>
          </a:xfrm>
          <a:prstGeom prst="rect">
            <a:avLst/>
          </a:prstGeom>
          <a:noFill/>
        </p:spPr>
        <p:txBody>
          <a:bodyPr wrap="square">
            <a:noAutofit/>
          </a:bodyPr>
          <a:lstStyle/>
          <a:p>
            <a:pPr algn="l"/>
            <a:r>
              <a:rPr sz="1300" i="0" b="0">
                <a:solidFill>
                  <a:srgbClr val="DCE7F2"/>
                </a:solidFill>
                <a:latin typeface="Segoe UI"/>
              </a:rPr>
              <a:t>It receives a decision that has already been made, along with the numbers behind it, and turns them into a paragraph a customer or a committee can read. Unplug it and the decision, the money and the four reasons are identical.</a:t>
            </a:r>
          </a:p>
        </p:txBody>
      </p:sp>
      <p:sp>
        <p:nvSpPr>
          <p:cNvPr id="33" name="Rounded Rectangle 32"/>
          <p:cNvSpPr/>
          <p:nvPr/>
        </p:nvSpPr>
        <p:spPr>
          <a:xfrm>
            <a:off x="640080" y="5669280"/>
            <a:ext cx="10881360" cy="777240"/>
          </a:xfrm>
          <a:prstGeom prst="roundRect">
            <a:avLst>
              <a:gd name="adj" fmla="val 4000"/>
            </a:avLst>
          </a:prstGeom>
          <a:solidFill>
            <a:srgbClr val="FDF0E4"/>
          </a:solidFill>
          <a:ln w="12700">
            <a:solidFill>
              <a:srgbClr val="E06E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5669280"/>
            <a:ext cx="54864" cy="77724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7824" y="5788152"/>
            <a:ext cx="10424160" cy="256032"/>
          </a:xfrm>
          <a:prstGeom prst="rect">
            <a:avLst/>
          </a:prstGeom>
          <a:noFill/>
        </p:spPr>
        <p:txBody>
          <a:bodyPr wrap="square">
            <a:noAutofit/>
          </a:bodyPr>
          <a:lstStyle/>
          <a:p>
            <a:pPr algn="l"/>
            <a:r>
              <a:rPr sz="1000" i="0" b="1">
                <a:solidFill>
                  <a:srgbClr val="E06E1D"/>
                </a:solidFill>
                <a:latin typeface="Segoe UI"/>
              </a:rPr>
              <a:t>WHY IT IS BUILT THIS WAY</a:t>
            </a:r>
          </a:p>
        </p:txBody>
      </p:sp>
      <p:sp>
        <p:nvSpPr>
          <p:cNvPr id="36" name="TextBox 35"/>
          <p:cNvSpPr txBox="1"/>
          <p:nvPr/>
        </p:nvSpPr>
        <p:spPr>
          <a:xfrm>
            <a:off x="877824" y="6053328"/>
            <a:ext cx="10424160" cy="320040"/>
          </a:xfrm>
          <a:prstGeom prst="rect">
            <a:avLst/>
          </a:prstGeom>
          <a:noFill/>
        </p:spPr>
        <p:txBody>
          <a:bodyPr wrap="square">
            <a:noAutofit/>
          </a:bodyPr>
          <a:lstStyle/>
          <a:p>
            <a:pPr algn="l"/>
            <a:r>
              <a:rPr sz="1250" i="0" b="0">
                <a:solidFill>
                  <a:srgbClr val="142236"/>
                </a:solidFill>
                <a:latin typeface="Segoe UI"/>
              </a:rPr>
              <a:t>That separation is deliberate: everything auditable stays deterministic, and the only non-deterministic part is the prose.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7000"/>
          </a:xfrm>
          <a:prstGeom prst="rect">
            <a:avLst/>
          </a:prstGeom>
          <a:solidFill>
            <a:srgbClr val="0A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000"/>
            <a:ext cx="2377440" cy="5080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18520" y="219456"/>
            <a:ext cx="960120" cy="320040"/>
          </a:xfrm>
          <a:prstGeom prst="rect">
            <a:avLst/>
          </a:prstGeom>
          <a:noFill/>
        </p:spPr>
        <p:txBody>
          <a:bodyPr wrap="none">
            <a:spAutoFit/>
          </a:bodyPr>
          <a:lstStyle/>
          <a:p>
            <a:pPr algn="r"/>
            <a:r>
              <a:rPr sz="1100">
                <a:solidFill>
                  <a:srgbClr val="93A1B2"/>
                </a:solidFill>
                <a:latin typeface="Segoe UI"/>
              </a:rPr>
              <a:t>13 / 13</a:t>
            </a:r>
          </a:p>
        </p:txBody>
      </p:sp>
      <p:sp>
        <p:nvSpPr>
          <p:cNvPr id="5" name="TextBox 4"/>
          <p:cNvSpPr txBox="1"/>
          <p:nvPr/>
        </p:nvSpPr>
        <p:spPr>
          <a:xfrm>
            <a:off x="0" y="2194560"/>
            <a:ext cx="12191695" cy="365760"/>
          </a:xfrm>
          <a:prstGeom prst="rect">
            <a:avLst/>
          </a:prstGeom>
          <a:noFill/>
        </p:spPr>
        <p:txBody>
          <a:bodyPr wrap="none">
            <a:spAutoFit/>
          </a:bodyPr>
          <a:lstStyle/>
          <a:p>
            <a:pPr algn="ctr"/>
            <a:r>
              <a:rPr b="1" sz="1300" spc="300">
                <a:solidFill>
                  <a:srgbClr val="E06E1D"/>
                </a:solidFill>
                <a:latin typeface="Segoe UI"/>
              </a:rPr>
              <a:t>THANK YOU</a:t>
            </a:r>
          </a:p>
        </p:txBody>
      </p:sp>
      <p:sp>
        <p:nvSpPr>
          <p:cNvPr id="6" name="TextBox 5"/>
          <p:cNvSpPr txBox="1"/>
          <p:nvPr/>
        </p:nvSpPr>
        <p:spPr>
          <a:xfrm>
            <a:off x="0" y="2606040"/>
            <a:ext cx="12191695" cy="1188720"/>
          </a:xfrm>
          <a:prstGeom prst="rect">
            <a:avLst/>
          </a:prstGeom>
          <a:noFill/>
        </p:spPr>
        <p:txBody>
          <a:bodyPr wrap="none">
            <a:spAutoFit/>
          </a:bodyPr>
          <a:lstStyle/>
          <a:p>
            <a:pPr algn="ctr"/>
            <a:r>
              <a:rPr b="1" sz="5400">
                <a:solidFill>
                  <a:srgbClr val="142236"/>
                </a:solidFill>
                <a:latin typeface="Segoe UI Semibold"/>
              </a:rPr>
              <a:t>Questions</a:t>
            </a:r>
          </a:p>
        </p:txBody>
      </p:sp>
      <p:sp>
        <p:nvSpPr>
          <p:cNvPr id="7" name="TextBox 6"/>
          <p:cNvSpPr txBox="1"/>
          <p:nvPr/>
        </p:nvSpPr>
        <p:spPr>
          <a:xfrm>
            <a:off x="0" y="3886200"/>
            <a:ext cx="12191695" cy="365760"/>
          </a:xfrm>
          <a:prstGeom prst="rect">
            <a:avLst/>
          </a:prstGeom>
          <a:noFill/>
        </p:spPr>
        <p:txBody>
          <a:bodyPr wrap="square">
            <a:noAutofit/>
          </a:bodyPr>
          <a:lstStyle/>
          <a:p>
            <a:pPr algn="ctr"/>
            <a:r>
              <a:rPr sz="1300" i="0" b="0">
                <a:solidFill>
                  <a:srgbClr val="5B6B7E"/>
                </a:solidFill>
                <a:latin typeface="Segoe UI"/>
              </a:rPr>
              <a:t>Kaustubh Patil  ·  Credit Scoring Capstone  ·  Model Review Committee</a:t>
            </a:r>
          </a:p>
        </p:txBody>
      </p:sp>
      <p:sp>
        <p:nvSpPr>
          <p:cNvPr id="8" name="Rounded Rectangle 7"/>
          <p:cNvSpPr/>
          <p:nvPr/>
        </p:nvSpPr>
        <p:spPr>
          <a:xfrm>
            <a:off x="723747" y="4846320"/>
            <a:ext cx="2514600" cy="10515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3747" y="4846320"/>
            <a:ext cx="54864" cy="105156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6627" y="4956048"/>
            <a:ext cx="2148840" cy="689316"/>
          </a:xfrm>
          <a:prstGeom prst="rect">
            <a:avLst/>
          </a:prstGeom>
          <a:noFill/>
        </p:spPr>
        <p:txBody>
          <a:bodyPr wrap="square">
            <a:noAutofit/>
          </a:bodyPr>
          <a:lstStyle/>
          <a:p>
            <a:pPr algn="l"/>
            <a:r>
              <a:rPr b="1" sz="2100">
                <a:solidFill>
                  <a:srgbClr val="1E8E5A"/>
                </a:solidFill>
                <a:latin typeface="Segoe UI Semibold"/>
              </a:rPr>
              <a:t>+$578.7M</a:t>
            </a:r>
          </a:p>
        </p:txBody>
      </p:sp>
      <p:sp>
        <p:nvSpPr>
          <p:cNvPr id="11" name="TextBox 10"/>
          <p:cNvSpPr txBox="1"/>
          <p:nvPr/>
        </p:nvSpPr>
        <p:spPr>
          <a:xfrm>
            <a:off x="906627" y="5440680"/>
            <a:ext cx="2148840" cy="365760"/>
          </a:xfrm>
          <a:prstGeom prst="rect">
            <a:avLst/>
          </a:prstGeom>
          <a:noFill/>
        </p:spPr>
        <p:txBody>
          <a:bodyPr wrap="square">
            <a:noAutofit/>
          </a:bodyPr>
          <a:lstStyle/>
          <a:p>
            <a:pPr algn="l"/>
            <a:r>
              <a:rPr sz="1100" i="0" b="0">
                <a:solidFill>
                  <a:srgbClr val="5B6B7E"/>
                </a:solidFill>
                <a:latin typeface="Segoe UI"/>
              </a:rPr>
              <a:t>net benefit</a:t>
            </a:r>
          </a:p>
        </p:txBody>
      </p:sp>
      <p:sp>
        <p:nvSpPr>
          <p:cNvPr id="12" name="Rounded Rectangle 11"/>
          <p:cNvSpPr/>
          <p:nvPr/>
        </p:nvSpPr>
        <p:spPr>
          <a:xfrm>
            <a:off x="3466947" y="4846320"/>
            <a:ext cx="2514600" cy="10515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66947" y="4846320"/>
            <a:ext cx="54864" cy="105156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9827" y="4956048"/>
            <a:ext cx="2148840" cy="689316"/>
          </a:xfrm>
          <a:prstGeom prst="rect">
            <a:avLst/>
          </a:prstGeom>
          <a:noFill/>
        </p:spPr>
        <p:txBody>
          <a:bodyPr wrap="square">
            <a:noAutofit/>
          </a:bodyPr>
          <a:lstStyle/>
          <a:p>
            <a:pPr algn="l"/>
            <a:r>
              <a:rPr b="1" sz="2100">
                <a:solidFill>
                  <a:srgbClr val="0B5FA5"/>
                </a:solidFill>
                <a:latin typeface="Segoe UI Semibold"/>
              </a:rPr>
              <a:t>0.774</a:t>
            </a:r>
          </a:p>
        </p:txBody>
      </p:sp>
      <p:sp>
        <p:nvSpPr>
          <p:cNvPr id="15" name="TextBox 14"/>
          <p:cNvSpPr txBox="1"/>
          <p:nvPr/>
        </p:nvSpPr>
        <p:spPr>
          <a:xfrm>
            <a:off x="3649827" y="5440680"/>
            <a:ext cx="2148840" cy="365760"/>
          </a:xfrm>
          <a:prstGeom prst="rect">
            <a:avLst/>
          </a:prstGeom>
          <a:noFill/>
        </p:spPr>
        <p:txBody>
          <a:bodyPr wrap="square">
            <a:noAutofit/>
          </a:bodyPr>
          <a:lstStyle/>
          <a:p>
            <a:pPr algn="l"/>
            <a:r>
              <a:rPr sz="1100" i="0" b="0">
                <a:solidFill>
                  <a:srgbClr val="5B6B7E"/>
                </a:solidFill>
                <a:latin typeface="Segoe UI"/>
              </a:rPr>
              <a:t>test AUROC</a:t>
            </a:r>
          </a:p>
        </p:txBody>
      </p:sp>
      <p:sp>
        <p:nvSpPr>
          <p:cNvPr id="16" name="Rounded Rectangle 15"/>
          <p:cNvSpPr/>
          <p:nvPr/>
        </p:nvSpPr>
        <p:spPr>
          <a:xfrm>
            <a:off x="6210147" y="4846320"/>
            <a:ext cx="2514600" cy="10515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4846320"/>
            <a:ext cx="54864" cy="1051560"/>
          </a:xfrm>
          <a:prstGeom prst="rect">
            <a:avLst/>
          </a:prstGeom>
          <a:solidFill>
            <a:srgbClr val="142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4956048"/>
            <a:ext cx="2148840" cy="689316"/>
          </a:xfrm>
          <a:prstGeom prst="rect">
            <a:avLst/>
          </a:prstGeom>
          <a:noFill/>
        </p:spPr>
        <p:txBody>
          <a:bodyPr wrap="square">
            <a:noAutofit/>
          </a:bodyPr>
          <a:lstStyle/>
          <a:p>
            <a:pPr algn="l"/>
            <a:r>
              <a:rPr b="1" sz="2100">
                <a:solidFill>
                  <a:srgbClr val="142236"/>
                </a:solidFill>
                <a:latin typeface="Segoe UI Semibold"/>
              </a:rPr>
              <a:t>7%</a:t>
            </a:r>
          </a:p>
        </p:txBody>
      </p:sp>
      <p:sp>
        <p:nvSpPr>
          <p:cNvPr id="19" name="TextBox 18"/>
          <p:cNvSpPr txBox="1"/>
          <p:nvPr/>
        </p:nvSpPr>
        <p:spPr>
          <a:xfrm>
            <a:off x="6393027" y="5440680"/>
            <a:ext cx="2148840" cy="365760"/>
          </a:xfrm>
          <a:prstGeom prst="rect">
            <a:avLst/>
          </a:prstGeom>
          <a:noFill/>
        </p:spPr>
        <p:txBody>
          <a:bodyPr wrap="square">
            <a:noAutofit/>
          </a:bodyPr>
          <a:lstStyle/>
          <a:p>
            <a:pPr algn="l"/>
            <a:r>
              <a:rPr sz="1100" i="0" b="0">
                <a:solidFill>
                  <a:srgbClr val="5B6B7E"/>
                </a:solidFill>
                <a:latin typeface="Segoe UI"/>
              </a:rPr>
              <a:t>cut-off, where a loan breaks even</a:t>
            </a:r>
          </a:p>
        </p:txBody>
      </p:sp>
      <p:sp>
        <p:nvSpPr>
          <p:cNvPr id="20" name="Rounded Rectangle 19"/>
          <p:cNvSpPr/>
          <p:nvPr/>
        </p:nvSpPr>
        <p:spPr>
          <a:xfrm>
            <a:off x="8953347" y="4846320"/>
            <a:ext cx="2514600" cy="1051560"/>
          </a:xfrm>
          <a:prstGeom prst="roundRect">
            <a:avLst>
              <a:gd name="adj" fmla="val 4000"/>
            </a:avLst>
          </a:prstGeom>
          <a:solidFill>
            <a:srgbClr val="F6F9FB"/>
          </a:solidFill>
          <a:ln w="12700">
            <a:solidFill>
              <a:srgbClr val="DD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3347" y="4846320"/>
            <a:ext cx="54864" cy="1051560"/>
          </a:xfrm>
          <a:prstGeom prst="rect">
            <a:avLst/>
          </a:prstGeom>
          <a:solidFill>
            <a:srgbClr val="E06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6227" y="4956048"/>
            <a:ext cx="2148840" cy="689316"/>
          </a:xfrm>
          <a:prstGeom prst="rect">
            <a:avLst/>
          </a:prstGeom>
          <a:noFill/>
        </p:spPr>
        <p:txBody>
          <a:bodyPr wrap="square">
            <a:noAutofit/>
          </a:bodyPr>
          <a:lstStyle/>
          <a:p>
            <a:pPr algn="l"/>
            <a:r>
              <a:rPr b="1" sz="2100">
                <a:solidFill>
                  <a:srgbClr val="E06E1D"/>
                </a:solidFill>
                <a:latin typeface="Segoe UI Semibold"/>
              </a:rPr>
              <a:t>Deploy</a:t>
            </a:r>
          </a:p>
        </p:txBody>
      </p:sp>
      <p:sp>
        <p:nvSpPr>
          <p:cNvPr id="23" name="TextBox 22"/>
          <p:cNvSpPr txBox="1"/>
          <p:nvPr/>
        </p:nvSpPr>
        <p:spPr>
          <a:xfrm>
            <a:off x="9136227" y="5440680"/>
            <a:ext cx="2148840" cy="365760"/>
          </a:xfrm>
          <a:prstGeom prst="rect">
            <a:avLst/>
          </a:prstGeom>
          <a:noFill/>
        </p:spPr>
        <p:txBody>
          <a:bodyPr wrap="square">
            <a:noAutofit/>
          </a:bodyPr>
          <a:lstStyle/>
          <a:p>
            <a:pPr algn="l"/>
            <a:r>
              <a:rPr sz="1100" i="0" b="0">
                <a:solidFill>
                  <a:srgbClr val="5B6B7E"/>
                </a:solidFill>
                <a:latin typeface="Segoe UI"/>
              </a:rPr>
              <a:t>with conditions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